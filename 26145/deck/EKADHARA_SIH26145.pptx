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Standard approach</c:v>
                </c:pt>
              </c:strCache>
            </c:strRef>
          </c:tx>
          <c:spPr>
            <a:solidFill>
              <a:srgbClr val="C0392B"/>
            </a:solidFill>
            <a:effectLst/>
          </c:spPr>
          <c:invertIfNegative val="0"/>
          <c:dLbls>
            <c:numFmt formatCode="0.00" sourceLinked="0"/>
            <c:txPr>
              <a:bodyPr/>
              <a:lstStyle/>
              <a:p>
                <a:pPr>
                  <a:defRPr b="0" i="0" strike="noStrike" sz="1000" u="none">
                    <a:solidFill>
                      <a:srgbClr val="16222E"/>
                    </a:solidFill>
                    <a:latin typeface="Calibri"/>
                  </a:defRPr>
                </a:pPr>
              </a:p>
            </c:txPr>
            <c:showLegendKey val="0"/>
            <c:showVal val="1"/>
            <c:showCatName val="0"/>
            <c:showSerName val="0"/>
            <c:showPercent val="0"/>
            <c:showBubbleSize val="0"/>
            <c:showLeaderLines val="0"/>
          </c:dLbls>
          <c:cat>
            <c:multiLvlStrRef>
              <c:f>Sheet1!$A$2:$A$3</c:f>
              <c:multiLvlStrCache>
                <c:ptCount val="2"/>
                <c:lvl>
                  <c:pt idx="0">
                    <c:v>Full-duplex mirror</c:v>
                  </c:pt>
                  <c:pt idx="1">
                    <c:v>Real diode capture</c:v>
                  </c:pt>
                </c:lvl>
              </c:multiLvlStrCache>
            </c:multiLvlStrRef>
          </c:cat>
          <c:val>
            <c:numRef>
              <c:f>Sheet1!$B$2:$B$3</c:f>
              <c:numCache>
                <c:formatCode>General</c:formatCode>
                <c:ptCount val="2"/>
                <c:pt idx="0">
                  <c:v>0.92</c:v>
                </c:pt>
                <c:pt idx="1">
                  <c:v>0.41</c:v>
                </c:pt>
              </c:numCache>
            </c:numRef>
          </c:val>
        </c:ser>
        <c:ser>
          <c:idx val="1"/>
          <c:order val="1"/>
          <c:tx>
            <c:strRef>
              <c:f>Sheet1!$C$1</c:f>
              <c:strCache>
                <c:ptCount val="1"/>
                <c:pt idx="0">
                  <c:v>EKADHARA</c:v>
                </c:pt>
              </c:strCache>
            </c:strRef>
          </c:tx>
          <c:spPr>
            <a:solidFill>
              <a:srgbClr val="0F1B2D"/>
            </a:solidFill>
            <a:effectLst/>
          </c:spPr>
          <c:invertIfNegative val="0"/>
          <c:dLbls>
            <c:numFmt formatCode="0.00" sourceLinked="0"/>
            <c:txPr>
              <a:bodyPr/>
              <a:lstStyle/>
              <a:p>
                <a:pPr>
                  <a:defRPr b="0" i="0" strike="noStrike" sz="1000" u="none">
                    <a:solidFill>
                      <a:srgbClr val="16222E"/>
                    </a:solidFill>
                    <a:latin typeface="Calibri"/>
                  </a:defRPr>
                </a:pPr>
              </a:p>
            </c:txPr>
            <c:showLegendKey val="0"/>
            <c:showVal val="1"/>
            <c:showCatName val="0"/>
            <c:showSerName val="0"/>
            <c:showPercent val="0"/>
            <c:showBubbleSize val="0"/>
            <c:showLeaderLines val="0"/>
          </c:dLbls>
          <c:cat>
            <c:multiLvlStrRef>
              <c:f>Sheet1!$A$2:$A$3</c:f>
              <c:multiLvlStrCache>
                <c:ptCount val="2"/>
                <c:lvl>
                  <c:pt idx="0">
                    <c:v>Full-duplex mirror</c:v>
                  </c:pt>
                  <c:pt idx="1">
                    <c:v>Real diode capture</c:v>
                  </c:pt>
                </c:lvl>
              </c:multiLvlStrCache>
            </c:multiLvlStrRef>
          </c:cat>
          <c:val>
            <c:numRef>
              <c:f>Sheet1!$C$2:$C$3</c:f>
              <c:numCache>
                <c:formatCode>General</c:formatCode>
                <c:ptCount val="2"/>
                <c:pt idx="0">
                  <c:v>0.91</c:v>
                </c:pt>
                <c:pt idx="1">
                  <c:v>0.83</c:v>
                </c:pt>
              </c:numCache>
            </c:numRef>
          </c:val>
        </c:ser>
        <c:dLbls>
          <c:numFmt formatCode="0.00" sourceLinked="0"/>
          <c:txPr>
            <a:bodyPr/>
            <a:lstStyle/>
            <a:p>
              <a:pPr>
                <a:defRPr b="0" i="0" strike="noStrike" sz="1000" u="none">
                  <a:solidFill>
                    <a:srgbClr val="16222E"/>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4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AA8B4"/>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5B6B7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10s. EKADHARA - Sanskrit for 'single stream'. See everything, touch nothing. That's the constraint NTRO put on us, and it's the constraint that breaks every commercial product in this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90s. NTRO's enclaves are fed by hardware data diodes - traffic copied one way, no path back. That's deliberate: if an attacker compromises the monitoring system, there's nowhere for them to go.
Now read the requirements. (f) asks for the ratio of outbound to inbound bytes. (d) asks for JA3S - the server-side TLS fingerprint. Both need the direction a diode deletes.
So we tested it. This chart is the standard approach - the toolchain most solutions to this PS will be built on. On full-duplex traffic it scores 0.9. On the diode capture NTRO actually described, 0.4.
And here's what matters: it doesn't crash. It doesn't warn you. Half its features silently become zero and it keeps reporting high confidence. [PAUSE] We built the system that survives it - and can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90s. One pipeline, six detectors, zero outbound packets.
Zeek does capture, flow assembly, DNS and TLS parsing. On top we run six specialist detectors, because these threats live at different time scales in different feature spaces. One model that tries to catch all six is mediocre at all six, and worse - it can't tell you why it fired. The PS requires every alert to carry supporting evidence. Six specialists can.
Two things nobody else will have. Egress Lockdown - every team puts 'read-only' on a slide; we enforce it in the kernel, and we demo it.
Second, ACK-Shadow. TCP is a delivery-confirmation protocol. Every packet the client sends carries a receipt - 'I've received everything up to byte N.' Those receipts travel in the direction we CAN see. We never see the server's packets, but we watch that number climb, and the climb tells us exactly how much came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90s. THE TRUST SLIDE - give it the most time.
Feasibility first: the data problem is solved. NTRO's own dataset note tells us to generate lab traffic. We containerised that into forty scenarios with packet-level ground truth. Because we capture full-duplex first and filter afterwards, every scenario gives a matched pair sharing one label file. That's the Diode-Twin method.
That's what produces this matrix. Same models, same thresholds, both worlds.
Look at the exfiltration rows. With ACK-Shadow it survives. Without it, zero. That gap is the innovation, quantified.
And look at the red row. Encrypted-malware detection degrades badly one-way - we lose the server-side TLS fingerprint and there is no trick that gets it back. We put that on the slide rather than hiding it, because a system that hides one failure can't credibly claim it has none of the others. [PAUSE]
Performance is measured on stated hardware with the drop rate alongside, because a throughput number without a drop rate is meaningless. And you can re-run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Without fusion an analyst gets four hundred unranked alerts and no way to investigate - remember, in this enclave they can't query anything. With EKADHARA they get one incident with a story: reconnaissance at 9:14, command-and-control at 11:02, four gigabytes out at 12:26, three independent detectors agreeing.
And it actually deploys. One container image, no network, no dependencies, standard alert format, licence-clean. You could carry it into a facility on a USB stick.
SAY OUT LOUD (do not print): Every capable NDR product on the market is foreign, cloud-dependent and enrichment-hungry. None can run inside an Indian air-gapped enclave without phoning home. EKADHARA is designed for exactly the constraint that makes those products unusable.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We build on open standards rather than inventing our own - OCSF for alerts, so this plugs into any SIEM. We've done the licence analysis: core JA4 is BSD, JA4+ has monetisation restrictions, and we default to the BSD one. And we have eight backup slides - happy to go deeper on any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8549640" y="502920"/>
            <a:ext cx="1280160" cy="5852160"/>
          </a:xfrm>
          <a:prstGeom prst="chevron">
            <a:avLst/>
          </a:prstGeom>
          <a:solidFill>
            <a:srgbClr val="1C3050">
              <a:alpha val="30000"/>
            </a:srgbClr>
          </a:solidFill>
          <a:ln w="9525">
            <a:solidFill>
              <a:srgbClr val="1A6E85">
                <a:alpha val="30000"/>
              </a:srgbClr>
            </a:solidFill>
            <a:prstDash val="solid"/>
          </a:ln>
        </p:spPr>
      </p:sp>
      <p:sp>
        <p:nvSpPr>
          <p:cNvPr id="3" name="Shape 1"/>
          <p:cNvSpPr/>
          <p:nvPr/>
        </p:nvSpPr>
        <p:spPr>
          <a:xfrm>
            <a:off x="9509760" y="502920"/>
            <a:ext cx="1280160" cy="5852160"/>
          </a:xfrm>
          <a:prstGeom prst="chevron">
            <a:avLst/>
          </a:prstGeom>
          <a:solidFill>
            <a:srgbClr val="1C3050">
              <a:alpha val="42000"/>
            </a:srgbClr>
          </a:solidFill>
          <a:ln w="9525">
            <a:solidFill>
              <a:srgbClr val="1A6E85">
                <a:alpha val="30000"/>
              </a:srgbClr>
            </a:solidFill>
            <a:prstDash val="solid"/>
          </a:ln>
        </p:spPr>
      </p:sp>
      <p:sp>
        <p:nvSpPr>
          <p:cNvPr id="4" name="Shape 2"/>
          <p:cNvSpPr/>
          <p:nvPr/>
        </p:nvSpPr>
        <p:spPr>
          <a:xfrm>
            <a:off x="10469880" y="502920"/>
            <a:ext cx="1280160" cy="5852160"/>
          </a:xfrm>
          <a:prstGeom prst="chevron">
            <a:avLst/>
          </a:prstGeom>
          <a:solidFill>
            <a:srgbClr val="1C3050">
              <a:alpha val="54000"/>
            </a:srgbClr>
          </a:solidFill>
          <a:ln w="9525">
            <a:solidFill>
              <a:srgbClr val="1A6E85">
                <a:alpha val="30000"/>
              </a:srgbClr>
            </a:solidFill>
            <a:prstDash val="solid"/>
          </a:ln>
        </p:spPr>
      </p:sp>
      <p:sp>
        <p:nvSpPr>
          <p:cNvPr id="5" name="Text 3"/>
          <p:cNvSpPr txBox="1"/>
          <p:nvPr/>
        </p:nvSpPr>
        <p:spPr>
          <a:xfrm>
            <a:off x="548640" y="1143000"/>
            <a:ext cx="7315200" cy="457200"/>
          </a:xfrm>
          <a:prstGeom prst="rect">
            <a:avLst/>
          </a:prstGeom>
          <a:noFill/>
          <a:ln/>
        </p:spPr>
        <p:txBody>
          <a:bodyPr wrap="square" lIns="0" tIns="0" rIns="0" bIns="0" rtlCol="0" anchor="ctr"/>
          <a:lstStyle/>
          <a:p>
            <a:pPr algn="l" indent="0" marL="0">
              <a:buNone/>
            </a:pPr>
            <a:r>
              <a:rPr lang="en-US" sz="2200" dirty="0">
                <a:solidFill>
                  <a:srgbClr val="5EC8DE"/>
                </a:solidFill>
                <a:latin typeface="Calibri" pitchFamily="34" charset="0"/>
                <a:ea typeface="Calibri" pitchFamily="34" charset="-122"/>
                <a:cs typeface="Calibri" pitchFamily="34" charset="-120"/>
              </a:rPr>
              <a:t>एकधारा</a:t>
            </a:r>
            <a:endParaRPr lang="en-US" sz="2200" dirty="0"/>
          </a:p>
        </p:txBody>
      </p:sp>
      <p:sp>
        <p:nvSpPr>
          <p:cNvPr id="6" name="Text 4"/>
          <p:cNvSpPr txBox="1"/>
          <p:nvPr/>
        </p:nvSpPr>
        <p:spPr>
          <a:xfrm>
            <a:off x="548640" y="1627632"/>
            <a:ext cx="8229600" cy="1143000"/>
          </a:xfrm>
          <a:prstGeom prst="rect">
            <a:avLst/>
          </a:prstGeom>
          <a:noFill/>
          <a:ln/>
        </p:spPr>
        <p:txBody>
          <a:bodyPr wrap="square" lIns="0" tIns="0" rIns="0" bIns="0" rtlCol="0" anchor="ctr"/>
          <a:lstStyle/>
          <a:p>
            <a:pPr algn="l" indent="0" marL="0">
              <a:buNone/>
            </a:pPr>
            <a:r>
              <a:rPr lang="en-US" sz="6200" b="1" spc="500" kern="0" dirty="0">
                <a:solidFill>
                  <a:srgbClr val="FFFFFF"/>
                </a:solidFill>
                <a:latin typeface="Cambria" pitchFamily="34" charset="0"/>
                <a:ea typeface="Cambria" pitchFamily="34" charset="-122"/>
                <a:cs typeface="Cambria" pitchFamily="34" charset="-120"/>
              </a:rPr>
              <a:t>EKADHARA</a:t>
            </a:r>
            <a:endParaRPr lang="en-US" sz="6200" dirty="0"/>
          </a:p>
        </p:txBody>
      </p:sp>
      <p:sp>
        <p:nvSpPr>
          <p:cNvPr id="7" name="Text 5"/>
          <p:cNvSpPr txBox="1"/>
          <p:nvPr/>
        </p:nvSpPr>
        <p:spPr>
          <a:xfrm>
            <a:off x="548640" y="2761488"/>
            <a:ext cx="8229600" cy="411480"/>
          </a:xfrm>
          <a:prstGeom prst="rect">
            <a:avLst/>
          </a:prstGeom>
          <a:noFill/>
          <a:ln/>
        </p:spPr>
        <p:txBody>
          <a:bodyPr wrap="square" lIns="0" tIns="0" rIns="0" bIns="0" rtlCol="0" anchor="ctr"/>
          <a:lstStyle/>
          <a:p>
            <a:pPr algn="l" indent="0" marL="0">
              <a:buNone/>
            </a:pPr>
            <a:r>
              <a:rPr lang="en-US" sz="2000" i="1" dirty="0">
                <a:solidFill>
                  <a:srgbClr val="5EC8DE"/>
                </a:solidFill>
                <a:latin typeface="Calibri" pitchFamily="34" charset="0"/>
                <a:ea typeface="Calibri" pitchFamily="34" charset="-122"/>
                <a:cs typeface="Calibri" pitchFamily="34" charset="-120"/>
              </a:rPr>
              <a:t>See everything.  Touch nothing.</a:t>
            </a:r>
            <a:endParaRPr lang="en-US" sz="2000" dirty="0"/>
          </a:p>
        </p:txBody>
      </p:sp>
      <p:sp>
        <p:nvSpPr>
          <p:cNvPr id="8" name="Text 6"/>
          <p:cNvSpPr txBox="1"/>
          <p:nvPr/>
        </p:nvSpPr>
        <p:spPr>
          <a:xfrm>
            <a:off x="548640" y="3218688"/>
            <a:ext cx="8229600" cy="320040"/>
          </a:xfrm>
          <a:prstGeom prst="rect">
            <a:avLst/>
          </a:prstGeom>
          <a:noFill/>
          <a:ln/>
        </p:spPr>
        <p:txBody>
          <a:bodyPr wrap="square" lIns="0" tIns="0" rIns="0" bIns="0" rtlCol="0" anchor="ctr"/>
          <a:lstStyle/>
          <a:p>
            <a:pPr algn="l" indent="0" marL="0">
              <a:buNone/>
            </a:pPr>
            <a:r>
              <a:rPr lang="en-US" sz="1350" dirty="0">
                <a:solidFill>
                  <a:srgbClr val="9AA8B4"/>
                </a:solidFill>
                <a:latin typeface="Calibri" pitchFamily="34" charset="0"/>
                <a:ea typeface="Calibri" pitchFamily="34" charset="-122"/>
                <a:cs typeface="Calibri" pitchFamily="34" charset="-120"/>
              </a:rPr>
              <a:t>Passive AI Threat Intelligence for Air-Gapped Monitoring Enclaves</a:t>
            </a:r>
            <a:endParaRPr lang="en-US" sz="1350" dirty="0"/>
          </a:p>
        </p:txBody>
      </p:sp>
      <p:sp>
        <p:nvSpPr>
          <p:cNvPr id="9" name="Shape 7"/>
          <p:cNvSpPr/>
          <p:nvPr/>
        </p:nvSpPr>
        <p:spPr>
          <a:xfrm>
            <a:off x="548640" y="3822192"/>
            <a:ext cx="7863840" cy="932688"/>
          </a:xfrm>
          <a:prstGeom prst="roundRect">
            <a:avLst>
              <a:gd name="adj" fmla="val 4902"/>
            </a:avLst>
          </a:prstGeom>
          <a:solidFill>
            <a:srgbClr val="1C3050"/>
          </a:solidFill>
          <a:ln w="15875">
            <a:solidFill>
              <a:srgbClr val="1A6E85"/>
            </a:solidFill>
            <a:prstDash val="solid"/>
          </a:ln>
        </p:spPr>
      </p:sp>
      <p:sp>
        <p:nvSpPr>
          <p:cNvPr id="10" name="Text 8"/>
          <p:cNvSpPr txBox="1"/>
          <p:nvPr/>
        </p:nvSpPr>
        <p:spPr>
          <a:xfrm>
            <a:off x="777240" y="3913632"/>
            <a:ext cx="7406640" cy="749808"/>
          </a:xfrm>
          <a:prstGeom prst="rect">
            <a:avLst/>
          </a:prstGeom>
          <a:noFill/>
          <a:ln/>
        </p:spPr>
        <p:txBody>
          <a:bodyPr wrap="square" lIns="0" tIns="0" rIns="0" bIns="0" rtlCol="0" anchor="ctr"/>
          <a:lstStyle/>
          <a:p>
            <a:pPr algn="l" indent="0" marL="0">
              <a:lnSpc>
                <a:spcPct val="125000"/>
              </a:lnSpc>
              <a:buNone/>
            </a:pPr>
            <a:r>
              <a:rPr lang="en-US" sz="1350" dirty="0">
                <a:solidFill>
                  <a:srgbClr val="FFFFFF"/>
                </a:solidFill>
                <a:latin typeface="Calibri" pitchFamily="34" charset="0"/>
                <a:ea typeface="Calibri" pitchFamily="34" charset="-122"/>
                <a:cs typeface="Calibri" pitchFamily="34" charset="-120"/>
              </a:rPr>
              <a:t>Half of every standard detection feature disappears on a real data diode.</a:t>
            </a:r>
            <a:endParaRPr lang="en-US" sz="1350" dirty="0"/>
          </a:p>
          <a:p>
            <a:pPr algn="l" indent="0" marL="0">
              <a:lnSpc>
                <a:spcPct val="125000"/>
              </a:lnSpc>
              <a:buNone/>
            </a:pPr>
            <a:r>
              <a:rPr lang="en-US" sz="1350" dirty="0">
                <a:solidFill>
                  <a:srgbClr val="FFFFFF"/>
                </a:solidFill>
                <a:latin typeface="Calibri" pitchFamily="34" charset="0"/>
                <a:ea typeface="Calibri" pitchFamily="34" charset="-122"/>
                <a:cs typeface="Calibri" pitchFamily="34" charset="-120"/>
              </a:rPr>
              <a:t>We measured exactly how much — and got it back.</a:t>
            </a:r>
            <a:endParaRPr lang="en-US" sz="1350" dirty="0"/>
          </a:p>
        </p:txBody>
      </p:sp>
      <p:sp>
        <p:nvSpPr>
          <p:cNvPr id="11" name="Text 9"/>
          <p:cNvSpPr txBox="1"/>
          <p:nvPr/>
        </p:nvSpPr>
        <p:spPr>
          <a:xfrm>
            <a:off x="548640" y="5897880"/>
            <a:ext cx="10515600" cy="256032"/>
          </a:xfrm>
          <a:prstGeom prst="rect">
            <a:avLst/>
          </a:prstGeom>
          <a:noFill/>
          <a:ln/>
        </p:spPr>
        <p:txBody>
          <a:bodyPr wrap="square" lIns="0" tIns="0" rIns="0" bIns="0" rtlCol="0" anchor="ctr"/>
          <a:lstStyle/>
          <a:p>
            <a:pPr algn="l" indent="0" marL="0">
              <a:buNone/>
            </a:pPr>
            <a:r>
              <a:rPr lang="en-US" sz="1000" dirty="0">
                <a:solidFill>
                  <a:srgbClr val="9AA8B4"/>
                </a:solidFill>
                <a:latin typeface="Calibri" pitchFamily="34" charset="0"/>
                <a:ea typeface="Calibri" pitchFamily="34" charset="-122"/>
                <a:cs typeface="Calibri" pitchFamily="34" charset="-120"/>
              </a:rPr>
              <a:t>SIH26145  ·  National Technical Research Organisation  ·  Category: Software  ·  Theme: Blockchain &amp; Cybersecurity</a:t>
            </a:r>
            <a:endParaRPr lang="en-US" sz="1000" dirty="0"/>
          </a:p>
        </p:txBody>
      </p:sp>
      <p:sp>
        <p:nvSpPr>
          <p:cNvPr id="12" name="Text 10"/>
          <p:cNvSpPr txBox="1"/>
          <p:nvPr/>
        </p:nvSpPr>
        <p:spPr>
          <a:xfrm>
            <a:off x="548640" y="6153912"/>
            <a:ext cx="10515600" cy="256032"/>
          </a:xfrm>
          <a:prstGeom prst="rect">
            <a:avLst/>
          </a:prstGeom>
          <a:noFill/>
          <a:ln/>
        </p:spPr>
        <p:txBody>
          <a:bodyPr wrap="square" lIns="0" tIns="0" rIns="0" bIns="0" rtlCol="0" anchor="ctr"/>
          <a:lstStyle/>
          <a:p>
            <a:pPr algn="l" indent="0" marL="0">
              <a:buNone/>
            </a:pPr>
            <a:r>
              <a:rPr lang="en-US" sz="1000" dirty="0">
                <a:solidFill>
                  <a:srgbClr val="1A6E85"/>
                </a:solidFill>
                <a:latin typeface="Calibri" pitchFamily="34" charset="0"/>
                <a:ea typeface="Calibri" pitchFamily="34" charset="-122"/>
                <a:cs typeface="Calibri" pitchFamily="34" charset="-120"/>
              </a:rPr>
              <a:t>Team &lt;name&gt;  ·  &lt;institution&gt;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01168"/>
          </a:xfrm>
          <a:prstGeom prst="rect">
            <a:avLst/>
          </a:prstGeom>
          <a:noFill/>
          <a:ln/>
        </p:spPr>
        <p:txBody>
          <a:bodyPr wrap="square" lIns="0" tIns="0" rIns="0" bIns="0" rtlCol="0" anchor="ctr"/>
          <a:lstStyle/>
          <a:p>
            <a:pPr algn="l" indent="0" marL="0">
              <a:buNone/>
            </a:pPr>
            <a:r>
              <a:rPr lang="en-US" sz="1000" b="1" spc="150" kern="0" dirty="0">
                <a:solidFill>
                  <a:srgbClr val="1A6E85"/>
                </a:solidFill>
                <a:latin typeface="Calibri" pitchFamily="34" charset="0"/>
                <a:ea typeface="Calibri" pitchFamily="34" charset="-122"/>
                <a:cs typeface="Calibri" pitchFamily="34" charset="-120"/>
              </a:rPr>
              <a:t>1 · PROPOSED SOLUTION</a:t>
            </a:r>
            <a:endParaRPr lang="en-US" sz="1000" dirty="0"/>
          </a:p>
        </p:txBody>
      </p:sp>
      <p:sp>
        <p:nvSpPr>
          <p:cNvPr id="3" name="Text 1"/>
          <p:cNvSpPr txBox="1"/>
          <p:nvPr/>
        </p:nvSpPr>
        <p:spPr>
          <a:xfrm>
            <a:off x="548640" y="475488"/>
            <a:ext cx="11064240" cy="804672"/>
          </a:xfrm>
          <a:prstGeom prst="rect">
            <a:avLst/>
          </a:prstGeom>
          <a:noFill/>
          <a:ln/>
        </p:spPr>
        <p:txBody>
          <a:bodyPr wrap="square" lIns="0" tIns="0" rIns="0" bIns="0" rtlCol="0" anchor="t"/>
          <a:lstStyle/>
          <a:p>
            <a:pPr algn="l" indent="0" marL="0">
              <a:buNone/>
            </a:pPr>
            <a:r>
              <a:rPr lang="en-US" sz="2500" b="1" dirty="0">
                <a:solidFill>
                  <a:srgbClr val="0F1B2D"/>
                </a:solidFill>
                <a:latin typeface="Cambria" pitchFamily="34" charset="0"/>
                <a:ea typeface="Cambria" pitchFamily="34" charset="-122"/>
                <a:cs typeface="Cambria" pitchFamily="34" charset="-120"/>
              </a:rPr>
              <a:t>The problem statement contains a contradiction — and it decides who wins</a:t>
            </a:r>
            <a:endParaRPr lang="en-US" sz="2500" dirty="0"/>
          </a:p>
        </p:txBody>
      </p:sp>
      <p:sp>
        <p:nvSpPr>
          <p:cNvPr id="4" name="Shape 2"/>
          <p:cNvSpPr/>
          <p:nvPr/>
        </p:nvSpPr>
        <p:spPr>
          <a:xfrm>
            <a:off x="548640" y="1371600"/>
            <a:ext cx="5486400" cy="2487168"/>
          </a:xfrm>
          <a:prstGeom prst="roundRect">
            <a:avLst>
              <a:gd name="adj" fmla="val 2206"/>
            </a:avLst>
          </a:prstGeom>
          <a:solidFill>
            <a:srgbClr val="F1F5F8"/>
          </a:solidFill>
          <a:ln w="12700">
            <a:solidFill>
              <a:srgbClr val="E4EDF2"/>
            </a:solidFill>
            <a:prstDash val="solid"/>
          </a:ln>
        </p:spPr>
      </p:sp>
      <p:sp>
        <p:nvSpPr>
          <p:cNvPr id="5" name="Text 3"/>
          <p:cNvSpPr txBox="1"/>
          <p:nvPr/>
        </p:nvSpPr>
        <p:spPr>
          <a:xfrm>
            <a:off x="777240" y="1490472"/>
            <a:ext cx="5029200" cy="256032"/>
          </a:xfrm>
          <a:prstGeom prst="rect">
            <a:avLst/>
          </a:prstGeom>
          <a:noFill/>
          <a:ln/>
        </p:spPr>
        <p:txBody>
          <a:bodyPr wrap="square" lIns="0" tIns="0" rIns="0" bIns="0" rtlCol="0" anchor="ctr"/>
          <a:lstStyle/>
          <a:p>
            <a:pPr indent="0" marL="0">
              <a:buNone/>
            </a:pPr>
            <a:r>
              <a:rPr lang="en-US" sz="1050" b="1" spc="150" kern="0" dirty="0">
                <a:solidFill>
                  <a:srgbClr val="1A6E85"/>
                </a:solidFill>
                <a:latin typeface="Calibri" pitchFamily="34" charset="0"/>
                <a:ea typeface="Calibri" pitchFamily="34" charset="-122"/>
                <a:cs typeface="Calibri" pitchFamily="34" charset="-120"/>
              </a:rPr>
              <a:t>THE CONTRADICTION</a:t>
            </a:r>
            <a:endParaRPr lang="en-US" sz="1050" dirty="0"/>
          </a:p>
        </p:txBody>
      </p:sp>
      <p:sp>
        <p:nvSpPr>
          <p:cNvPr id="6" name="Text 4"/>
          <p:cNvSpPr txBox="1"/>
          <p:nvPr/>
        </p:nvSpPr>
        <p:spPr>
          <a:xfrm>
            <a:off x="777240" y="1783080"/>
            <a:ext cx="5029200" cy="2011680"/>
          </a:xfrm>
          <a:prstGeom prst="rect">
            <a:avLst/>
          </a:prstGeom>
          <a:noFill/>
          <a:ln/>
        </p:spPr>
        <p:txBody>
          <a:bodyPr wrap="square" lIns="0" tIns="0" rIns="0" bIns="0" rtlCol="0" anchor="ctr"/>
          <a:lstStyle/>
          <a:p>
            <a:pPr indent="0" marL="0">
              <a:lnSpc>
                <a:spcPct val="105000"/>
              </a:lnSpc>
              <a:buNone/>
            </a:pPr>
            <a:r>
              <a:rPr lang="en-US" sz="1200" b="1" dirty="0">
                <a:solidFill>
                  <a:srgbClr val="16222E"/>
                </a:solidFill>
                <a:latin typeface="Calibri" pitchFamily="34" charset="0"/>
                <a:ea typeface="Calibri" pitchFamily="34" charset="-122"/>
                <a:cs typeface="Calibri" pitchFamily="34" charset="-120"/>
              </a:rPr>
              <a:t>The PS specifies a hardware DATA DIODE</a:t>
            </a:r>
            <a:endParaRPr lang="en-US" sz="1200" dirty="0"/>
          </a:p>
          <a:p>
            <a:pPr indent="0" marL="0">
              <a:lnSpc>
                <a:spcPct val="105000"/>
              </a:lnSpc>
              <a:buNone/>
            </a:pPr>
            <a:r>
              <a:rPr lang="en-US" sz="1200" dirty="0">
                <a:solidFill>
                  <a:srgbClr val="5B6B7A"/>
                </a:solidFill>
                <a:latin typeface="Calibri" pitchFamily="34" charset="0"/>
                <a:ea typeface="Calibri" pitchFamily="34" charset="-122"/>
                <a:cs typeface="Calibri" pitchFamily="34" charset="-120"/>
              </a:rPr>
              <a:t>→ traffic copied in one direction only.
</a:t>
            </a:r>
            <a:endParaRPr lang="en-US" sz="1200" dirty="0"/>
          </a:p>
          <a:p>
            <a:pPr indent="0" marL="0">
              <a:lnSpc>
                <a:spcPct val="105000"/>
              </a:lnSpc>
              <a:buNone/>
            </a:pPr>
            <a:r>
              <a:rPr lang="en-US" sz="1200" b="1" dirty="0">
                <a:solidFill>
                  <a:srgbClr val="16222E"/>
                </a:solidFill>
                <a:latin typeface="Calibri" pitchFamily="34" charset="0"/>
                <a:ea typeface="Calibri" pitchFamily="34" charset="-122"/>
                <a:cs typeface="Calibri" pitchFamily="34" charset="-120"/>
              </a:rPr>
              <a:t>Then it requires:</a:t>
            </a:r>
            <a:endParaRPr lang="en-US" sz="1200" dirty="0"/>
          </a:p>
          <a:p>
            <a:pPr indent="0" marL="0">
              <a:lnSpc>
                <a:spcPct val="105000"/>
              </a:lnSpc>
              <a:buNone/>
            </a:pPr>
            <a:r>
              <a:rPr lang="en-US" sz="1200" dirty="0">
                <a:solidFill>
                  <a:srgbClr val="16222E"/>
                </a:solidFill>
                <a:latin typeface="Calibri" pitchFamily="34" charset="0"/>
                <a:ea typeface="Calibri" pitchFamily="34" charset="-122"/>
                <a:cs typeface="Calibri" pitchFamily="34" charset="-120"/>
              </a:rPr>
              <a:t>(f)  “outbound-to-inbound byte ratios”</a:t>
            </a:r>
            <a:endParaRPr lang="en-US" sz="1200" dirty="0"/>
          </a:p>
          <a:p>
            <a:pPr indent="0" marL="0">
              <a:lnSpc>
                <a:spcPct val="105000"/>
              </a:lnSpc>
              <a:buNone/>
            </a:pPr>
            <a:r>
              <a:rPr lang="en-US" sz="1200" i="1" dirty="0">
                <a:solidFill>
                  <a:srgbClr val="C0392B"/>
                </a:solidFill>
                <a:latin typeface="Calibri" pitchFamily="34" charset="0"/>
                <a:ea typeface="Calibri" pitchFamily="34" charset="-122"/>
                <a:cs typeface="Calibri" pitchFamily="34" charset="-120"/>
              </a:rPr>
              <a:t>        needs the reverse direction</a:t>
            </a:r>
            <a:endParaRPr lang="en-US" sz="1200" dirty="0"/>
          </a:p>
          <a:p>
            <a:pPr indent="0" marL="0">
              <a:lnSpc>
                <a:spcPct val="105000"/>
              </a:lnSpc>
              <a:buNone/>
            </a:pPr>
            <a:r>
              <a:rPr lang="en-US" sz="1200" dirty="0">
                <a:solidFill>
                  <a:srgbClr val="16222E"/>
                </a:solidFill>
                <a:latin typeface="Calibri" pitchFamily="34" charset="0"/>
                <a:ea typeface="Calibri" pitchFamily="34" charset="-122"/>
                <a:cs typeface="Calibri" pitchFamily="34" charset="-120"/>
              </a:rPr>
              <a:t>(d)  “JA3 / JA3S fingerprints”</a:t>
            </a:r>
            <a:endParaRPr lang="en-US" sz="1200" dirty="0"/>
          </a:p>
          <a:p>
            <a:pPr indent="0" marL="0">
              <a:lnSpc>
                <a:spcPct val="105000"/>
              </a:lnSpc>
              <a:buNone/>
            </a:pPr>
            <a:r>
              <a:rPr lang="en-US" sz="1200" i="1" dirty="0">
                <a:solidFill>
                  <a:srgbClr val="C0392B"/>
                </a:solidFill>
                <a:latin typeface="Calibri" pitchFamily="34" charset="0"/>
                <a:ea typeface="Calibri" pitchFamily="34" charset="-122"/>
                <a:cs typeface="Calibri" pitchFamily="34" charset="-120"/>
              </a:rPr>
              <a:t>        JA3S is the SERVER hello</a:t>
            </a:r>
            <a:endParaRPr lang="en-US" sz="1200" dirty="0"/>
          </a:p>
          <a:p>
            <a:pPr indent="0" marL="0">
              <a:lnSpc>
                <a:spcPct val="105000"/>
              </a:lnSpc>
              <a:buNone/>
            </a:pPr>
            <a:endParaRPr lang="en-US" sz="1200" dirty="0"/>
          </a:p>
          <a:p>
            <a:pPr indent="0" marL="0">
              <a:lnSpc>
                <a:spcPct val="105000"/>
              </a:lnSpc>
              <a:buNone/>
            </a:pPr>
            <a:r>
              <a:rPr lang="en-US" sz="1200" b="1" dirty="0">
                <a:solidFill>
                  <a:srgbClr val="0F1B2D"/>
                </a:solidFill>
                <a:latin typeface="Calibri" pitchFamily="34" charset="0"/>
                <a:ea typeface="Calibri" pitchFamily="34" charset="-122"/>
                <a:cs typeface="Calibri" pitchFamily="34" charset="-120"/>
              </a:rPr>
              <a:t>Both require exactly what a diode removes.</a:t>
            </a:r>
            <a:endParaRPr lang="en-US" sz="1200" dirty="0"/>
          </a:p>
        </p:txBody>
      </p:sp>
      <p:sp>
        <p:nvSpPr>
          <p:cNvPr id="7" name="Text 5"/>
          <p:cNvSpPr txBox="1"/>
          <p:nvPr/>
        </p:nvSpPr>
        <p:spPr>
          <a:xfrm>
            <a:off x="6355080" y="1417320"/>
            <a:ext cx="5257800" cy="256032"/>
          </a:xfrm>
          <a:prstGeom prst="rect">
            <a:avLst/>
          </a:prstGeom>
          <a:noFill/>
          <a:ln/>
        </p:spPr>
        <p:txBody>
          <a:bodyPr wrap="square" lIns="0" tIns="0" rIns="0" bIns="0" rtlCol="0" anchor="ctr"/>
          <a:lstStyle/>
          <a:p>
            <a:pPr indent="0" marL="0">
              <a:buNone/>
            </a:pPr>
            <a:r>
              <a:rPr lang="en-US" sz="1050" b="1" spc="150" kern="0" dirty="0">
                <a:solidFill>
                  <a:srgbClr val="1A6E85"/>
                </a:solidFill>
                <a:latin typeface="Calibri" pitchFamily="34" charset="0"/>
                <a:ea typeface="Calibri" pitchFamily="34" charset="-122"/>
                <a:cs typeface="Calibri" pitchFamily="34" charset="-120"/>
              </a:rPr>
              <a:t>THE KILL SHOT  ·  detection quality (F1)</a:t>
            </a:r>
            <a:endParaRPr lang="en-US" sz="1050" dirty="0"/>
          </a:p>
        </p:txBody>
      </p:sp>
      <p:graphicFrame>
        <p:nvGraphicFramePr>
          <p:cNvPr id="8" name="Chart 0" descr=""/>
          <p:cNvGraphicFramePr/>
          <p:nvPr/>
        </p:nvGraphicFramePr>
        <p:xfrm>
          <a:off x="6263640" y="1664208"/>
          <a:ext cx="5349240" cy="224028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263640" y="3931920"/>
            <a:ext cx="5349240" cy="237744"/>
          </a:xfrm>
          <a:prstGeom prst="roundRect">
            <a:avLst>
              <a:gd name="adj" fmla="val 19231"/>
            </a:avLst>
          </a:prstGeom>
          <a:solidFill>
            <a:srgbClr val="FDF6E3"/>
          </a:solidFill>
          <a:ln w="9525">
            <a:solidFill>
              <a:srgbClr val="B7791F"/>
            </a:solidFill>
            <a:prstDash val="solid"/>
          </a:ln>
        </p:spPr>
      </p:sp>
      <p:sp>
        <p:nvSpPr>
          <p:cNvPr id="10" name="Text 7"/>
          <p:cNvSpPr txBox="1"/>
          <p:nvPr/>
        </p:nvSpPr>
        <p:spPr>
          <a:xfrm>
            <a:off x="6263640" y="3931920"/>
            <a:ext cx="5349240" cy="237744"/>
          </a:xfrm>
          <a:prstGeom prst="rect">
            <a:avLst/>
          </a:prstGeom>
          <a:noFill/>
          <a:ln/>
        </p:spPr>
        <p:txBody>
          <a:bodyPr wrap="square" lIns="0" tIns="0" rIns="0" bIns="0" rtlCol="0" anchor="ctr"/>
          <a:lstStyle/>
          <a:p>
            <a:pPr algn="ctr" indent="0" marL="0">
              <a:buNone/>
            </a:pPr>
            <a:r>
              <a:rPr lang="en-US" sz="850" b="1" dirty="0">
                <a:solidFill>
                  <a:srgbClr val="B7791F"/>
                </a:solidFill>
                <a:latin typeface="Calibri" pitchFamily="34" charset="0"/>
                <a:ea typeface="Calibri" pitchFamily="34" charset="-122"/>
                <a:cs typeface="Calibri" pitchFamily="34" charset="-120"/>
              </a:rPr>
              <a:t>PLACEHOLDER FIGURES  ·  replace with Week-1 control-experiment output</a:t>
            </a:r>
            <a:endParaRPr lang="en-US" sz="850" dirty="0"/>
          </a:p>
        </p:txBody>
      </p:sp>
      <p:sp>
        <p:nvSpPr>
          <p:cNvPr id="11" name="Shape 8"/>
          <p:cNvSpPr/>
          <p:nvPr/>
        </p:nvSpPr>
        <p:spPr>
          <a:xfrm>
            <a:off x="548640" y="4041648"/>
            <a:ext cx="5486400" cy="658368"/>
          </a:xfrm>
          <a:prstGeom prst="roundRect">
            <a:avLst>
              <a:gd name="adj" fmla="val 8333"/>
            </a:avLst>
          </a:prstGeom>
          <a:solidFill>
            <a:srgbClr val="FBEAE8"/>
          </a:solidFill>
          <a:ln w="15875">
            <a:solidFill>
              <a:srgbClr val="C0392B"/>
            </a:solidFill>
            <a:prstDash val="solid"/>
          </a:ln>
        </p:spPr>
      </p:sp>
      <p:sp>
        <p:nvSpPr>
          <p:cNvPr id="12" name="Text 9"/>
          <p:cNvSpPr txBox="1"/>
          <p:nvPr/>
        </p:nvSpPr>
        <p:spPr>
          <a:xfrm>
            <a:off x="731520" y="4096512"/>
            <a:ext cx="5120640" cy="548640"/>
          </a:xfrm>
          <a:prstGeom prst="rect">
            <a:avLst/>
          </a:prstGeom>
          <a:noFill/>
          <a:ln/>
        </p:spPr>
        <p:txBody>
          <a:bodyPr wrap="square" lIns="0" tIns="0" rIns="0" bIns="0" rtlCol="0" anchor="ctr"/>
          <a:lstStyle/>
          <a:p>
            <a:pPr algn="ctr" indent="0" marL="0">
              <a:buNone/>
            </a:pPr>
            <a:r>
              <a:rPr lang="en-US" sz="1250" b="1" dirty="0">
                <a:solidFill>
                  <a:srgbClr val="C0392B"/>
                </a:solidFill>
                <a:latin typeface="Calibri" pitchFamily="34" charset="0"/>
                <a:ea typeface="Calibri" pitchFamily="34" charset="-122"/>
                <a:cs typeface="Calibri" pitchFamily="34" charset="-120"/>
              </a:rPr>
              <a:t>It does not crash. It does not warn.</a:t>
            </a:r>
            <a:endParaRPr lang="en-US" sz="1250" dirty="0"/>
          </a:p>
          <a:p>
            <a:pPr algn="ctr" indent="0" marL="0">
              <a:buNone/>
            </a:pPr>
            <a:r>
              <a:rPr lang="en-US" sz="1250" b="1" dirty="0">
                <a:solidFill>
                  <a:srgbClr val="C0392B"/>
                </a:solidFill>
                <a:latin typeface="Calibri" pitchFamily="34" charset="0"/>
                <a:ea typeface="Calibri" pitchFamily="34" charset="-122"/>
                <a:cs typeface="Calibri" pitchFamily="34" charset="-120"/>
              </a:rPr>
              <a:t>It reports high confidence throughout.</a:t>
            </a:r>
            <a:endParaRPr lang="en-US" sz="1250" dirty="0"/>
          </a:p>
        </p:txBody>
      </p:sp>
      <p:sp>
        <p:nvSpPr>
          <p:cNvPr id="13" name="Shape 10"/>
          <p:cNvSpPr/>
          <p:nvPr/>
        </p:nvSpPr>
        <p:spPr>
          <a:xfrm>
            <a:off x="548640" y="4919472"/>
            <a:ext cx="11064240" cy="1170432"/>
          </a:xfrm>
          <a:prstGeom prst="roundRect">
            <a:avLst>
              <a:gd name="adj" fmla="val 4688"/>
            </a:avLst>
          </a:prstGeom>
          <a:solidFill>
            <a:srgbClr val="0F1B2D"/>
          </a:solidFill>
          <a:ln w="12700">
            <a:solidFill>
              <a:srgbClr val="0F1B2D"/>
            </a:solidFill>
            <a:prstDash val="solid"/>
          </a:ln>
        </p:spPr>
      </p:sp>
      <p:sp>
        <p:nvSpPr>
          <p:cNvPr id="14" name="Text 11"/>
          <p:cNvSpPr txBox="1"/>
          <p:nvPr/>
        </p:nvSpPr>
        <p:spPr>
          <a:xfrm>
            <a:off x="804672" y="5029200"/>
            <a:ext cx="2743200" cy="237744"/>
          </a:xfrm>
          <a:prstGeom prst="rect">
            <a:avLst/>
          </a:prstGeom>
          <a:noFill/>
          <a:ln/>
        </p:spPr>
        <p:txBody>
          <a:bodyPr wrap="square" lIns="0" tIns="0" rIns="0" bIns="0" rtlCol="0" anchor="ctr"/>
          <a:lstStyle/>
          <a:p>
            <a:pPr indent="0" marL="0">
              <a:buNone/>
            </a:pPr>
            <a:r>
              <a:rPr lang="en-US" sz="1050" b="1" spc="150" kern="0" dirty="0">
                <a:solidFill>
                  <a:srgbClr val="5EC8DE"/>
                </a:solidFill>
                <a:latin typeface="Calibri" pitchFamily="34" charset="0"/>
                <a:ea typeface="Calibri" pitchFamily="34" charset="-122"/>
                <a:cs typeface="Calibri" pitchFamily="34" charset="-120"/>
              </a:rPr>
              <a:t>OUR SOLUTION</a:t>
            </a:r>
            <a:endParaRPr lang="en-US" sz="1050" dirty="0"/>
          </a:p>
        </p:txBody>
      </p:sp>
      <p:sp>
        <p:nvSpPr>
          <p:cNvPr id="15" name="Text 12"/>
          <p:cNvSpPr txBox="1"/>
          <p:nvPr/>
        </p:nvSpPr>
        <p:spPr>
          <a:xfrm>
            <a:off x="804672" y="5303520"/>
            <a:ext cx="10552176" cy="658368"/>
          </a:xfrm>
          <a:prstGeom prst="rect">
            <a:avLst/>
          </a:prstGeom>
          <a:noFill/>
          <a:ln/>
        </p:spPr>
        <p:txBody>
          <a:bodyPr wrap="square" lIns="0" tIns="0" rIns="0" bIns="0" rtlCol="0" anchor="t"/>
          <a:lstStyle/>
          <a:p>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EKADHARA reads a one-way traffic copy and emits calibrated, evidence-carrying alerts across all six threat classes — without transmitting a packet, resolving a hostname, or decrypting a byte.</a:t>
            </a:r>
            <a:endParaRPr lang="en-US" sz="1400" dirty="0"/>
          </a:p>
        </p:txBody>
      </p:sp>
      <p:sp>
        <p:nvSpPr>
          <p:cNvPr id="16" name="Text 13"/>
          <p:cNvSpPr txBox="1"/>
          <p:nvPr/>
        </p:nvSpPr>
        <p:spPr>
          <a:xfrm>
            <a:off x="548640" y="6446520"/>
            <a:ext cx="5486400" cy="256032"/>
          </a:xfrm>
          <a:prstGeom prst="rect">
            <a:avLst/>
          </a:prstGeom>
          <a:noFill/>
          <a:ln/>
        </p:spPr>
        <p:txBody>
          <a:bodyPr wrap="square" lIns="0" tIns="0" rIns="0" bIns="0" rtlCol="0" anchor="ctr"/>
          <a:lstStyle/>
          <a:p>
            <a:pPr algn="l" indent="0" marL="0">
              <a:buNone/>
            </a:pPr>
            <a:r>
              <a:rPr lang="en-US" sz="900" dirty="0">
                <a:solidFill>
                  <a:srgbClr val="9AA8B4"/>
                </a:solidFill>
                <a:latin typeface="Calibri" pitchFamily="34" charset="0"/>
                <a:ea typeface="Calibri" pitchFamily="34" charset="-122"/>
                <a:cs typeface="Calibri" pitchFamily="34" charset="-120"/>
              </a:rPr>
              <a:t>SIH26145  ·  EKADHARA  ·  NTRO</a:t>
            </a:r>
            <a:endParaRPr lang="en-US" sz="900" dirty="0"/>
          </a:p>
        </p:txBody>
      </p:sp>
      <p:sp>
        <p:nvSpPr>
          <p:cNvPr id="17" name="Text 14"/>
          <p:cNvSpPr txBox="1"/>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8B4"/>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01168"/>
          </a:xfrm>
          <a:prstGeom prst="rect">
            <a:avLst/>
          </a:prstGeom>
          <a:noFill/>
          <a:ln/>
        </p:spPr>
        <p:txBody>
          <a:bodyPr wrap="square" lIns="0" tIns="0" rIns="0" bIns="0" rtlCol="0" anchor="ctr"/>
          <a:lstStyle/>
          <a:p>
            <a:pPr algn="l" indent="0" marL="0">
              <a:buNone/>
            </a:pPr>
            <a:r>
              <a:rPr lang="en-US" sz="1000" b="1" spc="150" kern="0" dirty="0">
                <a:solidFill>
                  <a:srgbClr val="1A6E85"/>
                </a:solidFill>
                <a:latin typeface="Calibri" pitchFamily="34" charset="0"/>
                <a:ea typeface="Calibri" pitchFamily="34" charset="-122"/>
                <a:cs typeface="Calibri" pitchFamily="34" charset="-120"/>
              </a:rPr>
              <a:t>2 · TECHNICAL APPROACH</a:t>
            </a:r>
            <a:endParaRPr lang="en-US" sz="1000" dirty="0"/>
          </a:p>
        </p:txBody>
      </p:sp>
      <p:sp>
        <p:nvSpPr>
          <p:cNvPr id="3" name="Text 1"/>
          <p:cNvSpPr txBox="1"/>
          <p:nvPr/>
        </p:nvSpPr>
        <p:spPr>
          <a:xfrm>
            <a:off x="548640" y="475488"/>
            <a:ext cx="11064240" cy="804672"/>
          </a:xfrm>
          <a:prstGeom prst="rect">
            <a:avLst/>
          </a:prstGeom>
          <a:noFill/>
          <a:ln/>
        </p:spPr>
        <p:txBody>
          <a:bodyPr wrap="square" lIns="0" tIns="0" rIns="0" bIns="0" rtlCol="0" anchor="t"/>
          <a:lstStyle/>
          <a:p>
            <a:pPr algn="l" indent="0" marL="0">
              <a:buNone/>
            </a:pPr>
            <a:r>
              <a:rPr lang="en-US" sz="2500" b="1" dirty="0">
                <a:solidFill>
                  <a:srgbClr val="0F1B2D"/>
                </a:solidFill>
                <a:latin typeface="Cambria" pitchFamily="34" charset="0"/>
                <a:ea typeface="Cambria" pitchFamily="34" charset="-122"/>
                <a:cs typeface="Cambria" pitchFamily="34" charset="-120"/>
              </a:rPr>
              <a:t>One pipeline.  Six detectors.  Zero outbound packets.</a:t>
            </a:r>
            <a:endParaRPr lang="en-US" sz="2500" dirty="0"/>
          </a:p>
        </p:txBody>
      </p:sp>
      <p:sp>
        <p:nvSpPr>
          <p:cNvPr id="4" name="Shape 2"/>
          <p:cNvSpPr/>
          <p:nvPr/>
        </p:nvSpPr>
        <p:spPr>
          <a:xfrm>
            <a:off x="548640" y="1389888"/>
            <a:ext cx="11064240" cy="1298448"/>
          </a:xfrm>
          <a:prstGeom prst="roundRect">
            <a:avLst>
              <a:gd name="adj" fmla="val 4225"/>
            </a:avLst>
          </a:prstGeom>
          <a:solidFill>
            <a:srgbClr val="F1F5F8"/>
          </a:solidFill>
          <a:ln w="19050">
            <a:solidFill>
              <a:srgbClr val="C0392B"/>
            </a:solidFill>
            <a:prstDash val="dash"/>
          </a:ln>
        </p:spPr>
      </p:sp>
      <p:sp>
        <p:nvSpPr>
          <p:cNvPr id="5" name="Text 3"/>
          <p:cNvSpPr txBox="1"/>
          <p:nvPr/>
        </p:nvSpPr>
        <p:spPr>
          <a:xfrm>
            <a:off x="731520" y="1444752"/>
            <a:ext cx="10789920" cy="219456"/>
          </a:xfrm>
          <a:prstGeom prst="rect">
            <a:avLst/>
          </a:prstGeom>
          <a:noFill/>
          <a:ln/>
        </p:spPr>
        <p:txBody>
          <a:bodyPr wrap="square" lIns="0" tIns="0" rIns="0" bIns="0" rtlCol="0" anchor="ctr"/>
          <a:lstStyle/>
          <a:p>
            <a:pPr indent="0" marL="0">
              <a:buNone/>
            </a:pPr>
            <a:r>
              <a:rPr lang="en-US" sz="900" b="1" spc="50" kern="0" dirty="0">
                <a:solidFill>
                  <a:srgbClr val="C0392B"/>
                </a:solidFill>
                <a:latin typeface="Calibri" pitchFamily="34" charset="0"/>
                <a:ea typeface="Calibri" pitchFamily="34" charset="-122"/>
                <a:cs typeface="Calibri" pitchFamily="34" charset="-120"/>
              </a:rPr>
              <a:t>EGRESS LOCKDOWN BOUNDARY   ·   --network none  +  seccomp denies connect / sendto / sendmsg</a:t>
            </a:r>
            <a:endParaRPr lang="en-US" sz="900" dirty="0"/>
          </a:p>
        </p:txBody>
      </p:sp>
      <p:sp>
        <p:nvSpPr>
          <p:cNvPr id="6" name="Shape 4"/>
          <p:cNvSpPr/>
          <p:nvPr/>
        </p:nvSpPr>
        <p:spPr>
          <a:xfrm>
            <a:off x="749808" y="1737360"/>
            <a:ext cx="1389888" cy="841248"/>
          </a:xfrm>
          <a:prstGeom prst="roundRect">
            <a:avLst>
              <a:gd name="adj" fmla="val 5435"/>
            </a:avLst>
          </a:prstGeom>
          <a:solidFill>
            <a:srgbClr val="0F1B2D"/>
          </a:solidFill>
          <a:ln w="12700">
            <a:solidFill>
              <a:srgbClr val="0F1B2D"/>
            </a:solidFill>
            <a:prstDash val="solid"/>
          </a:ln>
        </p:spPr>
      </p:sp>
      <p:sp>
        <p:nvSpPr>
          <p:cNvPr id="7" name="Text 5"/>
          <p:cNvSpPr txBox="1"/>
          <p:nvPr/>
        </p:nvSpPr>
        <p:spPr>
          <a:xfrm>
            <a:off x="749808" y="1801368"/>
            <a:ext cx="1389888" cy="201168"/>
          </a:xfrm>
          <a:prstGeom prst="rect">
            <a:avLst/>
          </a:prstGeom>
          <a:noFill/>
          <a:ln/>
        </p:spPr>
        <p:txBody>
          <a:bodyPr wrap="square" lIns="0" tIns="0" rIns="0" bIns="0" rtlCol="0" anchor="ctr"/>
          <a:lstStyle/>
          <a:p>
            <a:pPr algn="ctr" indent="0" marL="0">
              <a:buNone/>
            </a:pPr>
            <a:r>
              <a:rPr lang="en-US" sz="900" b="1" dirty="0">
                <a:solidFill>
                  <a:srgbClr val="5EC8DE"/>
                </a:solidFill>
                <a:latin typeface="Calibri" pitchFamily="34" charset="0"/>
                <a:ea typeface="Calibri" pitchFamily="34" charset="-122"/>
                <a:cs typeface="Calibri" pitchFamily="34" charset="-120"/>
              </a:rPr>
              <a:t>01</a:t>
            </a:r>
            <a:endParaRPr lang="en-US" sz="900" dirty="0"/>
          </a:p>
        </p:txBody>
      </p:sp>
      <p:sp>
        <p:nvSpPr>
          <p:cNvPr id="8" name="Text 6"/>
          <p:cNvSpPr txBox="1"/>
          <p:nvPr/>
        </p:nvSpPr>
        <p:spPr>
          <a:xfrm>
            <a:off x="795528" y="1993392"/>
            <a:ext cx="1298448" cy="530352"/>
          </a:xfrm>
          <a:prstGeom prst="rect">
            <a:avLst/>
          </a:prstGeom>
          <a:noFill/>
          <a:ln/>
        </p:spPr>
        <p:txBody>
          <a:bodyPr wrap="square" lIns="0" tIns="0" rIns="0" bIns="0" rtlCol="0" anchor="t"/>
          <a:lstStyle/>
          <a:p>
            <a:pPr algn="ctr" indent="0" marL="0">
              <a:buNone/>
            </a:pPr>
            <a:r>
              <a:rPr lang="en-US" sz="950" b="1" dirty="0">
                <a:solidFill>
                  <a:srgbClr val="FFFFFF"/>
                </a:solidFill>
                <a:latin typeface="Calibri" pitchFamily="34" charset="0"/>
                <a:ea typeface="Calibri" pitchFamily="34" charset="-122"/>
                <a:cs typeface="Calibri" pitchFamily="34" charset="-120"/>
              </a:rPr>
              <a:t>INGEST</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read-only</a:t>
            </a:r>
            <a:endParaRPr lang="en-US" sz="950" dirty="0"/>
          </a:p>
        </p:txBody>
      </p:sp>
      <p:sp>
        <p:nvSpPr>
          <p:cNvPr id="9" name="Text 7"/>
          <p:cNvSpPr txBox="1"/>
          <p:nvPr/>
        </p:nvSpPr>
        <p:spPr>
          <a:xfrm>
            <a:off x="2148840" y="2029968"/>
            <a:ext cx="237744" cy="256032"/>
          </a:xfrm>
          <a:prstGeom prst="rect">
            <a:avLst/>
          </a:prstGeom>
          <a:noFill/>
          <a:ln/>
        </p:spPr>
        <p:txBody>
          <a:bodyPr wrap="square" lIns="0" tIns="0" rIns="0" bIns="0" rtlCol="0" anchor="ctr"/>
          <a:lstStyle/>
          <a:p>
            <a:pPr algn="ctr" indent="0" marL="0">
              <a:buNone/>
            </a:pPr>
            <a:r>
              <a:rPr lang="en-US" sz="1200" dirty="0">
                <a:solidFill>
                  <a:srgbClr val="1A6E85"/>
                </a:solidFill>
              </a:rPr>
              <a:t>▶</a:t>
            </a:r>
            <a:endParaRPr lang="en-US" sz="1200" dirty="0"/>
          </a:p>
        </p:txBody>
      </p:sp>
      <p:sp>
        <p:nvSpPr>
          <p:cNvPr id="10" name="Shape 8"/>
          <p:cNvSpPr/>
          <p:nvPr/>
        </p:nvSpPr>
        <p:spPr>
          <a:xfrm>
            <a:off x="2286000" y="1737360"/>
            <a:ext cx="1389888" cy="841248"/>
          </a:xfrm>
          <a:prstGeom prst="roundRect">
            <a:avLst>
              <a:gd name="adj" fmla="val 5435"/>
            </a:avLst>
          </a:prstGeom>
          <a:solidFill>
            <a:srgbClr val="0F1B2D"/>
          </a:solidFill>
          <a:ln w="12700">
            <a:solidFill>
              <a:srgbClr val="0F1B2D"/>
            </a:solidFill>
            <a:prstDash val="solid"/>
          </a:ln>
        </p:spPr>
      </p:sp>
      <p:sp>
        <p:nvSpPr>
          <p:cNvPr id="11" name="Text 9"/>
          <p:cNvSpPr txBox="1"/>
          <p:nvPr/>
        </p:nvSpPr>
        <p:spPr>
          <a:xfrm>
            <a:off x="2286000" y="1801368"/>
            <a:ext cx="1389888" cy="201168"/>
          </a:xfrm>
          <a:prstGeom prst="rect">
            <a:avLst/>
          </a:prstGeom>
          <a:noFill/>
          <a:ln/>
        </p:spPr>
        <p:txBody>
          <a:bodyPr wrap="square" lIns="0" tIns="0" rIns="0" bIns="0" rtlCol="0" anchor="ctr"/>
          <a:lstStyle/>
          <a:p>
            <a:pPr algn="ctr" indent="0" marL="0">
              <a:buNone/>
            </a:pPr>
            <a:r>
              <a:rPr lang="en-US" sz="900" b="1" dirty="0">
                <a:solidFill>
                  <a:srgbClr val="5EC8DE"/>
                </a:solidFill>
                <a:latin typeface="Calibri" pitchFamily="34" charset="0"/>
                <a:ea typeface="Calibri" pitchFamily="34" charset="-122"/>
                <a:cs typeface="Calibri" pitchFamily="34" charset="-120"/>
              </a:rPr>
              <a:t>02</a:t>
            </a:r>
            <a:endParaRPr lang="en-US" sz="900" dirty="0"/>
          </a:p>
        </p:txBody>
      </p:sp>
      <p:sp>
        <p:nvSpPr>
          <p:cNvPr id="12" name="Text 10"/>
          <p:cNvSpPr txBox="1"/>
          <p:nvPr/>
        </p:nvSpPr>
        <p:spPr>
          <a:xfrm>
            <a:off x="2331720" y="1993392"/>
            <a:ext cx="1298448" cy="530352"/>
          </a:xfrm>
          <a:prstGeom prst="rect">
            <a:avLst/>
          </a:prstGeom>
          <a:noFill/>
          <a:ln/>
        </p:spPr>
        <p:txBody>
          <a:bodyPr wrap="square" lIns="0" tIns="0" rIns="0" bIns="0" rtlCol="0" anchor="t"/>
          <a:lstStyle/>
          <a:p>
            <a:pPr algn="ctr" indent="0" marL="0">
              <a:buNone/>
            </a:pPr>
            <a:r>
              <a:rPr lang="en-US" sz="950" b="1" dirty="0">
                <a:solidFill>
                  <a:srgbClr val="FFFFFF"/>
                </a:solidFill>
                <a:latin typeface="Calibri" pitchFamily="34" charset="0"/>
                <a:ea typeface="Calibri" pitchFamily="34" charset="-122"/>
                <a:cs typeface="Calibri" pitchFamily="34" charset="-120"/>
              </a:rPr>
              <a:t>FLOW ASSEMBLY</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 direction mask</a:t>
            </a:r>
            <a:endParaRPr lang="en-US" sz="950" dirty="0"/>
          </a:p>
        </p:txBody>
      </p:sp>
      <p:sp>
        <p:nvSpPr>
          <p:cNvPr id="13" name="Text 11"/>
          <p:cNvSpPr txBox="1"/>
          <p:nvPr/>
        </p:nvSpPr>
        <p:spPr>
          <a:xfrm>
            <a:off x="3685032" y="2029968"/>
            <a:ext cx="237744" cy="256032"/>
          </a:xfrm>
          <a:prstGeom prst="rect">
            <a:avLst/>
          </a:prstGeom>
          <a:noFill/>
          <a:ln/>
        </p:spPr>
        <p:txBody>
          <a:bodyPr wrap="square" lIns="0" tIns="0" rIns="0" bIns="0" rtlCol="0" anchor="ctr"/>
          <a:lstStyle/>
          <a:p>
            <a:pPr algn="ctr" indent="0" marL="0">
              <a:buNone/>
            </a:pPr>
            <a:r>
              <a:rPr lang="en-US" sz="1200" dirty="0">
                <a:solidFill>
                  <a:srgbClr val="1A6E85"/>
                </a:solidFill>
              </a:rPr>
              <a:t>▶</a:t>
            </a:r>
            <a:endParaRPr lang="en-US" sz="1200" dirty="0"/>
          </a:p>
        </p:txBody>
      </p:sp>
      <p:sp>
        <p:nvSpPr>
          <p:cNvPr id="14" name="Shape 12"/>
          <p:cNvSpPr/>
          <p:nvPr/>
        </p:nvSpPr>
        <p:spPr>
          <a:xfrm>
            <a:off x="3822192" y="1737360"/>
            <a:ext cx="1389888" cy="841248"/>
          </a:xfrm>
          <a:prstGeom prst="roundRect">
            <a:avLst>
              <a:gd name="adj" fmla="val 5435"/>
            </a:avLst>
          </a:prstGeom>
          <a:solidFill>
            <a:srgbClr val="0F1B2D"/>
          </a:solidFill>
          <a:ln w="12700">
            <a:solidFill>
              <a:srgbClr val="0F1B2D"/>
            </a:solidFill>
            <a:prstDash val="solid"/>
          </a:ln>
        </p:spPr>
      </p:sp>
      <p:sp>
        <p:nvSpPr>
          <p:cNvPr id="15" name="Text 13"/>
          <p:cNvSpPr txBox="1"/>
          <p:nvPr/>
        </p:nvSpPr>
        <p:spPr>
          <a:xfrm>
            <a:off x="3822192" y="1801368"/>
            <a:ext cx="1389888" cy="201168"/>
          </a:xfrm>
          <a:prstGeom prst="rect">
            <a:avLst/>
          </a:prstGeom>
          <a:noFill/>
          <a:ln/>
        </p:spPr>
        <p:txBody>
          <a:bodyPr wrap="square" lIns="0" tIns="0" rIns="0" bIns="0" rtlCol="0" anchor="ctr"/>
          <a:lstStyle/>
          <a:p>
            <a:pPr algn="ctr" indent="0" marL="0">
              <a:buNone/>
            </a:pPr>
            <a:r>
              <a:rPr lang="en-US" sz="900" b="1" dirty="0">
                <a:solidFill>
                  <a:srgbClr val="5EC8DE"/>
                </a:solidFill>
                <a:latin typeface="Calibri" pitchFamily="34" charset="0"/>
                <a:ea typeface="Calibri" pitchFamily="34" charset="-122"/>
                <a:cs typeface="Calibri" pitchFamily="34" charset="-120"/>
              </a:rPr>
              <a:t>03</a:t>
            </a:r>
            <a:endParaRPr lang="en-US" sz="900" dirty="0"/>
          </a:p>
        </p:txBody>
      </p:sp>
      <p:sp>
        <p:nvSpPr>
          <p:cNvPr id="16" name="Text 14"/>
          <p:cNvSpPr txBox="1"/>
          <p:nvPr/>
        </p:nvSpPr>
        <p:spPr>
          <a:xfrm>
            <a:off x="3867912" y="1993392"/>
            <a:ext cx="1298448" cy="530352"/>
          </a:xfrm>
          <a:prstGeom prst="rect">
            <a:avLst/>
          </a:prstGeom>
          <a:noFill/>
          <a:ln/>
        </p:spPr>
        <p:txBody>
          <a:bodyPr wrap="square" lIns="0" tIns="0" rIns="0" bIns="0" rtlCol="0" anchor="t"/>
          <a:lstStyle/>
          <a:p>
            <a:pPr algn="ctr" indent="0" marL="0">
              <a:buNone/>
            </a:pPr>
            <a:r>
              <a:rPr lang="en-US" sz="950" b="1" dirty="0">
                <a:solidFill>
                  <a:srgbClr val="FFFFFF"/>
                </a:solidFill>
                <a:latin typeface="Calibri" pitchFamily="34" charset="0"/>
                <a:ea typeface="Calibri" pitchFamily="34" charset="-122"/>
                <a:cs typeface="Calibri" pitchFamily="34" charset="-120"/>
              </a:rPr>
              <a:t>FEATURE FABRIC</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 ACK-Shadow</a:t>
            </a:r>
            <a:endParaRPr lang="en-US" sz="950" dirty="0"/>
          </a:p>
        </p:txBody>
      </p:sp>
      <p:sp>
        <p:nvSpPr>
          <p:cNvPr id="17" name="Text 15"/>
          <p:cNvSpPr txBox="1"/>
          <p:nvPr/>
        </p:nvSpPr>
        <p:spPr>
          <a:xfrm>
            <a:off x="5221224" y="2029968"/>
            <a:ext cx="237744" cy="256032"/>
          </a:xfrm>
          <a:prstGeom prst="rect">
            <a:avLst/>
          </a:prstGeom>
          <a:noFill/>
          <a:ln/>
        </p:spPr>
        <p:txBody>
          <a:bodyPr wrap="square" lIns="0" tIns="0" rIns="0" bIns="0" rtlCol="0" anchor="ctr"/>
          <a:lstStyle/>
          <a:p>
            <a:pPr algn="ctr" indent="0" marL="0">
              <a:buNone/>
            </a:pPr>
            <a:r>
              <a:rPr lang="en-US" sz="1200" dirty="0">
                <a:solidFill>
                  <a:srgbClr val="1A6E85"/>
                </a:solidFill>
              </a:rPr>
              <a:t>▶</a:t>
            </a:r>
            <a:endParaRPr lang="en-US" sz="1200" dirty="0"/>
          </a:p>
        </p:txBody>
      </p:sp>
      <p:sp>
        <p:nvSpPr>
          <p:cNvPr id="18" name="Shape 16"/>
          <p:cNvSpPr/>
          <p:nvPr/>
        </p:nvSpPr>
        <p:spPr>
          <a:xfrm>
            <a:off x="5358384" y="1737360"/>
            <a:ext cx="1389888" cy="841248"/>
          </a:xfrm>
          <a:prstGeom prst="roundRect">
            <a:avLst>
              <a:gd name="adj" fmla="val 5435"/>
            </a:avLst>
          </a:prstGeom>
          <a:solidFill>
            <a:srgbClr val="0F1B2D"/>
          </a:solidFill>
          <a:ln w="12700">
            <a:solidFill>
              <a:srgbClr val="0F1B2D"/>
            </a:solidFill>
            <a:prstDash val="solid"/>
          </a:ln>
        </p:spPr>
      </p:sp>
      <p:sp>
        <p:nvSpPr>
          <p:cNvPr id="19" name="Text 17"/>
          <p:cNvSpPr txBox="1"/>
          <p:nvPr/>
        </p:nvSpPr>
        <p:spPr>
          <a:xfrm>
            <a:off x="5358384" y="1801368"/>
            <a:ext cx="1389888" cy="201168"/>
          </a:xfrm>
          <a:prstGeom prst="rect">
            <a:avLst/>
          </a:prstGeom>
          <a:noFill/>
          <a:ln/>
        </p:spPr>
        <p:txBody>
          <a:bodyPr wrap="square" lIns="0" tIns="0" rIns="0" bIns="0" rtlCol="0" anchor="ctr"/>
          <a:lstStyle/>
          <a:p>
            <a:pPr algn="ctr" indent="0" marL="0">
              <a:buNone/>
            </a:pPr>
            <a:r>
              <a:rPr lang="en-US" sz="900" b="1" dirty="0">
                <a:solidFill>
                  <a:srgbClr val="5EC8DE"/>
                </a:solidFill>
                <a:latin typeface="Calibri" pitchFamily="34" charset="0"/>
                <a:ea typeface="Calibri" pitchFamily="34" charset="-122"/>
                <a:cs typeface="Calibri" pitchFamily="34" charset="-120"/>
              </a:rPr>
              <a:t>04</a:t>
            </a:r>
            <a:endParaRPr lang="en-US" sz="900" dirty="0"/>
          </a:p>
        </p:txBody>
      </p:sp>
      <p:sp>
        <p:nvSpPr>
          <p:cNvPr id="20" name="Text 18"/>
          <p:cNvSpPr txBox="1"/>
          <p:nvPr/>
        </p:nvSpPr>
        <p:spPr>
          <a:xfrm>
            <a:off x="5404104" y="1993392"/>
            <a:ext cx="1298448" cy="530352"/>
          </a:xfrm>
          <a:prstGeom prst="rect">
            <a:avLst/>
          </a:prstGeom>
          <a:noFill/>
          <a:ln/>
        </p:spPr>
        <p:txBody>
          <a:bodyPr wrap="square" lIns="0" tIns="0" rIns="0" bIns="0" rtlCol="0" anchor="t"/>
          <a:lstStyle/>
          <a:p>
            <a:pPr algn="ctr" indent="0" marL="0">
              <a:buNone/>
            </a:pPr>
            <a:r>
              <a:rPr lang="en-US" sz="950" b="1" dirty="0">
                <a:solidFill>
                  <a:srgbClr val="FFFFFF"/>
                </a:solidFill>
                <a:latin typeface="Calibri" pitchFamily="34" charset="0"/>
                <a:ea typeface="Calibri" pitchFamily="34" charset="-122"/>
                <a:cs typeface="Calibri" pitchFamily="34" charset="-120"/>
              </a:rPr>
              <a:t>6 DETECTORS</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streaming</a:t>
            </a:r>
            <a:endParaRPr lang="en-US" sz="950" dirty="0"/>
          </a:p>
        </p:txBody>
      </p:sp>
      <p:sp>
        <p:nvSpPr>
          <p:cNvPr id="21" name="Text 19"/>
          <p:cNvSpPr txBox="1"/>
          <p:nvPr/>
        </p:nvSpPr>
        <p:spPr>
          <a:xfrm>
            <a:off x="6757416" y="2029968"/>
            <a:ext cx="237744" cy="256032"/>
          </a:xfrm>
          <a:prstGeom prst="rect">
            <a:avLst/>
          </a:prstGeom>
          <a:noFill/>
          <a:ln/>
        </p:spPr>
        <p:txBody>
          <a:bodyPr wrap="square" lIns="0" tIns="0" rIns="0" bIns="0" rtlCol="0" anchor="ctr"/>
          <a:lstStyle/>
          <a:p>
            <a:pPr algn="ctr" indent="0" marL="0">
              <a:buNone/>
            </a:pPr>
            <a:r>
              <a:rPr lang="en-US" sz="1200" dirty="0">
                <a:solidFill>
                  <a:srgbClr val="1A6E85"/>
                </a:solidFill>
              </a:rPr>
              <a:t>▶</a:t>
            </a:r>
            <a:endParaRPr lang="en-US" sz="1200" dirty="0"/>
          </a:p>
        </p:txBody>
      </p:sp>
      <p:sp>
        <p:nvSpPr>
          <p:cNvPr id="22" name="Shape 20"/>
          <p:cNvSpPr/>
          <p:nvPr/>
        </p:nvSpPr>
        <p:spPr>
          <a:xfrm>
            <a:off x="6894576" y="1737360"/>
            <a:ext cx="1389888" cy="841248"/>
          </a:xfrm>
          <a:prstGeom prst="roundRect">
            <a:avLst>
              <a:gd name="adj" fmla="val 5435"/>
            </a:avLst>
          </a:prstGeom>
          <a:solidFill>
            <a:srgbClr val="0F1B2D"/>
          </a:solidFill>
          <a:ln w="12700">
            <a:solidFill>
              <a:srgbClr val="0F1B2D"/>
            </a:solidFill>
            <a:prstDash val="solid"/>
          </a:ln>
        </p:spPr>
      </p:sp>
      <p:sp>
        <p:nvSpPr>
          <p:cNvPr id="23" name="Text 21"/>
          <p:cNvSpPr txBox="1"/>
          <p:nvPr/>
        </p:nvSpPr>
        <p:spPr>
          <a:xfrm>
            <a:off x="6894576" y="1801368"/>
            <a:ext cx="1389888" cy="201168"/>
          </a:xfrm>
          <a:prstGeom prst="rect">
            <a:avLst/>
          </a:prstGeom>
          <a:noFill/>
          <a:ln/>
        </p:spPr>
        <p:txBody>
          <a:bodyPr wrap="square" lIns="0" tIns="0" rIns="0" bIns="0" rtlCol="0" anchor="ctr"/>
          <a:lstStyle/>
          <a:p>
            <a:pPr algn="ctr" indent="0" marL="0">
              <a:buNone/>
            </a:pPr>
            <a:r>
              <a:rPr lang="en-US" sz="900" b="1" dirty="0">
                <a:solidFill>
                  <a:srgbClr val="5EC8DE"/>
                </a:solidFill>
                <a:latin typeface="Calibri" pitchFamily="34" charset="0"/>
                <a:ea typeface="Calibri" pitchFamily="34" charset="-122"/>
                <a:cs typeface="Calibri" pitchFamily="34" charset="-120"/>
              </a:rPr>
              <a:t>05</a:t>
            </a:r>
            <a:endParaRPr lang="en-US" sz="900" dirty="0"/>
          </a:p>
        </p:txBody>
      </p:sp>
      <p:sp>
        <p:nvSpPr>
          <p:cNvPr id="24" name="Text 22"/>
          <p:cNvSpPr txBox="1"/>
          <p:nvPr/>
        </p:nvSpPr>
        <p:spPr>
          <a:xfrm>
            <a:off x="6940296" y="1993392"/>
            <a:ext cx="1298448" cy="530352"/>
          </a:xfrm>
          <a:prstGeom prst="rect">
            <a:avLst/>
          </a:prstGeom>
          <a:noFill/>
          <a:ln/>
        </p:spPr>
        <p:txBody>
          <a:bodyPr wrap="square" lIns="0" tIns="0" rIns="0" bIns="0" rtlCol="0" anchor="t"/>
          <a:lstStyle/>
          <a:p>
            <a:pPr algn="ctr" indent="0" marL="0">
              <a:buNone/>
            </a:pPr>
            <a:r>
              <a:rPr lang="en-US" sz="950" b="1" dirty="0">
                <a:solidFill>
                  <a:srgbClr val="FFFFFF"/>
                </a:solidFill>
                <a:latin typeface="Calibri" pitchFamily="34" charset="0"/>
                <a:ea typeface="Calibri" pitchFamily="34" charset="-122"/>
                <a:cs typeface="Calibri" pitchFamily="34" charset="-120"/>
              </a:rPr>
              <a:t>FUSION</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calibration</a:t>
            </a:r>
            <a:endParaRPr lang="en-US" sz="950" dirty="0"/>
          </a:p>
        </p:txBody>
      </p:sp>
      <p:sp>
        <p:nvSpPr>
          <p:cNvPr id="25" name="Text 23"/>
          <p:cNvSpPr txBox="1"/>
          <p:nvPr/>
        </p:nvSpPr>
        <p:spPr>
          <a:xfrm>
            <a:off x="8293608" y="2029968"/>
            <a:ext cx="237744" cy="256032"/>
          </a:xfrm>
          <a:prstGeom prst="rect">
            <a:avLst/>
          </a:prstGeom>
          <a:noFill/>
          <a:ln/>
        </p:spPr>
        <p:txBody>
          <a:bodyPr wrap="square" lIns="0" tIns="0" rIns="0" bIns="0" rtlCol="0" anchor="ctr"/>
          <a:lstStyle/>
          <a:p>
            <a:pPr algn="ctr" indent="0" marL="0">
              <a:buNone/>
            </a:pPr>
            <a:r>
              <a:rPr lang="en-US" sz="1200" dirty="0">
                <a:solidFill>
                  <a:srgbClr val="1A6E85"/>
                </a:solidFill>
              </a:rPr>
              <a:t>▶</a:t>
            </a:r>
            <a:endParaRPr lang="en-US" sz="1200" dirty="0"/>
          </a:p>
        </p:txBody>
      </p:sp>
      <p:sp>
        <p:nvSpPr>
          <p:cNvPr id="26" name="Shape 24"/>
          <p:cNvSpPr/>
          <p:nvPr/>
        </p:nvSpPr>
        <p:spPr>
          <a:xfrm>
            <a:off x="8430768" y="1737360"/>
            <a:ext cx="1389888" cy="841248"/>
          </a:xfrm>
          <a:prstGeom prst="roundRect">
            <a:avLst>
              <a:gd name="adj" fmla="val 5435"/>
            </a:avLst>
          </a:prstGeom>
          <a:solidFill>
            <a:srgbClr val="0F1B2D"/>
          </a:solidFill>
          <a:ln w="12700">
            <a:solidFill>
              <a:srgbClr val="0F1B2D"/>
            </a:solidFill>
            <a:prstDash val="solid"/>
          </a:ln>
        </p:spPr>
      </p:sp>
      <p:sp>
        <p:nvSpPr>
          <p:cNvPr id="27" name="Text 25"/>
          <p:cNvSpPr txBox="1"/>
          <p:nvPr/>
        </p:nvSpPr>
        <p:spPr>
          <a:xfrm>
            <a:off x="8430768" y="1801368"/>
            <a:ext cx="1389888" cy="201168"/>
          </a:xfrm>
          <a:prstGeom prst="rect">
            <a:avLst/>
          </a:prstGeom>
          <a:noFill/>
          <a:ln/>
        </p:spPr>
        <p:txBody>
          <a:bodyPr wrap="square" lIns="0" tIns="0" rIns="0" bIns="0" rtlCol="0" anchor="ctr"/>
          <a:lstStyle/>
          <a:p>
            <a:pPr algn="ctr" indent="0" marL="0">
              <a:buNone/>
            </a:pPr>
            <a:r>
              <a:rPr lang="en-US" sz="900" b="1" dirty="0">
                <a:solidFill>
                  <a:srgbClr val="5EC8DE"/>
                </a:solidFill>
                <a:latin typeface="Calibri" pitchFamily="34" charset="0"/>
                <a:ea typeface="Calibri" pitchFamily="34" charset="-122"/>
                <a:cs typeface="Calibri" pitchFamily="34" charset="-120"/>
              </a:rPr>
              <a:t>06</a:t>
            </a:r>
            <a:endParaRPr lang="en-US" sz="900" dirty="0"/>
          </a:p>
        </p:txBody>
      </p:sp>
      <p:sp>
        <p:nvSpPr>
          <p:cNvPr id="28" name="Text 26"/>
          <p:cNvSpPr txBox="1"/>
          <p:nvPr/>
        </p:nvSpPr>
        <p:spPr>
          <a:xfrm>
            <a:off x="8476488" y="1993392"/>
            <a:ext cx="1298448" cy="530352"/>
          </a:xfrm>
          <a:prstGeom prst="rect">
            <a:avLst/>
          </a:prstGeom>
          <a:noFill/>
          <a:ln/>
        </p:spPr>
        <p:txBody>
          <a:bodyPr wrap="square" lIns="0" tIns="0" rIns="0" bIns="0" rtlCol="0" anchor="t"/>
          <a:lstStyle/>
          <a:p>
            <a:pPr algn="ctr"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OCSF + Merkle</a:t>
            </a:r>
            <a:endParaRPr lang="en-US" sz="950" dirty="0"/>
          </a:p>
        </p:txBody>
      </p:sp>
      <p:sp>
        <p:nvSpPr>
          <p:cNvPr id="29" name="Text 27"/>
          <p:cNvSpPr txBox="1"/>
          <p:nvPr/>
        </p:nvSpPr>
        <p:spPr>
          <a:xfrm>
            <a:off x="9829800" y="2029968"/>
            <a:ext cx="237744" cy="256032"/>
          </a:xfrm>
          <a:prstGeom prst="rect">
            <a:avLst/>
          </a:prstGeom>
          <a:noFill/>
          <a:ln/>
        </p:spPr>
        <p:txBody>
          <a:bodyPr wrap="square" lIns="0" tIns="0" rIns="0" bIns="0" rtlCol="0" anchor="ctr"/>
          <a:lstStyle/>
          <a:p>
            <a:pPr algn="ctr" indent="0" marL="0">
              <a:buNone/>
            </a:pPr>
            <a:r>
              <a:rPr lang="en-US" sz="1200" dirty="0">
                <a:solidFill>
                  <a:srgbClr val="1A6E85"/>
                </a:solidFill>
              </a:rPr>
              <a:t>▶</a:t>
            </a:r>
            <a:endParaRPr lang="en-US" sz="1200" dirty="0"/>
          </a:p>
        </p:txBody>
      </p:sp>
      <p:sp>
        <p:nvSpPr>
          <p:cNvPr id="30" name="Shape 28"/>
          <p:cNvSpPr/>
          <p:nvPr/>
        </p:nvSpPr>
        <p:spPr>
          <a:xfrm>
            <a:off x="9966960" y="1737360"/>
            <a:ext cx="1389888" cy="841248"/>
          </a:xfrm>
          <a:prstGeom prst="roundRect">
            <a:avLst>
              <a:gd name="adj" fmla="val 5435"/>
            </a:avLst>
          </a:prstGeom>
          <a:solidFill>
            <a:srgbClr val="0F1B2D"/>
          </a:solidFill>
          <a:ln w="12700">
            <a:solidFill>
              <a:srgbClr val="0F1B2D"/>
            </a:solidFill>
            <a:prstDash val="solid"/>
          </a:ln>
        </p:spPr>
      </p:sp>
      <p:sp>
        <p:nvSpPr>
          <p:cNvPr id="31" name="Text 29"/>
          <p:cNvSpPr txBox="1"/>
          <p:nvPr/>
        </p:nvSpPr>
        <p:spPr>
          <a:xfrm>
            <a:off x="9966960" y="1801368"/>
            <a:ext cx="1389888" cy="201168"/>
          </a:xfrm>
          <a:prstGeom prst="rect">
            <a:avLst/>
          </a:prstGeom>
          <a:noFill/>
          <a:ln/>
        </p:spPr>
        <p:txBody>
          <a:bodyPr wrap="square" lIns="0" tIns="0" rIns="0" bIns="0" rtlCol="0" anchor="ctr"/>
          <a:lstStyle/>
          <a:p>
            <a:pPr algn="ctr" indent="0" marL="0">
              <a:buNone/>
            </a:pPr>
            <a:r>
              <a:rPr lang="en-US" sz="900" b="1" dirty="0">
                <a:solidFill>
                  <a:srgbClr val="5EC8DE"/>
                </a:solidFill>
                <a:latin typeface="Calibri" pitchFamily="34" charset="0"/>
                <a:ea typeface="Calibri" pitchFamily="34" charset="-122"/>
                <a:cs typeface="Calibri" pitchFamily="34" charset="-120"/>
              </a:rPr>
              <a:t>07</a:t>
            </a:r>
            <a:endParaRPr lang="en-US" sz="900" dirty="0"/>
          </a:p>
        </p:txBody>
      </p:sp>
      <p:sp>
        <p:nvSpPr>
          <p:cNvPr id="32" name="Text 30"/>
          <p:cNvSpPr txBox="1"/>
          <p:nvPr/>
        </p:nvSpPr>
        <p:spPr>
          <a:xfrm>
            <a:off x="10012680" y="1993392"/>
            <a:ext cx="1298448" cy="530352"/>
          </a:xfrm>
          <a:prstGeom prst="rect">
            <a:avLst/>
          </a:prstGeom>
          <a:noFill/>
          <a:ln/>
        </p:spPr>
        <p:txBody>
          <a:bodyPr wrap="square" lIns="0" tIns="0" rIns="0" bIns="0" rtlCol="0" anchor="t"/>
          <a:lstStyle/>
          <a:p>
            <a:pPr algn="ctr" indent="0" marL="0">
              <a:buNone/>
            </a:pPr>
            <a:r>
              <a:rPr lang="en-US" sz="950" b="1" dirty="0">
                <a:solidFill>
                  <a:srgbClr val="FFFFFF"/>
                </a:solidFill>
                <a:latin typeface="Calibri" pitchFamily="34" charset="0"/>
                <a:ea typeface="Calibri" pitchFamily="34" charset="-122"/>
                <a:cs typeface="Calibri" pitchFamily="34" charset="-120"/>
              </a:rPr>
              <a:t>DASHBOARD</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live HUD</a:t>
            </a:r>
            <a:endParaRPr lang="en-US" sz="950" dirty="0"/>
          </a:p>
        </p:txBody>
      </p:sp>
      <p:sp>
        <p:nvSpPr>
          <p:cNvPr id="33" name="Shape 31"/>
          <p:cNvSpPr/>
          <p:nvPr/>
        </p:nvSpPr>
        <p:spPr>
          <a:xfrm>
            <a:off x="548640" y="2852928"/>
            <a:ext cx="5989320" cy="2084832"/>
          </a:xfrm>
          <a:prstGeom prst="roundRect">
            <a:avLst>
              <a:gd name="adj" fmla="val 2632"/>
            </a:avLst>
          </a:prstGeom>
          <a:solidFill>
            <a:srgbClr val="F1F5F8"/>
          </a:solidFill>
          <a:ln w="12700">
            <a:solidFill>
              <a:srgbClr val="1A6E85"/>
            </a:solidFill>
            <a:prstDash val="solid"/>
          </a:ln>
        </p:spPr>
      </p:sp>
      <p:sp>
        <p:nvSpPr>
          <p:cNvPr id="34" name="Text 32"/>
          <p:cNvSpPr txBox="1"/>
          <p:nvPr/>
        </p:nvSpPr>
        <p:spPr>
          <a:xfrm>
            <a:off x="749808" y="2944368"/>
            <a:ext cx="5577840" cy="237744"/>
          </a:xfrm>
          <a:prstGeom prst="rect">
            <a:avLst/>
          </a:prstGeom>
          <a:noFill/>
          <a:ln/>
        </p:spPr>
        <p:txBody>
          <a:bodyPr wrap="square" lIns="0" tIns="0" rIns="0" bIns="0" rtlCol="0" anchor="ctr"/>
          <a:lstStyle/>
          <a:p>
            <a:pPr indent="0" marL="0">
              <a:buNone/>
            </a:pPr>
            <a:r>
              <a:rPr lang="en-US" sz="1050" b="1" spc="100" kern="0" dirty="0">
                <a:solidFill>
                  <a:srgbClr val="1A6E85"/>
                </a:solidFill>
                <a:latin typeface="Calibri" pitchFamily="34" charset="0"/>
                <a:ea typeface="Calibri" pitchFamily="34" charset="-122"/>
                <a:cs typeface="Calibri" pitchFamily="34" charset="-120"/>
              </a:rPr>
              <a:t>ACK-SHADOW  ·  recovering the invisible direction</a:t>
            </a:r>
            <a:endParaRPr lang="en-US" sz="1050" dirty="0"/>
          </a:p>
        </p:txBody>
      </p:sp>
      <p:sp>
        <p:nvSpPr>
          <p:cNvPr id="35" name="Text 33"/>
          <p:cNvSpPr txBox="1"/>
          <p:nvPr/>
        </p:nvSpPr>
        <p:spPr>
          <a:xfrm>
            <a:off x="749808" y="3218688"/>
            <a:ext cx="5577840" cy="777240"/>
          </a:xfrm>
          <a:prstGeom prst="rect">
            <a:avLst/>
          </a:prstGeom>
          <a:noFill/>
          <a:ln/>
        </p:spPr>
        <p:txBody>
          <a:bodyPr wrap="square" lIns="0" tIns="0" rIns="0" bIns="0" rtlCol="0" anchor="ctr"/>
          <a:lstStyle/>
          <a:p>
            <a:pPr indent="0" marL="0">
              <a:lnSpc>
                <a:spcPct val="115000"/>
              </a:lnSpc>
              <a:buNone/>
            </a:pPr>
            <a:r>
              <a:rPr lang="en-US" sz="1050" b="1" dirty="0">
                <a:solidFill>
                  <a:srgbClr val="0F1B2D"/>
                </a:solidFill>
                <a:latin typeface="Courier New" pitchFamily="34" charset="0"/>
                <a:ea typeface="Courier New" pitchFamily="34" charset="-122"/>
                <a:cs typeface="Courier New" pitchFamily="34" charset="-120"/>
              </a:rPr>
              <a:t>VISIBLE  (client → server)</a:t>
            </a:r>
            <a:endParaRPr lang="en-US" sz="1050" dirty="0"/>
          </a:p>
          <a:p>
            <a:pPr indent="0" marL="0">
              <a:lnSpc>
                <a:spcPct val="115000"/>
              </a:lnSpc>
              <a:buNone/>
            </a:pPr>
            <a:r>
              <a:rPr lang="en-US" sz="1050" dirty="0">
                <a:solidFill>
                  <a:srgbClr val="16222E"/>
                </a:solidFill>
                <a:latin typeface="Courier New" pitchFamily="34" charset="0"/>
                <a:ea typeface="Courier New" pitchFamily="34" charset="-122"/>
                <a:cs typeface="Courier New" pitchFamily="34" charset="-120"/>
              </a:rPr>
              <a:t>  ack = 1,461              ◄──  1,460 bytes   (unseen)</a:t>
            </a:r>
            <a:endParaRPr lang="en-US" sz="1050" dirty="0"/>
          </a:p>
          <a:p>
            <a:pPr indent="0" marL="0">
              <a:lnSpc>
                <a:spcPct val="115000"/>
              </a:lnSpc>
              <a:buNone/>
            </a:pPr>
            <a:r>
              <a:rPr lang="en-US" sz="1050" dirty="0">
                <a:solidFill>
                  <a:srgbClr val="16222E"/>
                </a:solidFill>
                <a:latin typeface="Courier New" pitchFamily="34" charset="0"/>
                <a:ea typeface="Courier New" pitchFamily="34" charset="-122"/>
                <a:cs typeface="Courier New" pitchFamily="34" charset="-120"/>
              </a:rPr>
              <a:t>  ack = 5,001,000          ◄──  ~5 MB         (unseen)</a:t>
            </a:r>
            <a:endParaRPr lang="en-US" sz="1050" dirty="0"/>
          </a:p>
        </p:txBody>
      </p:sp>
      <p:sp>
        <p:nvSpPr>
          <p:cNvPr id="36" name="Text 34"/>
          <p:cNvSpPr txBox="1"/>
          <p:nvPr/>
        </p:nvSpPr>
        <p:spPr>
          <a:xfrm>
            <a:off x="749808" y="4041648"/>
            <a:ext cx="5577840" cy="512064"/>
          </a:xfrm>
          <a:prstGeom prst="rect">
            <a:avLst/>
          </a:prstGeom>
          <a:noFill/>
          <a:ln/>
        </p:spPr>
        <p:txBody>
          <a:bodyPr wrap="square" lIns="0" tIns="0" rIns="0" bIns="0" rtlCol="0" anchor="ctr"/>
          <a:lstStyle/>
          <a:p>
            <a:pPr indent="0" marL="0">
              <a:lnSpc>
                <a:spcPct val="110000"/>
              </a:lnSpc>
              <a:buNone/>
            </a:pPr>
            <a:r>
              <a:rPr lang="en-US" sz="1250" b="1" dirty="0">
                <a:solidFill>
                  <a:srgbClr val="0F1B2D"/>
                </a:solidFill>
                <a:latin typeface="Calibri" pitchFamily="34" charset="0"/>
                <a:ea typeface="Calibri" pitchFamily="34" charset="-122"/>
                <a:cs typeface="Calibri" pitchFamily="34" charset="-120"/>
              </a:rPr>
              <a:t>TCP receipts travel in the direction we CAN see.</a:t>
            </a:r>
            <a:endParaRPr lang="en-US" sz="1250" dirty="0"/>
          </a:p>
          <a:p>
            <a:pPr indent="0" marL="0">
              <a:lnSpc>
                <a:spcPct val="110000"/>
              </a:lnSpc>
              <a:buNone/>
            </a:pPr>
            <a:r>
              <a:rPr lang="en-US" sz="1250" b="1" dirty="0">
                <a:solidFill>
                  <a:srgbClr val="0F1B2D"/>
                </a:solidFill>
                <a:latin typeface="Calibri" pitchFamily="34" charset="0"/>
                <a:ea typeface="Calibri" pitchFamily="34" charset="-122"/>
                <a:cs typeface="Calibri" pitchFamily="34" charset="-120"/>
              </a:rPr>
              <a:t>Δack  =  the volume of traffic we CANNOT see.</a:t>
            </a:r>
            <a:endParaRPr lang="en-US" sz="1250" dirty="0"/>
          </a:p>
        </p:txBody>
      </p:sp>
      <p:sp>
        <p:nvSpPr>
          <p:cNvPr id="37" name="Text 35"/>
          <p:cNvSpPr txBox="1"/>
          <p:nvPr/>
        </p:nvSpPr>
        <p:spPr>
          <a:xfrm>
            <a:off x="749808" y="4590288"/>
            <a:ext cx="5577840" cy="256032"/>
          </a:xfrm>
          <a:prstGeom prst="rect">
            <a:avLst/>
          </a:prstGeom>
          <a:noFill/>
          <a:ln/>
        </p:spPr>
        <p:txBody>
          <a:bodyPr wrap="square" lIns="0" tIns="0" rIns="0" bIns="0" rtlCol="0" anchor="ctr"/>
          <a:lstStyle/>
          <a:p>
            <a:pPr indent="0" marL="0">
              <a:buNone/>
            </a:pPr>
            <a:r>
              <a:rPr lang="en-US" sz="1050" i="1" dirty="0">
                <a:solidFill>
                  <a:srgbClr val="1A6E85"/>
                </a:solidFill>
                <a:latin typeface="Calibri" pitchFamily="34" charset="0"/>
                <a:ea typeface="Calibri" pitchFamily="34" charset="-122"/>
                <a:cs typeface="Calibri" pitchFamily="34" charset="-120"/>
              </a:rPr>
              <a:t>→ requirement (f) becomes computable on a link where inbound is invisible.</a:t>
            </a:r>
            <a:endParaRPr lang="en-US" sz="1050" dirty="0"/>
          </a:p>
        </p:txBody>
      </p:sp>
      <p:sp>
        <p:nvSpPr>
          <p:cNvPr id="38" name="Shape 36"/>
          <p:cNvSpPr/>
          <p:nvPr/>
        </p:nvSpPr>
        <p:spPr>
          <a:xfrm>
            <a:off x="6720840" y="2852928"/>
            <a:ext cx="4892040" cy="621792"/>
          </a:xfrm>
          <a:prstGeom prst="roundRect">
            <a:avLst>
              <a:gd name="adj" fmla="val 8824"/>
            </a:avLst>
          </a:prstGeom>
          <a:solidFill>
            <a:srgbClr val="FFFFFF"/>
          </a:solidFill>
          <a:ln w="12700">
            <a:solidFill>
              <a:srgbClr val="E4EDF2"/>
            </a:solidFill>
            <a:prstDash val="solid"/>
          </a:ln>
        </p:spPr>
      </p:sp>
      <p:sp>
        <p:nvSpPr>
          <p:cNvPr id="39" name="Shape 37"/>
          <p:cNvSpPr/>
          <p:nvPr/>
        </p:nvSpPr>
        <p:spPr>
          <a:xfrm>
            <a:off x="6876288" y="3054096"/>
            <a:ext cx="201168" cy="201168"/>
          </a:xfrm>
          <a:prstGeom prst="ellipse">
            <a:avLst/>
          </a:prstGeom>
          <a:solidFill>
            <a:srgbClr val="C0392B"/>
          </a:solidFill>
          <a:ln w="12700">
            <a:solidFill>
              <a:srgbClr val="C0392B"/>
            </a:solidFill>
            <a:prstDash val="solid"/>
          </a:ln>
        </p:spPr>
      </p:sp>
      <p:sp>
        <p:nvSpPr>
          <p:cNvPr id="40" name="Text 38"/>
          <p:cNvSpPr txBox="1"/>
          <p:nvPr/>
        </p:nvSpPr>
        <p:spPr>
          <a:xfrm>
            <a:off x="7178040" y="2935224"/>
            <a:ext cx="4297680" cy="219456"/>
          </a:xfrm>
          <a:prstGeom prst="rect">
            <a:avLst/>
          </a:prstGeom>
          <a:noFill/>
          <a:ln/>
        </p:spPr>
        <p:txBody>
          <a:bodyPr wrap="square" lIns="0" tIns="0" rIns="0" bIns="0" rtlCol="0" anchor="ctr"/>
          <a:lstStyle/>
          <a:p>
            <a:pPr indent="0" marL="0">
              <a:buNone/>
            </a:pPr>
            <a:r>
              <a:rPr lang="en-US" sz="1100" b="1" dirty="0">
                <a:solidFill>
                  <a:srgbClr val="0F1B2D"/>
                </a:solidFill>
                <a:latin typeface="Calibri" pitchFamily="34" charset="0"/>
                <a:ea typeface="Calibri" pitchFamily="34" charset="-122"/>
                <a:cs typeface="Calibri" pitchFamily="34" charset="-120"/>
              </a:rPr>
              <a:t>EGRESS LOCKDOWN</a:t>
            </a:r>
            <a:endParaRPr lang="en-US" sz="1100" dirty="0"/>
          </a:p>
        </p:txBody>
      </p:sp>
      <p:sp>
        <p:nvSpPr>
          <p:cNvPr id="41" name="Text 39"/>
          <p:cNvSpPr txBox="1"/>
          <p:nvPr/>
        </p:nvSpPr>
        <p:spPr>
          <a:xfrm>
            <a:off x="7178040" y="3159252"/>
            <a:ext cx="4315968" cy="301752"/>
          </a:xfrm>
          <a:prstGeom prst="rect">
            <a:avLst/>
          </a:prstGeom>
          <a:noFill/>
          <a:ln/>
        </p:spPr>
        <p:txBody>
          <a:bodyPr wrap="square" lIns="0" tIns="0" rIns="0" bIns="0" rtlCol="0" anchor="ctr"/>
          <a:lstStyle/>
          <a:p>
            <a:pPr indent="0" marL="0">
              <a:lnSpc>
                <a:spcPct val="95000"/>
              </a:lnSpc>
              <a:buNone/>
            </a:pPr>
            <a:r>
              <a:rPr lang="en-US" sz="900" dirty="0">
                <a:solidFill>
                  <a:srgbClr val="5B6B7A"/>
                </a:solidFill>
                <a:latin typeface="Calibri" pitchFamily="34" charset="0"/>
                <a:ea typeface="Calibri" pitchFamily="34" charset="-122"/>
                <a:cs typeface="Calibri" pitchFamily="34" charset="-120"/>
              </a:rPr>
              <a:t>Read-only enforced by the kernel, not by convention. seccomp kills any send attempt — demoed live.</a:t>
            </a:r>
            <a:endParaRPr lang="en-US" sz="900" dirty="0"/>
          </a:p>
        </p:txBody>
      </p:sp>
      <p:sp>
        <p:nvSpPr>
          <p:cNvPr id="42" name="Shape 40"/>
          <p:cNvSpPr/>
          <p:nvPr/>
        </p:nvSpPr>
        <p:spPr>
          <a:xfrm>
            <a:off x="6720840" y="3584448"/>
            <a:ext cx="4892040" cy="621792"/>
          </a:xfrm>
          <a:prstGeom prst="roundRect">
            <a:avLst>
              <a:gd name="adj" fmla="val 8824"/>
            </a:avLst>
          </a:prstGeom>
          <a:solidFill>
            <a:srgbClr val="FFFFFF"/>
          </a:solidFill>
          <a:ln w="12700">
            <a:solidFill>
              <a:srgbClr val="E4EDF2"/>
            </a:solidFill>
            <a:prstDash val="solid"/>
          </a:ln>
        </p:spPr>
      </p:sp>
      <p:sp>
        <p:nvSpPr>
          <p:cNvPr id="43" name="Shape 41"/>
          <p:cNvSpPr/>
          <p:nvPr/>
        </p:nvSpPr>
        <p:spPr>
          <a:xfrm>
            <a:off x="6876288" y="3785616"/>
            <a:ext cx="201168" cy="201168"/>
          </a:xfrm>
          <a:prstGeom prst="ellipse">
            <a:avLst/>
          </a:prstGeom>
          <a:solidFill>
            <a:srgbClr val="B7791F"/>
          </a:solidFill>
          <a:ln w="12700">
            <a:solidFill>
              <a:srgbClr val="B7791F"/>
            </a:solidFill>
            <a:prstDash val="solid"/>
          </a:ln>
        </p:spPr>
      </p:sp>
      <p:sp>
        <p:nvSpPr>
          <p:cNvPr id="44" name="Text 42"/>
          <p:cNvSpPr txBox="1"/>
          <p:nvPr/>
        </p:nvSpPr>
        <p:spPr>
          <a:xfrm>
            <a:off x="7178040" y="3666744"/>
            <a:ext cx="4297680" cy="219456"/>
          </a:xfrm>
          <a:prstGeom prst="rect">
            <a:avLst/>
          </a:prstGeom>
          <a:noFill/>
          <a:ln/>
        </p:spPr>
        <p:txBody>
          <a:bodyPr wrap="square" lIns="0" tIns="0" rIns="0" bIns="0" rtlCol="0" anchor="ctr"/>
          <a:lstStyle/>
          <a:p>
            <a:pPr indent="0" marL="0">
              <a:buNone/>
            </a:pPr>
            <a:r>
              <a:rPr lang="en-US" sz="1100" b="1" dirty="0">
                <a:solidFill>
                  <a:srgbClr val="0F1B2D"/>
                </a:solidFill>
                <a:latin typeface="Calibri" pitchFamily="34" charset="0"/>
                <a:ea typeface="Calibri" pitchFamily="34" charset="-122"/>
                <a:cs typeface="Calibri" pitchFamily="34" charset="-120"/>
              </a:rPr>
              <a:t>ACK-SHADOW</a:t>
            </a:r>
            <a:endParaRPr lang="en-US" sz="1100" dirty="0"/>
          </a:p>
        </p:txBody>
      </p:sp>
      <p:sp>
        <p:nvSpPr>
          <p:cNvPr id="45" name="Text 43"/>
          <p:cNvSpPr txBox="1"/>
          <p:nvPr/>
        </p:nvSpPr>
        <p:spPr>
          <a:xfrm>
            <a:off x="7178040" y="3890772"/>
            <a:ext cx="4315968" cy="301752"/>
          </a:xfrm>
          <a:prstGeom prst="rect">
            <a:avLst/>
          </a:prstGeom>
          <a:noFill/>
          <a:ln/>
        </p:spPr>
        <p:txBody>
          <a:bodyPr wrap="square" lIns="0" tIns="0" rIns="0" bIns="0" rtlCol="0" anchor="ctr"/>
          <a:lstStyle/>
          <a:p>
            <a:pPr indent="0" marL="0">
              <a:lnSpc>
                <a:spcPct val="95000"/>
              </a:lnSpc>
              <a:buNone/>
            </a:pPr>
            <a:r>
              <a:rPr lang="en-US" sz="900" dirty="0">
                <a:solidFill>
                  <a:srgbClr val="5B6B7A"/>
                </a:solidFill>
                <a:latin typeface="Calibri" pitchFamily="34" charset="0"/>
                <a:ea typeface="Calibri" pitchFamily="34" charset="-122"/>
                <a:cs typeface="Calibri" pitchFamily="34" charset="-120"/>
              </a:rPr>
              <a:t>Reverse-channel byte volume recovered from TCP ACK-number progression. TCP only; stated as a limit.</a:t>
            </a:r>
            <a:endParaRPr lang="en-US" sz="900" dirty="0"/>
          </a:p>
        </p:txBody>
      </p:sp>
      <p:sp>
        <p:nvSpPr>
          <p:cNvPr id="46" name="Shape 44"/>
          <p:cNvSpPr/>
          <p:nvPr/>
        </p:nvSpPr>
        <p:spPr>
          <a:xfrm>
            <a:off x="6720840" y="4315968"/>
            <a:ext cx="4892040" cy="621792"/>
          </a:xfrm>
          <a:prstGeom prst="roundRect">
            <a:avLst>
              <a:gd name="adj" fmla="val 8824"/>
            </a:avLst>
          </a:prstGeom>
          <a:solidFill>
            <a:srgbClr val="FFFFFF"/>
          </a:solidFill>
          <a:ln w="12700">
            <a:solidFill>
              <a:srgbClr val="E4EDF2"/>
            </a:solidFill>
            <a:prstDash val="solid"/>
          </a:ln>
        </p:spPr>
      </p:sp>
      <p:sp>
        <p:nvSpPr>
          <p:cNvPr id="47" name="Shape 45"/>
          <p:cNvSpPr/>
          <p:nvPr/>
        </p:nvSpPr>
        <p:spPr>
          <a:xfrm>
            <a:off x="6876288" y="4517136"/>
            <a:ext cx="201168" cy="201168"/>
          </a:xfrm>
          <a:prstGeom prst="ellipse">
            <a:avLst/>
          </a:prstGeom>
          <a:solidFill>
            <a:srgbClr val="1E7A4C"/>
          </a:solidFill>
          <a:ln w="12700">
            <a:solidFill>
              <a:srgbClr val="1E7A4C"/>
            </a:solidFill>
            <a:prstDash val="solid"/>
          </a:ln>
        </p:spPr>
      </p:sp>
      <p:sp>
        <p:nvSpPr>
          <p:cNvPr id="48" name="Text 46"/>
          <p:cNvSpPr txBox="1"/>
          <p:nvPr/>
        </p:nvSpPr>
        <p:spPr>
          <a:xfrm>
            <a:off x="7178040" y="4398264"/>
            <a:ext cx="4297680" cy="219456"/>
          </a:xfrm>
          <a:prstGeom prst="rect">
            <a:avLst/>
          </a:prstGeom>
          <a:noFill/>
          <a:ln/>
        </p:spPr>
        <p:txBody>
          <a:bodyPr wrap="square" lIns="0" tIns="0" rIns="0" bIns="0" rtlCol="0" anchor="ctr"/>
          <a:lstStyle/>
          <a:p>
            <a:pPr indent="0" marL="0">
              <a:buNone/>
            </a:pPr>
            <a:r>
              <a:rPr lang="en-US" sz="1100" b="1" dirty="0">
                <a:solidFill>
                  <a:srgbClr val="0F1B2D"/>
                </a:solidFill>
                <a:latin typeface="Calibri" pitchFamily="34" charset="0"/>
                <a:ea typeface="Calibri" pitchFamily="34" charset="-122"/>
                <a:cs typeface="Calibri" pitchFamily="34" charset="-120"/>
              </a:rPr>
              <a:t>CONSTANT MEMORY</a:t>
            </a:r>
            <a:endParaRPr lang="en-US" sz="1100" dirty="0"/>
          </a:p>
        </p:txBody>
      </p:sp>
      <p:sp>
        <p:nvSpPr>
          <p:cNvPr id="49" name="Text 47"/>
          <p:cNvSpPr txBox="1"/>
          <p:nvPr/>
        </p:nvSpPr>
        <p:spPr>
          <a:xfrm>
            <a:off x="7178040" y="4622292"/>
            <a:ext cx="4315968" cy="301752"/>
          </a:xfrm>
          <a:prstGeom prst="rect">
            <a:avLst/>
          </a:prstGeom>
          <a:noFill/>
          <a:ln/>
        </p:spPr>
        <p:txBody>
          <a:bodyPr wrap="square" lIns="0" tIns="0" rIns="0" bIns="0" rtlCol="0" anchor="ctr"/>
          <a:lstStyle/>
          <a:p>
            <a:pPr indent="0" marL="0">
              <a:lnSpc>
                <a:spcPct val="95000"/>
              </a:lnSpc>
              <a:buNone/>
            </a:pPr>
            <a:r>
              <a:rPr lang="en-US" sz="900" dirty="0">
                <a:solidFill>
                  <a:srgbClr val="5B6B7A"/>
                </a:solidFill>
                <a:latin typeface="Calibri" pitchFamily="34" charset="0"/>
                <a:ea typeface="Calibri" pitchFamily="34" charset="-122"/>
                <a:cs typeface="Calibri" pitchFamily="34" charset="-120"/>
              </a:rPr>
              <a:t>Count-Min Sketch + HyperLogLog. Flat memory at any rate — a spoofed flood cannot exhaust us.</a:t>
            </a:r>
            <a:endParaRPr lang="en-US" sz="900" dirty="0"/>
          </a:p>
        </p:txBody>
      </p:sp>
      <p:sp>
        <p:nvSpPr>
          <p:cNvPr id="50" name="Shape 48"/>
          <p:cNvSpPr/>
          <p:nvPr/>
        </p:nvSpPr>
        <p:spPr>
          <a:xfrm>
            <a:off x="548640" y="5074920"/>
            <a:ext cx="11064240" cy="1005840"/>
          </a:xfrm>
          <a:prstGeom prst="roundRect">
            <a:avLst>
              <a:gd name="adj" fmla="val 5455"/>
            </a:avLst>
          </a:prstGeom>
          <a:solidFill>
            <a:srgbClr val="0F1B2D"/>
          </a:solidFill>
          <a:ln w="12700">
            <a:solidFill>
              <a:srgbClr val="0F1B2D"/>
            </a:solidFill>
            <a:prstDash val="solid"/>
          </a:ln>
        </p:spPr>
      </p:sp>
      <p:sp>
        <p:nvSpPr>
          <p:cNvPr id="51" name="Text 49"/>
          <p:cNvSpPr txBox="1"/>
          <p:nvPr/>
        </p:nvSpPr>
        <p:spPr>
          <a:xfrm>
            <a:off x="804672" y="5166360"/>
            <a:ext cx="1828800" cy="219456"/>
          </a:xfrm>
          <a:prstGeom prst="rect">
            <a:avLst/>
          </a:prstGeom>
          <a:noFill/>
          <a:ln/>
        </p:spPr>
        <p:txBody>
          <a:bodyPr wrap="square" lIns="0" tIns="0" rIns="0" bIns="0" rtlCol="0" anchor="ctr"/>
          <a:lstStyle/>
          <a:p>
            <a:pPr indent="0" marL="0">
              <a:buNone/>
            </a:pPr>
            <a:r>
              <a:rPr lang="en-US" sz="950" b="1" spc="150" kern="0" dirty="0">
                <a:solidFill>
                  <a:srgbClr val="5EC8DE"/>
                </a:solidFill>
                <a:latin typeface="Calibri" pitchFamily="34" charset="0"/>
                <a:ea typeface="Calibri" pitchFamily="34" charset="-122"/>
                <a:cs typeface="Calibri" pitchFamily="34" charset="-120"/>
              </a:rPr>
              <a:t>STACK</a:t>
            </a:r>
            <a:endParaRPr lang="en-US" sz="950" dirty="0"/>
          </a:p>
        </p:txBody>
      </p:sp>
      <p:sp>
        <p:nvSpPr>
          <p:cNvPr id="52" name="Text 50"/>
          <p:cNvSpPr txBox="1"/>
          <p:nvPr/>
        </p:nvSpPr>
        <p:spPr>
          <a:xfrm>
            <a:off x="804672" y="5394960"/>
            <a:ext cx="1088136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Zeek  (capture · flow · DNS/TLS/JA4)   →   Python detectors   →   ONNX   →   OCSF alerts   →   React dashboard</a:t>
            </a:r>
            <a:endParaRPr lang="en-US" sz="1200" dirty="0"/>
          </a:p>
        </p:txBody>
      </p:sp>
      <p:sp>
        <p:nvSpPr>
          <p:cNvPr id="53" name="Text 51"/>
          <p:cNvSpPr txBox="1"/>
          <p:nvPr/>
        </p:nvSpPr>
        <p:spPr>
          <a:xfrm>
            <a:off x="804672" y="5650992"/>
            <a:ext cx="10881360" cy="329184"/>
          </a:xfrm>
          <a:prstGeom prst="rect">
            <a:avLst/>
          </a:prstGeom>
          <a:noFill/>
          <a:ln/>
        </p:spPr>
        <p:txBody>
          <a:bodyPr wrap="square" lIns="0" tIns="0" rIns="0" bIns="0" rtlCol="0" anchor="ctr"/>
          <a:lstStyle/>
          <a:p>
            <a:pPr indent="0" marL="0">
              <a:buNone/>
            </a:pPr>
            <a:r>
              <a:rPr lang="en-US" sz="950" i="1" dirty="0">
                <a:solidFill>
                  <a:srgbClr val="9AA8B4"/>
                </a:solidFill>
                <a:latin typeface="Calibri" pitchFamily="34" charset="0"/>
                <a:ea typeface="Calibri" pitchFamily="34" charset="-122"/>
                <a:cs typeface="Calibri" pitchFamily="34" charset="-120"/>
              </a:rPr>
              <a:t>Six specialists, not one classifier: DDoS is a rate phenomenon over seconds; beaconing a periodicity phenomenon over hours; DGA a string phenomenon on one query.  One model cannot be right about all three.</a:t>
            </a:r>
            <a:endParaRPr lang="en-US" sz="950" dirty="0"/>
          </a:p>
        </p:txBody>
      </p:sp>
      <p:sp>
        <p:nvSpPr>
          <p:cNvPr id="54" name="Text 52"/>
          <p:cNvSpPr txBox="1"/>
          <p:nvPr/>
        </p:nvSpPr>
        <p:spPr>
          <a:xfrm>
            <a:off x="548640" y="6446520"/>
            <a:ext cx="5486400" cy="256032"/>
          </a:xfrm>
          <a:prstGeom prst="rect">
            <a:avLst/>
          </a:prstGeom>
          <a:noFill/>
          <a:ln/>
        </p:spPr>
        <p:txBody>
          <a:bodyPr wrap="square" lIns="0" tIns="0" rIns="0" bIns="0" rtlCol="0" anchor="ctr"/>
          <a:lstStyle/>
          <a:p>
            <a:pPr algn="l" indent="0" marL="0">
              <a:buNone/>
            </a:pPr>
            <a:r>
              <a:rPr lang="en-US" sz="900" dirty="0">
                <a:solidFill>
                  <a:srgbClr val="9AA8B4"/>
                </a:solidFill>
                <a:latin typeface="Calibri" pitchFamily="34" charset="0"/>
                <a:ea typeface="Calibri" pitchFamily="34" charset="-122"/>
                <a:cs typeface="Calibri" pitchFamily="34" charset="-120"/>
              </a:rPr>
              <a:t>SIH26145  ·  EKADHARA  ·  NTRO</a:t>
            </a:r>
            <a:endParaRPr lang="en-US" sz="900" dirty="0"/>
          </a:p>
        </p:txBody>
      </p:sp>
      <p:sp>
        <p:nvSpPr>
          <p:cNvPr id="55" name="Text 53"/>
          <p:cNvSpPr txBox="1"/>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8B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01168"/>
          </a:xfrm>
          <a:prstGeom prst="rect">
            <a:avLst/>
          </a:prstGeom>
          <a:noFill/>
          <a:ln/>
        </p:spPr>
        <p:txBody>
          <a:bodyPr wrap="square" lIns="0" tIns="0" rIns="0" bIns="0" rtlCol="0" anchor="ctr"/>
          <a:lstStyle/>
          <a:p>
            <a:pPr algn="l" indent="0" marL="0">
              <a:buNone/>
            </a:pPr>
            <a:r>
              <a:rPr lang="en-US" sz="1000" b="1" spc="150" kern="0" dirty="0">
                <a:solidFill>
                  <a:srgbClr val="1A6E85"/>
                </a:solidFill>
                <a:latin typeface="Calibri" pitchFamily="34" charset="0"/>
                <a:ea typeface="Calibri" pitchFamily="34" charset="-122"/>
                <a:cs typeface="Calibri" pitchFamily="34" charset="-120"/>
              </a:rPr>
              <a:t>3 · FEASIBILITY AND VIABILITY</a:t>
            </a:r>
            <a:endParaRPr lang="en-US" sz="1000" dirty="0"/>
          </a:p>
        </p:txBody>
      </p:sp>
      <p:sp>
        <p:nvSpPr>
          <p:cNvPr id="3" name="Text 1"/>
          <p:cNvSpPr txBox="1"/>
          <p:nvPr/>
        </p:nvSpPr>
        <p:spPr>
          <a:xfrm>
            <a:off x="548640" y="475488"/>
            <a:ext cx="11064240" cy="804672"/>
          </a:xfrm>
          <a:prstGeom prst="rect">
            <a:avLst/>
          </a:prstGeom>
          <a:noFill/>
          <a:ln/>
        </p:spPr>
        <p:txBody>
          <a:bodyPr wrap="square" lIns="0" tIns="0" rIns="0" bIns="0" rtlCol="0" anchor="t"/>
          <a:lstStyle/>
          <a:p>
            <a:pPr algn="l" indent="0" marL="0">
              <a:buNone/>
            </a:pPr>
            <a:r>
              <a:rPr lang="en-US" sz="2500" b="1" dirty="0">
                <a:solidFill>
                  <a:srgbClr val="0F1B2D"/>
                </a:solidFill>
                <a:latin typeface="Cambria" pitchFamily="34" charset="0"/>
                <a:ea typeface="Cambria" pitchFamily="34" charset="-122"/>
                <a:cs typeface="Cambria" pitchFamily="34" charset="-120"/>
              </a:rPr>
              <a:t>We measured everything — including where we fail</a:t>
            </a:r>
            <a:endParaRPr lang="en-US" sz="2500" dirty="0"/>
          </a:p>
        </p:txBody>
      </p:sp>
      <p:sp>
        <p:nvSpPr>
          <p:cNvPr id="4" name="Shape 2"/>
          <p:cNvSpPr/>
          <p:nvPr/>
        </p:nvSpPr>
        <p:spPr>
          <a:xfrm>
            <a:off x="548640" y="1371600"/>
            <a:ext cx="4343400" cy="2395728"/>
          </a:xfrm>
          <a:prstGeom prst="roundRect">
            <a:avLst>
              <a:gd name="adj" fmla="val 2290"/>
            </a:avLst>
          </a:prstGeom>
          <a:solidFill>
            <a:srgbClr val="F1F5F8"/>
          </a:solidFill>
          <a:ln w="12700">
            <a:solidFill>
              <a:srgbClr val="E4EDF2"/>
            </a:solidFill>
            <a:prstDash val="solid"/>
          </a:ln>
        </p:spPr>
      </p:sp>
      <p:sp>
        <p:nvSpPr>
          <p:cNvPr id="5" name="Text 3"/>
          <p:cNvSpPr txBox="1"/>
          <p:nvPr/>
        </p:nvSpPr>
        <p:spPr>
          <a:xfrm>
            <a:off x="749808" y="1463040"/>
            <a:ext cx="3931920" cy="237744"/>
          </a:xfrm>
          <a:prstGeom prst="rect">
            <a:avLst/>
          </a:prstGeom>
          <a:noFill/>
          <a:ln/>
        </p:spPr>
        <p:txBody>
          <a:bodyPr wrap="square" lIns="0" tIns="0" rIns="0" bIns="0" rtlCol="0" anchor="ctr"/>
          <a:lstStyle/>
          <a:p>
            <a:pPr indent="0" marL="0">
              <a:buNone/>
            </a:pPr>
            <a:r>
              <a:rPr lang="en-US" sz="1050" b="1" spc="150" kern="0" dirty="0">
                <a:solidFill>
                  <a:srgbClr val="1A6E85"/>
                </a:solidFill>
                <a:latin typeface="Calibri" pitchFamily="34" charset="0"/>
                <a:ea typeface="Calibri" pitchFamily="34" charset="-122"/>
                <a:cs typeface="Calibri" pitchFamily="34" charset="-120"/>
              </a:rPr>
              <a:t>DIODE-TWIN METHOD</a:t>
            </a:r>
            <a:endParaRPr lang="en-US" sz="1050" dirty="0"/>
          </a:p>
        </p:txBody>
      </p:sp>
      <p:sp>
        <p:nvSpPr>
          <p:cNvPr id="6" name="Text 4"/>
          <p:cNvSpPr txBox="1"/>
          <p:nvPr/>
        </p:nvSpPr>
        <p:spPr>
          <a:xfrm>
            <a:off x="749808" y="1709928"/>
            <a:ext cx="3931920" cy="457200"/>
          </a:xfrm>
          <a:prstGeom prst="rect">
            <a:avLst/>
          </a:prstGeom>
          <a:noFill/>
          <a:ln/>
        </p:spPr>
        <p:txBody>
          <a:bodyPr wrap="square" lIns="0" tIns="0" rIns="0" bIns="0" rtlCol="0" anchor="ctr"/>
          <a:lstStyle/>
          <a:p>
            <a:pPr indent="0" marL="0">
              <a:lnSpc>
                <a:spcPct val="110000"/>
              </a:lnSpc>
              <a:buNone/>
            </a:pPr>
            <a:r>
              <a:rPr lang="en-US" sz="1050" dirty="0">
                <a:solidFill>
                  <a:srgbClr val="16222E"/>
                </a:solidFill>
                <a:latin typeface="Calibri" pitchFamily="34" charset="0"/>
                <a:ea typeface="Calibri" pitchFamily="34" charset="-122"/>
                <a:cs typeface="Calibri" pitchFamily="34" charset="-120"/>
              </a:rPr>
              <a:t>Capture once, full-duplex.  Post-filter into twins.</a:t>
            </a:r>
            <a:endParaRPr lang="en-US" sz="1050" dirty="0"/>
          </a:p>
          <a:p>
            <a:pPr indent="0" marL="0">
              <a:lnSpc>
                <a:spcPct val="110000"/>
              </a:lnSpc>
              <a:buNone/>
            </a:pPr>
            <a:r>
              <a:rPr lang="en-US" sz="1050" dirty="0">
                <a:solidFill>
                  <a:srgbClr val="16222E"/>
                </a:solidFill>
                <a:latin typeface="Calibri" pitchFamily="34" charset="0"/>
                <a:ea typeface="Calibri" pitchFamily="34" charset="-122"/>
                <a:cs typeface="Calibri" pitchFamily="34" charset="-120"/>
              </a:rPr>
              <a:t>One label file.  Identical models.  Identical thresholds.</a:t>
            </a:r>
            <a:endParaRPr lang="en-US" sz="1050" dirty="0"/>
          </a:p>
        </p:txBody>
      </p:sp>
      <p:sp>
        <p:nvSpPr>
          <p:cNvPr id="7" name="Text 5"/>
          <p:cNvSpPr txBox="1"/>
          <p:nvPr/>
        </p:nvSpPr>
        <p:spPr>
          <a:xfrm>
            <a:off x="749808" y="2212848"/>
            <a:ext cx="3931920" cy="566928"/>
          </a:xfrm>
          <a:prstGeom prst="rect">
            <a:avLst/>
          </a:prstGeom>
          <a:noFill/>
          <a:ln/>
        </p:spPr>
        <p:txBody>
          <a:bodyPr wrap="square" lIns="0" tIns="0" rIns="0" bIns="0" rtlCol="0" anchor="ctr"/>
          <a:lstStyle/>
          <a:p>
            <a:pPr indent="0" marL="0">
              <a:lnSpc>
                <a:spcPct val="110000"/>
              </a:lnSpc>
              <a:buNone/>
            </a:pPr>
            <a:r>
              <a:rPr lang="en-US" sz="950" dirty="0">
                <a:solidFill>
                  <a:srgbClr val="0F1B2D"/>
                </a:solidFill>
                <a:latin typeface="Courier New" pitchFamily="34" charset="0"/>
                <a:ea typeface="Courier New" pitchFamily="34" charset="-122"/>
                <a:cs typeface="Courier New" pitchFamily="34" charset="-120"/>
              </a:rPr>
              <a:t>scenario_BI.pcap    ┐</a:t>
            </a:r>
            <a:endParaRPr lang="en-US" sz="950" dirty="0"/>
          </a:p>
          <a:p>
            <a:pPr indent="0" marL="0">
              <a:lnSpc>
                <a:spcPct val="110000"/>
              </a:lnSpc>
              <a:buNone/>
            </a:pPr>
            <a:r>
              <a:rPr lang="en-US" sz="950" dirty="0">
                <a:solidFill>
                  <a:srgbClr val="0F1B2D"/>
                </a:solidFill>
                <a:latin typeface="Courier New" pitchFamily="34" charset="0"/>
                <a:ea typeface="Courier New" pitchFamily="34" charset="-122"/>
                <a:cs typeface="Courier New" pitchFamily="34" charset="-120"/>
              </a:rPr>
              <a:t>scenario_FWD.pcap   ├──  scenario_truth.json</a:t>
            </a:r>
            <a:endParaRPr lang="en-US" sz="950" dirty="0"/>
          </a:p>
          <a:p>
            <a:pPr indent="0" marL="0">
              <a:lnSpc>
                <a:spcPct val="110000"/>
              </a:lnSpc>
              <a:buNone/>
            </a:pPr>
            <a:r>
              <a:rPr lang="en-US" sz="950" dirty="0">
                <a:solidFill>
                  <a:srgbClr val="0F1B2D"/>
                </a:solidFill>
                <a:latin typeface="Courier New" pitchFamily="34" charset="0"/>
                <a:ea typeface="Courier New" pitchFamily="34" charset="-122"/>
                <a:cs typeface="Courier New" pitchFamily="34" charset="-120"/>
              </a:rPr>
              <a:t>scenario_REV.pcap   ┘</a:t>
            </a:r>
            <a:endParaRPr lang="en-US" sz="950" dirty="0"/>
          </a:p>
        </p:txBody>
      </p:sp>
      <p:sp>
        <p:nvSpPr>
          <p:cNvPr id="8" name="Text 6"/>
          <p:cNvSpPr txBox="1"/>
          <p:nvPr/>
        </p:nvSpPr>
        <p:spPr>
          <a:xfrm>
            <a:off x="749808" y="2852928"/>
            <a:ext cx="3931920" cy="566928"/>
          </a:xfrm>
          <a:prstGeom prst="rect">
            <a:avLst/>
          </a:prstGeom>
          <a:noFill/>
          <a:ln/>
        </p:spPr>
        <p:txBody>
          <a:bodyPr wrap="square" lIns="0" tIns="0" rIns="0" bIns="0" rtlCol="0" anchor="ctr"/>
          <a:lstStyle/>
          <a:p>
            <a:pPr indent="0" marL="0">
              <a:lnSpc>
                <a:spcPct val="105000"/>
              </a:lnSpc>
              <a:buNone/>
            </a:pPr>
            <a:r>
              <a:rPr lang="en-US" sz="950" dirty="0">
                <a:solidFill>
                  <a:srgbClr val="5B6B7A"/>
                </a:solidFill>
                <a:latin typeface="Calibri" pitchFamily="34" charset="0"/>
                <a:ea typeface="Calibri" pitchFamily="34" charset="-122"/>
                <a:cs typeface="Calibri" pitchFamily="34" charset="-120"/>
              </a:rPr>
              <a:t>40 scenarios  ·  packet-level ground truth  ·  generated with the exact tools NTRO named: hping3 · Slowloris · iodine · dnscat2 · DGArchive</a:t>
            </a:r>
            <a:endParaRPr lang="en-US" sz="950" dirty="0"/>
          </a:p>
        </p:txBody>
      </p:sp>
      <p:sp>
        <p:nvSpPr>
          <p:cNvPr id="9" name="Text 7"/>
          <p:cNvSpPr txBox="1"/>
          <p:nvPr/>
        </p:nvSpPr>
        <p:spPr>
          <a:xfrm>
            <a:off x="749808" y="3438144"/>
            <a:ext cx="3931920" cy="219456"/>
          </a:xfrm>
          <a:prstGeom prst="rect">
            <a:avLst/>
          </a:prstGeom>
          <a:noFill/>
          <a:ln/>
        </p:spPr>
        <p:txBody>
          <a:bodyPr wrap="square" lIns="0" tIns="0" rIns="0" bIns="0" rtlCol="0" anchor="ctr"/>
          <a:lstStyle/>
          <a:p>
            <a:pPr indent="0" marL="0">
              <a:buNone/>
            </a:pPr>
            <a:r>
              <a:rPr lang="en-US" sz="950" b="1" i="1" dirty="0">
                <a:solidFill>
                  <a:srgbClr val="1A6E85"/>
                </a:solidFill>
                <a:latin typeface="Calibri" pitchFamily="34" charset="0"/>
                <a:ea typeface="Calibri" pitchFamily="34" charset="-122"/>
                <a:cs typeface="Calibri" pitchFamily="34" charset="-120"/>
              </a:rPr>
              <a:t>UniFlow-IN — released as a public dataset</a:t>
            </a:r>
            <a:endParaRPr lang="en-US" sz="950" dirty="0"/>
          </a:p>
        </p:txBody>
      </p:sp>
      <p:sp>
        <p:nvSpPr>
          <p:cNvPr id="10" name="Text 8"/>
          <p:cNvSpPr txBox="1"/>
          <p:nvPr/>
        </p:nvSpPr>
        <p:spPr>
          <a:xfrm>
            <a:off x="5148072" y="1417320"/>
            <a:ext cx="6492240" cy="237744"/>
          </a:xfrm>
          <a:prstGeom prst="rect">
            <a:avLst/>
          </a:prstGeom>
          <a:noFill/>
          <a:ln/>
        </p:spPr>
        <p:txBody>
          <a:bodyPr wrap="square" lIns="0" tIns="0" rIns="0" bIns="0" rtlCol="0" anchor="ctr"/>
          <a:lstStyle/>
          <a:p>
            <a:pPr indent="0" marL="0">
              <a:buNone/>
            </a:pPr>
            <a:r>
              <a:rPr lang="en-US" sz="1050" b="1" spc="150" kern="0" dirty="0">
                <a:solidFill>
                  <a:srgbClr val="1A6E85"/>
                </a:solidFill>
                <a:latin typeface="Calibri" pitchFamily="34" charset="0"/>
                <a:ea typeface="Calibri" pitchFamily="34" charset="-122"/>
                <a:cs typeface="Calibri" pitchFamily="34" charset="-120"/>
              </a:rPr>
              <a:t>DEGRADATION MATRIX  ·  detection quality (F1)</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148072" y="1673352"/>
          <a:ext cx="6492240" cy="914400"/>
        </p:xfrm>
        <a:graphic>
          <a:graphicData uri="http://schemas.openxmlformats.org/drawingml/2006/table">
            <a:tbl>
              <a:tblPr/>
              <a:tblGrid>
                <a:gridCol w="3108960"/>
                <a:gridCol w="1645920"/>
                <a:gridCol w="1737360"/>
              </a:tblGrid>
              <a:tr h="24688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Threat class</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0F1B2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Both directions</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0F1B2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Diode (one-way)</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0F1B2D"/>
                    </a:solidFill>
                  </a:tcPr>
                </a:tc>
              </a:tr>
              <a:tr h="246888">
                <a:tc>
                  <a:txBody>
                    <a:bodyPr/>
                    <a:lstStyle/>
                    <a:p>
                      <a:pPr indent="0" marL="0">
                        <a:buNone/>
                      </a:pPr>
                      <a:r>
                        <a:rPr lang="en-US" sz="1000" dirty="0">
                          <a:solidFill>
                            <a:srgbClr val="16222E"/>
                          </a:solidFill>
                          <a:latin typeface="Calibri" pitchFamily="34" charset="0"/>
                          <a:ea typeface="Calibri" pitchFamily="34" charset="-122"/>
                          <a:cs typeface="Calibri" pitchFamily="34" charset="-120"/>
                        </a:rPr>
                        <a:t>Recon / port scan</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c>
                  <a:txBody>
                    <a:bodyPr/>
                    <a:lstStyle/>
                    <a:p>
                      <a:pPr indent="0" marL="0">
                        <a:buNone/>
                      </a:pPr>
                      <a:r>
                        <a:rPr lang="en-US" sz="1000" dirty="0">
                          <a:solidFill>
                            <a:srgbClr val="16222E"/>
                          </a:solidFill>
                          <a:latin typeface="Calibri" pitchFamily="34" charset="0"/>
                          <a:ea typeface="Calibri" pitchFamily="34" charset="-122"/>
                          <a:cs typeface="Calibri" pitchFamily="34" charset="-120"/>
                        </a:rPr>
                        <a:t>0.94</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c>
                  <a:txBody>
                    <a:bodyPr/>
                    <a:lstStyle/>
                    <a:p>
                      <a:pPr indent="0" marL="0">
                        <a:buNone/>
                      </a:pPr>
                      <a:r>
                        <a:rPr lang="en-US" sz="1000" b="1" dirty="0">
                          <a:solidFill>
                            <a:srgbClr val="1E7A4C"/>
                          </a:solidFill>
                          <a:latin typeface="Calibri" pitchFamily="34" charset="0"/>
                          <a:ea typeface="Calibri" pitchFamily="34" charset="-122"/>
                          <a:cs typeface="Calibri" pitchFamily="34" charset="-120"/>
                        </a:rPr>
                        <a:t>0.94</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6222E"/>
                          </a:solidFill>
                          <a:latin typeface="Calibri" pitchFamily="34" charset="0"/>
                          <a:ea typeface="Calibri" pitchFamily="34" charset="-122"/>
                          <a:cs typeface="Calibri" pitchFamily="34" charset="-120"/>
                        </a:rPr>
                        <a:t>Volumetric DDoS</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c>
                  <a:txBody>
                    <a:bodyPr/>
                    <a:lstStyle/>
                    <a:p>
                      <a:pPr indent="0" marL="0">
                        <a:buNone/>
                      </a:pPr>
                      <a:r>
                        <a:rPr lang="en-US" sz="1000" dirty="0">
                          <a:solidFill>
                            <a:srgbClr val="16222E"/>
                          </a:solidFill>
                          <a:latin typeface="Calibri" pitchFamily="34" charset="0"/>
                          <a:ea typeface="Calibri" pitchFamily="34" charset="-122"/>
                          <a:cs typeface="Calibri" pitchFamily="34" charset="-120"/>
                        </a:rPr>
                        <a:t>0.93</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c>
                  <a:txBody>
                    <a:bodyPr/>
                    <a:lstStyle/>
                    <a:p>
                      <a:pPr indent="0" marL="0">
                        <a:buNone/>
                      </a:pPr>
                      <a:r>
                        <a:rPr lang="en-US" sz="1000" b="1" dirty="0">
                          <a:solidFill>
                            <a:srgbClr val="1E7A4C"/>
                          </a:solidFill>
                          <a:latin typeface="Calibri" pitchFamily="34" charset="0"/>
                          <a:ea typeface="Calibri" pitchFamily="34" charset="-122"/>
                          <a:cs typeface="Calibri" pitchFamily="34" charset="-120"/>
                        </a:rPr>
                        <a:t>0.92</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6222E"/>
                          </a:solidFill>
                          <a:latin typeface="Calibri" pitchFamily="34" charset="0"/>
                          <a:ea typeface="Calibri" pitchFamily="34" charset="-122"/>
                          <a:cs typeface="Calibri" pitchFamily="34" charset="-120"/>
                        </a:rPr>
                        <a:t>C2 beaconing</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c>
                  <a:txBody>
                    <a:bodyPr/>
                    <a:lstStyle/>
                    <a:p>
                      <a:pPr indent="0" marL="0">
                        <a:buNone/>
                      </a:pPr>
                      <a:r>
                        <a:rPr lang="en-US" sz="1000" dirty="0">
                          <a:solidFill>
                            <a:srgbClr val="16222E"/>
                          </a:solidFill>
                          <a:latin typeface="Calibri" pitchFamily="34" charset="0"/>
                          <a:ea typeface="Calibri" pitchFamily="34" charset="-122"/>
                          <a:cs typeface="Calibri" pitchFamily="34" charset="-120"/>
                        </a:rPr>
                        <a:t>0.91</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c>
                  <a:txBody>
                    <a:bodyPr/>
                    <a:lstStyle/>
                    <a:p>
                      <a:pPr indent="0" marL="0">
                        <a:buNone/>
                      </a:pPr>
                      <a:r>
                        <a:rPr lang="en-US" sz="1000" b="1" dirty="0">
                          <a:solidFill>
                            <a:srgbClr val="1E7A4C"/>
                          </a:solidFill>
                          <a:latin typeface="Calibri" pitchFamily="34" charset="0"/>
                          <a:ea typeface="Calibri" pitchFamily="34" charset="-122"/>
                          <a:cs typeface="Calibri" pitchFamily="34" charset="-120"/>
                        </a:rPr>
                        <a:t>0.87</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r>
              <a:tr h="246888">
                <a:tc>
                  <a:txBody>
                    <a:bodyPr/>
                    <a:lstStyle/>
                    <a:p>
                      <a:pPr indent="0" marL="0">
                        <a:buNone/>
                      </a:pPr>
                      <a:r>
                        <a:rPr lang="en-US" sz="1000" dirty="0">
                          <a:solidFill>
                            <a:srgbClr val="16222E"/>
                          </a:solidFill>
                          <a:latin typeface="Calibri" pitchFamily="34" charset="0"/>
                          <a:ea typeface="Calibri" pitchFamily="34" charset="-122"/>
                          <a:cs typeface="Calibri" pitchFamily="34" charset="-120"/>
                        </a:rPr>
                        <a:t>DGA / DNS tunnel</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c>
                  <a:txBody>
                    <a:bodyPr/>
                    <a:lstStyle/>
                    <a:p>
                      <a:pPr indent="0" marL="0">
                        <a:buNone/>
                      </a:pPr>
                      <a:r>
                        <a:rPr lang="en-US" sz="1000" dirty="0">
                          <a:solidFill>
                            <a:srgbClr val="16222E"/>
                          </a:solidFill>
                          <a:latin typeface="Calibri" pitchFamily="34" charset="0"/>
                          <a:ea typeface="Calibri" pitchFamily="34" charset="-122"/>
                          <a:cs typeface="Calibri" pitchFamily="34" charset="-120"/>
                        </a:rPr>
                        <a:t>0.88</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c>
                  <a:txBody>
                    <a:bodyPr/>
                    <a:lstStyle/>
                    <a:p>
                      <a:pPr indent="0" marL="0">
                        <a:buNone/>
                      </a:pPr>
                      <a:r>
                        <a:rPr lang="en-US" sz="1000" b="1" dirty="0">
                          <a:solidFill>
                            <a:srgbClr val="1E7A4C"/>
                          </a:solidFill>
                          <a:latin typeface="Calibri" pitchFamily="34" charset="0"/>
                          <a:ea typeface="Calibri" pitchFamily="34" charset="-122"/>
                          <a:cs typeface="Calibri" pitchFamily="34" charset="-120"/>
                        </a:rPr>
                        <a:t>0.84</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r>
              <a:tr h="246888">
                <a:tc>
                  <a:txBody>
                    <a:bodyPr/>
                    <a:lstStyle/>
                    <a:p>
                      <a:pPr indent="0" marL="0">
                        <a:buNone/>
                      </a:pPr>
                      <a:r>
                        <a:rPr lang="en-US" sz="1000" b="1" dirty="0">
                          <a:solidFill>
                            <a:srgbClr val="16222E"/>
                          </a:solidFill>
                          <a:latin typeface="Calibri" pitchFamily="34" charset="0"/>
                          <a:ea typeface="Calibri" pitchFamily="34" charset="-122"/>
                          <a:cs typeface="Calibri" pitchFamily="34" charset="-120"/>
                        </a:rPr>
                        <a:t>Data exfiltration  · with ACK-Shadow</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c>
                  <a:txBody>
                    <a:bodyPr/>
                    <a:lstStyle/>
                    <a:p>
                      <a:pPr indent="0" marL="0">
                        <a:buNone/>
                      </a:pPr>
                      <a:r>
                        <a:rPr lang="en-US" sz="1000" b="1" dirty="0">
                          <a:solidFill>
                            <a:srgbClr val="16222E"/>
                          </a:solidFill>
                          <a:latin typeface="Calibri" pitchFamily="34" charset="0"/>
                          <a:ea typeface="Calibri" pitchFamily="34" charset="-122"/>
                          <a:cs typeface="Calibri" pitchFamily="34" charset="-120"/>
                        </a:rPr>
                        <a:t>0.89</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c>
                  <a:txBody>
                    <a:bodyPr/>
                    <a:lstStyle/>
                    <a:p>
                      <a:pPr indent="0" marL="0">
                        <a:buNone/>
                      </a:pPr>
                      <a:r>
                        <a:rPr lang="en-US" sz="1000" b="1" dirty="0">
                          <a:solidFill>
                            <a:srgbClr val="1E7A4C"/>
                          </a:solidFill>
                          <a:latin typeface="Calibri" pitchFamily="34" charset="0"/>
                          <a:ea typeface="Calibri" pitchFamily="34" charset="-122"/>
                          <a:cs typeface="Calibri" pitchFamily="34" charset="-120"/>
                        </a:rPr>
                        <a:t>0.83</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r>
              <a:tr h="246888">
                <a:tc>
                  <a:txBody>
                    <a:bodyPr/>
                    <a:lstStyle/>
                    <a:p>
                      <a:pPr indent="0" marL="0">
                        <a:buNone/>
                      </a:pPr>
                      <a:r>
                        <a:rPr lang="en-US" sz="1000" i="1" dirty="0">
                          <a:solidFill>
                            <a:srgbClr val="5B6B7A"/>
                          </a:solidFill>
                          <a:latin typeface="Calibri" pitchFamily="34" charset="0"/>
                          <a:ea typeface="Calibri" pitchFamily="34" charset="-122"/>
                          <a:cs typeface="Calibri" pitchFamily="34" charset="-120"/>
                        </a:rPr>
                        <a:t>Data exfiltration  · without it</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c>
                  <a:txBody>
                    <a:bodyPr/>
                    <a:lstStyle/>
                    <a:p>
                      <a:pPr indent="0" marL="0">
                        <a:buNone/>
                      </a:pPr>
                      <a:r>
                        <a:rPr lang="en-US" sz="1000" dirty="0">
                          <a:solidFill>
                            <a:srgbClr val="5B6B7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r>
              <a:tr h="246888">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Malware in encrypted sessions</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c>
                  <a:txBody>
                    <a:bodyPr/>
                    <a:lstStyle/>
                    <a:p>
                      <a:pPr indent="0" marL="0">
                        <a:buNone/>
                      </a:pPr>
                      <a:r>
                        <a:rPr lang="en-US" sz="1000" dirty="0">
                          <a:solidFill>
                            <a:srgbClr val="C0392B"/>
                          </a:solidFill>
                          <a:latin typeface="Calibri" pitchFamily="34" charset="0"/>
                          <a:ea typeface="Calibri" pitchFamily="34" charset="-122"/>
                          <a:cs typeface="Calibri" pitchFamily="34" charset="-120"/>
                        </a:rPr>
                        <a:t>0.86</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c>
                  <a:txBody>
                    <a:bodyPr/>
                    <a:lstStyle/>
                    <a:p>
                      <a:pPr indent="0" marL="0">
                        <a:buNone/>
                      </a:pPr>
                      <a:r>
                        <a:rPr lang="en-US" sz="1000" b="1" dirty="0">
                          <a:solidFill>
                            <a:srgbClr val="C0392B"/>
                          </a:solidFill>
                          <a:latin typeface="Calibri" pitchFamily="34" charset="0"/>
                          <a:ea typeface="Calibri" pitchFamily="34" charset="-122"/>
                          <a:cs typeface="Calibri" pitchFamily="34" charset="-120"/>
                        </a:rPr>
                        <a:t>0.55   JA4S lost</a:t>
                      </a:r>
                      <a:endParaRPr lang="en-US" sz="1000" dirty="0">
                        <a:latin typeface="Calibri" charset="0"/>
                        <a:ea typeface="Calibri" charset="0"/>
                        <a:cs typeface="Calibri" charset="0"/>
                      </a:endParaRPr>
                    </a:p>
                  </a:txBody>
                  <a:tcPr marL="91440" marR="91440" marT="45720" marB="45720" anchor="ctr">
                    <a:lnL w="12700" cap="flat" cmpd="sng" algn="ctr">
                      <a:solidFill>
                        <a:srgbClr val="E4EDF2"/>
                      </a:solidFill>
                      <a:prstDash val="solid"/>
                      <a:round/>
                      <a:headEnd type="none" w="med" len="med"/>
                      <a:tailEnd type="none" w="med" len="med"/>
                    </a:lnL>
                    <a:lnR w="12700" cap="flat" cmpd="sng" algn="ctr">
                      <a:solidFill>
                        <a:srgbClr val="E4EDF2"/>
                      </a:solidFill>
                      <a:prstDash val="solid"/>
                      <a:round/>
                      <a:headEnd type="none" w="med" len="med"/>
                      <a:tailEnd type="none" w="med" len="med"/>
                    </a:lnR>
                    <a:lnT w="12700" cap="flat" cmpd="sng" algn="ctr">
                      <a:solidFill>
                        <a:srgbClr val="E4EDF2"/>
                      </a:solidFill>
                      <a:prstDash val="solid"/>
                      <a:round/>
                      <a:headEnd type="none" w="med" len="med"/>
                      <a:tailEnd type="none" w="med" len="med"/>
                    </a:lnT>
                    <a:lnB w="12700" cap="flat" cmpd="sng" algn="ctr">
                      <a:solidFill>
                        <a:srgbClr val="E4EDF2"/>
                      </a:solidFill>
                      <a:prstDash val="solid"/>
                      <a:round/>
                      <a:headEnd type="none" w="med" len="med"/>
                      <a:tailEnd type="none" w="med" len="med"/>
                    </a:lnB>
                    <a:solidFill>
                      <a:srgbClr val="FFFFFF"/>
                    </a:solidFill>
                  </a:tcPr>
                </a:tc>
              </a:tr>
            </a:tbl>
          </a:graphicData>
        </a:graphic>
      </p:graphicFrame>
      <p:sp>
        <p:nvSpPr>
          <p:cNvPr id="12" name="Text 9"/>
          <p:cNvSpPr txBox="1"/>
          <p:nvPr/>
        </p:nvSpPr>
        <p:spPr>
          <a:xfrm>
            <a:off x="5148072" y="3803904"/>
            <a:ext cx="6492240" cy="237744"/>
          </a:xfrm>
          <a:prstGeom prst="rect">
            <a:avLst/>
          </a:prstGeom>
          <a:noFill/>
          <a:ln/>
        </p:spPr>
        <p:txBody>
          <a:bodyPr wrap="square" lIns="0" tIns="0" rIns="0" bIns="0" rtlCol="0" anchor="ctr"/>
          <a:lstStyle/>
          <a:p>
            <a:pPr indent="0" marL="0">
              <a:buNone/>
            </a:pPr>
            <a:r>
              <a:rPr lang="en-US" sz="1050" b="1" dirty="0">
                <a:solidFill>
                  <a:srgbClr val="0F1B2D"/>
                </a:solidFill>
                <a:latin typeface="Calibri" pitchFamily="34" charset="0"/>
                <a:ea typeface="Calibri" pitchFamily="34" charset="-122"/>
                <a:cs typeface="Calibri" pitchFamily="34" charset="-120"/>
              </a:rPr>
              <a:t>Zero silent failures.  Every degradation is measured, declared, and on this slide.</a:t>
            </a:r>
            <a:endParaRPr lang="en-US" sz="1050" dirty="0"/>
          </a:p>
        </p:txBody>
      </p:sp>
      <p:sp>
        <p:nvSpPr>
          <p:cNvPr id="13" name="Shape 10"/>
          <p:cNvSpPr/>
          <p:nvPr/>
        </p:nvSpPr>
        <p:spPr>
          <a:xfrm>
            <a:off x="5148072" y="4059936"/>
            <a:ext cx="6492240" cy="237744"/>
          </a:xfrm>
          <a:prstGeom prst="roundRect">
            <a:avLst>
              <a:gd name="adj" fmla="val 19231"/>
            </a:avLst>
          </a:prstGeom>
          <a:solidFill>
            <a:srgbClr val="FDF6E3"/>
          </a:solidFill>
          <a:ln w="9525">
            <a:solidFill>
              <a:srgbClr val="B7791F"/>
            </a:solidFill>
            <a:prstDash val="solid"/>
          </a:ln>
        </p:spPr>
      </p:sp>
      <p:sp>
        <p:nvSpPr>
          <p:cNvPr id="14" name="Text 11"/>
          <p:cNvSpPr txBox="1"/>
          <p:nvPr/>
        </p:nvSpPr>
        <p:spPr>
          <a:xfrm>
            <a:off x="5148072" y="4059936"/>
            <a:ext cx="6492240" cy="237744"/>
          </a:xfrm>
          <a:prstGeom prst="rect">
            <a:avLst/>
          </a:prstGeom>
          <a:noFill/>
          <a:ln/>
        </p:spPr>
        <p:txBody>
          <a:bodyPr wrap="square" lIns="0" tIns="0" rIns="0" bIns="0" rtlCol="0" anchor="ctr"/>
          <a:lstStyle/>
          <a:p>
            <a:pPr algn="ctr" indent="0" marL="0">
              <a:buNone/>
            </a:pPr>
            <a:r>
              <a:rPr lang="en-US" sz="850" b="1" dirty="0">
                <a:solidFill>
                  <a:srgbClr val="B7791F"/>
                </a:solidFill>
                <a:latin typeface="Calibri" pitchFamily="34" charset="0"/>
                <a:ea typeface="Calibri" pitchFamily="34" charset="-122"/>
                <a:cs typeface="Calibri" pitchFamily="34" charset="-120"/>
              </a:rPr>
              <a:t>PLACEHOLDER FIGURES  ·  replace with Week-1 control-experiment output</a:t>
            </a:r>
            <a:endParaRPr lang="en-US" sz="850" dirty="0"/>
          </a:p>
        </p:txBody>
      </p:sp>
      <p:sp>
        <p:nvSpPr>
          <p:cNvPr id="15" name="Shape 12"/>
          <p:cNvSpPr/>
          <p:nvPr/>
        </p:nvSpPr>
        <p:spPr>
          <a:xfrm>
            <a:off x="548640" y="4480560"/>
            <a:ext cx="2642616" cy="914400"/>
          </a:xfrm>
          <a:prstGeom prst="roundRect">
            <a:avLst>
              <a:gd name="adj" fmla="val 6000"/>
            </a:avLst>
          </a:prstGeom>
          <a:solidFill>
            <a:srgbClr val="F1F5F8"/>
          </a:solidFill>
          <a:ln w="12700">
            <a:solidFill>
              <a:srgbClr val="E4EDF2"/>
            </a:solidFill>
            <a:prstDash val="solid"/>
          </a:ln>
        </p:spPr>
      </p:sp>
      <p:sp>
        <p:nvSpPr>
          <p:cNvPr id="16" name="Text 13"/>
          <p:cNvSpPr txBox="1"/>
          <p:nvPr/>
        </p:nvSpPr>
        <p:spPr>
          <a:xfrm>
            <a:off x="548640" y="4562856"/>
            <a:ext cx="2642616" cy="420624"/>
          </a:xfrm>
          <a:prstGeom prst="rect">
            <a:avLst/>
          </a:prstGeom>
          <a:noFill/>
          <a:ln/>
        </p:spPr>
        <p:txBody>
          <a:bodyPr wrap="square" lIns="0" tIns="0" rIns="0" bIns="0" rtlCol="0" anchor="ctr"/>
          <a:lstStyle/>
          <a:p>
            <a:pPr algn="ctr" indent="0" marL="0">
              <a:buNone/>
            </a:pPr>
            <a:r>
              <a:rPr lang="en-US" sz="2500" b="1" dirty="0">
                <a:solidFill>
                  <a:srgbClr val="0F1B2D"/>
                </a:solidFill>
                <a:latin typeface="Cambria" pitchFamily="34" charset="0"/>
                <a:ea typeface="Cambria" pitchFamily="34" charset="-122"/>
                <a:cs typeface="Cambria" pitchFamily="34" charset="-120"/>
              </a:rPr>
              <a:t>XX,XXX</a:t>
            </a:r>
            <a:endParaRPr lang="en-US" sz="2500" dirty="0"/>
          </a:p>
        </p:txBody>
      </p:sp>
      <p:sp>
        <p:nvSpPr>
          <p:cNvPr id="17" name="Text 14"/>
          <p:cNvSpPr txBox="1"/>
          <p:nvPr/>
        </p:nvSpPr>
        <p:spPr>
          <a:xfrm>
            <a:off x="548640" y="4983480"/>
            <a:ext cx="2642616" cy="329184"/>
          </a:xfrm>
          <a:prstGeom prst="rect">
            <a:avLst/>
          </a:prstGeom>
          <a:noFill/>
          <a:ln/>
        </p:spPr>
        <p:txBody>
          <a:bodyPr wrap="square" lIns="0" tIns="0" rIns="0" bIns="0" rtlCol="0" anchor="ctr"/>
          <a:lstStyle/>
          <a:p>
            <a:pPr algn="ctr" indent="0" marL="0">
              <a:buNone/>
            </a:pPr>
            <a:r>
              <a:rPr lang="en-US" sz="1000" dirty="0">
                <a:solidFill>
                  <a:srgbClr val="5B6B7A"/>
                </a:solidFill>
                <a:latin typeface="Calibri" pitchFamily="34" charset="0"/>
                <a:ea typeface="Calibri" pitchFamily="34" charset="-122"/>
                <a:cs typeface="Calibri" pitchFamily="34" charset="-120"/>
              </a:rPr>
              <a:t>flows / sec sustained</a:t>
            </a:r>
            <a:endParaRPr lang="en-US" sz="1000" dirty="0"/>
          </a:p>
        </p:txBody>
      </p:sp>
      <p:sp>
        <p:nvSpPr>
          <p:cNvPr id="18" name="Shape 15"/>
          <p:cNvSpPr/>
          <p:nvPr/>
        </p:nvSpPr>
        <p:spPr>
          <a:xfrm>
            <a:off x="3355848" y="4480560"/>
            <a:ext cx="2642616" cy="914400"/>
          </a:xfrm>
          <a:prstGeom prst="roundRect">
            <a:avLst>
              <a:gd name="adj" fmla="val 6000"/>
            </a:avLst>
          </a:prstGeom>
          <a:solidFill>
            <a:srgbClr val="F1F5F8"/>
          </a:solidFill>
          <a:ln w="12700">
            <a:solidFill>
              <a:srgbClr val="E4EDF2"/>
            </a:solidFill>
            <a:prstDash val="solid"/>
          </a:ln>
        </p:spPr>
      </p:sp>
      <p:sp>
        <p:nvSpPr>
          <p:cNvPr id="19" name="Text 16"/>
          <p:cNvSpPr txBox="1"/>
          <p:nvPr/>
        </p:nvSpPr>
        <p:spPr>
          <a:xfrm>
            <a:off x="3355848" y="4562856"/>
            <a:ext cx="2642616" cy="420624"/>
          </a:xfrm>
          <a:prstGeom prst="rect">
            <a:avLst/>
          </a:prstGeom>
          <a:noFill/>
          <a:ln/>
        </p:spPr>
        <p:txBody>
          <a:bodyPr wrap="square" lIns="0" tIns="0" rIns="0" bIns="0" rtlCol="0" anchor="ctr"/>
          <a:lstStyle/>
          <a:p>
            <a:pPr algn="ctr" indent="0" marL="0">
              <a:buNone/>
            </a:pPr>
            <a:r>
              <a:rPr lang="en-US" sz="2500" b="1" dirty="0">
                <a:solidFill>
                  <a:srgbClr val="0F1B2D"/>
                </a:solidFill>
                <a:latin typeface="Cambria" pitchFamily="34" charset="0"/>
                <a:ea typeface="Cambria" pitchFamily="34" charset="-122"/>
                <a:cs typeface="Cambria" pitchFamily="34" charset="-120"/>
              </a:rPr>
              <a:t>0.00 %</a:t>
            </a:r>
            <a:endParaRPr lang="en-US" sz="2500" dirty="0"/>
          </a:p>
        </p:txBody>
      </p:sp>
      <p:sp>
        <p:nvSpPr>
          <p:cNvPr id="20" name="Text 17"/>
          <p:cNvSpPr txBox="1"/>
          <p:nvPr/>
        </p:nvSpPr>
        <p:spPr>
          <a:xfrm>
            <a:off x="3355848" y="4983480"/>
            <a:ext cx="2642616" cy="329184"/>
          </a:xfrm>
          <a:prstGeom prst="rect">
            <a:avLst/>
          </a:prstGeom>
          <a:noFill/>
          <a:ln/>
        </p:spPr>
        <p:txBody>
          <a:bodyPr wrap="square" lIns="0" tIns="0" rIns="0" bIns="0" rtlCol="0" anchor="ctr"/>
          <a:lstStyle/>
          <a:p>
            <a:pPr algn="ctr" indent="0" marL="0">
              <a:buNone/>
            </a:pPr>
            <a:r>
              <a:rPr lang="en-US" sz="1000" dirty="0">
                <a:solidFill>
                  <a:srgbClr val="5B6B7A"/>
                </a:solidFill>
                <a:latin typeface="Calibri" pitchFamily="34" charset="0"/>
                <a:ea typeface="Calibri" pitchFamily="34" charset="-122"/>
                <a:cs typeface="Calibri" pitchFamily="34" charset="-120"/>
              </a:rPr>
              <a:t>packet drop rate</a:t>
            </a:r>
            <a:endParaRPr lang="en-US" sz="1000" dirty="0"/>
          </a:p>
        </p:txBody>
      </p:sp>
      <p:sp>
        <p:nvSpPr>
          <p:cNvPr id="21" name="Shape 18"/>
          <p:cNvSpPr/>
          <p:nvPr/>
        </p:nvSpPr>
        <p:spPr>
          <a:xfrm>
            <a:off x="6163056" y="4480560"/>
            <a:ext cx="2642616" cy="914400"/>
          </a:xfrm>
          <a:prstGeom prst="roundRect">
            <a:avLst>
              <a:gd name="adj" fmla="val 6000"/>
            </a:avLst>
          </a:prstGeom>
          <a:solidFill>
            <a:srgbClr val="F1F5F8"/>
          </a:solidFill>
          <a:ln w="12700">
            <a:solidFill>
              <a:srgbClr val="E4EDF2"/>
            </a:solidFill>
            <a:prstDash val="solid"/>
          </a:ln>
        </p:spPr>
      </p:sp>
      <p:sp>
        <p:nvSpPr>
          <p:cNvPr id="22" name="Text 19"/>
          <p:cNvSpPr txBox="1"/>
          <p:nvPr/>
        </p:nvSpPr>
        <p:spPr>
          <a:xfrm>
            <a:off x="6163056" y="4562856"/>
            <a:ext cx="2642616" cy="420624"/>
          </a:xfrm>
          <a:prstGeom prst="rect">
            <a:avLst/>
          </a:prstGeom>
          <a:noFill/>
          <a:ln/>
        </p:spPr>
        <p:txBody>
          <a:bodyPr wrap="square" lIns="0" tIns="0" rIns="0" bIns="0" rtlCol="0" anchor="ctr"/>
          <a:lstStyle/>
          <a:p>
            <a:pPr algn="ctr" indent="0" marL="0">
              <a:buNone/>
            </a:pPr>
            <a:r>
              <a:rPr lang="en-US" sz="2500" b="1" dirty="0">
                <a:solidFill>
                  <a:srgbClr val="0F1B2D"/>
                </a:solidFill>
                <a:latin typeface="Cambria" pitchFamily="34" charset="0"/>
                <a:ea typeface="Cambria" pitchFamily="34" charset="-122"/>
                <a:cs typeface="Cambria" pitchFamily="34" charset="-120"/>
              </a:rPr>
              <a:t>&lt; XXX ms</a:t>
            </a:r>
            <a:endParaRPr lang="en-US" sz="2500" dirty="0"/>
          </a:p>
        </p:txBody>
      </p:sp>
      <p:sp>
        <p:nvSpPr>
          <p:cNvPr id="23" name="Text 20"/>
          <p:cNvSpPr txBox="1"/>
          <p:nvPr/>
        </p:nvSpPr>
        <p:spPr>
          <a:xfrm>
            <a:off x="6163056" y="4983480"/>
            <a:ext cx="2642616" cy="329184"/>
          </a:xfrm>
          <a:prstGeom prst="rect">
            <a:avLst/>
          </a:prstGeom>
          <a:noFill/>
          <a:ln/>
        </p:spPr>
        <p:txBody>
          <a:bodyPr wrap="square" lIns="0" tIns="0" rIns="0" bIns="0" rtlCol="0" anchor="ctr"/>
          <a:lstStyle/>
          <a:p>
            <a:pPr algn="ctr" indent="0" marL="0">
              <a:buNone/>
            </a:pPr>
            <a:r>
              <a:rPr lang="en-US" sz="1000" dirty="0">
                <a:solidFill>
                  <a:srgbClr val="5B6B7A"/>
                </a:solidFill>
                <a:latin typeface="Calibri" pitchFamily="34" charset="0"/>
                <a:ea typeface="Calibri" pitchFamily="34" charset="-122"/>
                <a:cs typeface="Calibri" pitchFamily="34" charset="-120"/>
              </a:rPr>
              <a:t>p99 alert latency</a:t>
            </a:r>
            <a:endParaRPr lang="en-US" sz="1000" dirty="0"/>
          </a:p>
        </p:txBody>
      </p:sp>
      <p:sp>
        <p:nvSpPr>
          <p:cNvPr id="24" name="Shape 21"/>
          <p:cNvSpPr/>
          <p:nvPr/>
        </p:nvSpPr>
        <p:spPr>
          <a:xfrm>
            <a:off x="8970264" y="4480560"/>
            <a:ext cx="2642616" cy="914400"/>
          </a:xfrm>
          <a:prstGeom prst="roundRect">
            <a:avLst>
              <a:gd name="adj" fmla="val 6000"/>
            </a:avLst>
          </a:prstGeom>
          <a:solidFill>
            <a:srgbClr val="F1F5F8"/>
          </a:solidFill>
          <a:ln w="12700">
            <a:solidFill>
              <a:srgbClr val="E4EDF2"/>
            </a:solidFill>
            <a:prstDash val="solid"/>
          </a:ln>
        </p:spPr>
      </p:sp>
      <p:sp>
        <p:nvSpPr>
          <p:cNvPr id="25" name="Text 22"/>
          <p:cNvSpPr txBox="1"/>
          <p:nvPr/>
        </p:nvSpPr>
        <p:spPr>
          <a:xfrm>
            <a:off x="8970264" y="4562856"/>
            <a:ext cx="2642616" cy="420624"/>
          </a:xfrm>
          <a:prstGeom prst="rect">
            <a:avLst/>
          </a:prstGeom>
          <a:noFill/>
          <a:ln/>
        </p:spPr>
        <p:txBody>
          <a:bodyPr wrap="square" lIns="0" tIns="0" rIns="0" bIns="0" rtlCol="0" anchor="ctr"/>
          <a:lstStyle/>
          <a:p>
            <a:pPr algn="ctr" indent="0" marL="0">
              <a:buNone/>
            </a:pPr>
            <a:r>
              <a:rPr lang="en-US" sz="2500" b="1" dirty="0">
                <a:solidFill>
                  <a:srgbClr val="0F1B2D"/>
                </a:solidFill>
                <a:latin typeface="Cambria" pitchFamily="34" charset="0"/>
                <a:ea typeface="Cambria" pitchFamily="34" charset="-122"/>
                <a:cs typeface="Cambria" pitchFamily="34" charset="-120"/>
              </a:rPr>
              <a:t>FLAT</a:t>
            </a:r>
            <a:endParaRPr lang="en-US" sz="2500" dirty="0"/>
          </a:p>
        </p:txBody>
      </p:sp>
      <p:sp>
        <p:nvSpPr>
          <p:cNvPr id="26" name="Text 23"/>
          <p:cNvSpPr txBox="1"/>
          <p:nvPr/>
        </p:nvSpPr>
        <p:spPr>
          <a:xfrm>
            <a:off x="8970264" y="4983480"/>
            <a:ext cx="2642616" cy="329184"/>
          </a:xfrm>
          <a:prstGeom prst="rect">
            <a:avLst/>
          </a:prstGeom>
          <a:noFill/>
          <a:ln/>
        </p:spPr>
        <p:txBody>
          <a:bodyPr wrap="square" lIns="0" tIns="0" rIns="0" bIns="0" rtlCol="0" anchor="ctr"/>
          <a:lstStyle/>
          <a:p>
            <a:pPr algn="ctr" indent="0" marL="0">
              <a:buNone/>
            </a:pPr>
            <a:r>
              <a:rPr lang="en-US" sz="1000" dirty="0">
                <a:solidFill>
                  <a:srgbClr val="5B6B7A"/>
                </a:solidFill>
                <a:latin typeface="Calibri" pitchFamily="34" charset="0"/>
                <a:ea typeface="Calibri" pitchFamily="34" charset="-122"/>
                <a:cs typeface="Calibri" pitchFamily="34" charset="-120"/>
              </a:rPr>
              <a:t>memory under 10× burst</a:t>
            </a:r>
            <a:endParaRPr lang="en-US" sz="1000" dirty="0"/>
          </a:p>
        </p:txBody>
      </p:sp>
      <p:sp>
        <p:nvSpPr>
          <p:cNvPr id="27" name="Text 24"/>
          <p:cNvSpPr txBox="1"/>
          <p:nvPr/>
        </p:nvSpPr>
        <p:spPr>
          <a:xfrm>
            <a:off x="548640" y="5486400"/>
            <a:ext cx="11064240" cy="256032"/>
          </a:xfrm>
          <a:prstGeom prst="rect">
            <a:avLst/>
          </a:prstGeom>
          <a:noFill/>
          <a:ln/>
        </p:spPr>
        <p:txBody>
          <a:bodyPr wrap="square" lIns="0" tIns="0" rIns="0" bIns="0" rtlCol="0" anchor="ctr"/>
          <a:lstStyle/>
          <a:p>
            <a:pPr algn="ctr" indent="0" marL="0">
              <a:buNone/>
            </a:pPr>
            <a:r>
              <a:rPr lang="en-US" sz="1000" i="1" dirty="0">
                <a:solidFill>
                  <a:srgbClr val="5B6B7A"/>
                </a:solidFill>
                <a:latin typeface="Calibri" pitchFamily="34" charset="0"/>
                <a:ea typeface="Calibri" pitchFamily="34" charset="-122"/>
                <a:cs typeface="Calibri" pitchFamily="34" charset="-120"/>
              </a:rPr>
              <a:t>Hardware: 8-core x86_64, 32 GB.   Re-runnable:  ./eval/run_matrix.py --all   —  replay is deterministic, same PCAP in, byte-identical output.</a:t>
            </a:r>
            <a:endParaRPr lang="en-US" sz="1000" dirty="0"/>
          </a:p>
        </p:txBody>
      </p:sp>
      <p:sp>
        <p:nvSpPr>
          <p:cNvPr id="28" name="Text 25"/>
          <p:cNvSpPr txBox="1"/>
          <p:nvPr/>
        </p:nvSpPr>
        <p:spPr>
          <a:xfrm>
            <a:off x="548640" y="5797296"/>
            <a:ext cx="11064240" cy="329184"/>
          </a:xfrm>
          <a:prstGeom prst="rect">
            <a:avLst/>
          </a:prstGeom>
          <a:noFill/>
          <a:ln/>
        </p:spPr>
        <p:txBody>
          <a:bodyPr wrap="square" lIns="0" tIns="0" rIns="0" bIns="0" rtlCol="0" anchor="ctr"/>
          <a:lstStyle/>
          <a:p>
            <a:pPr algn="ctr" indent="0" marL="0">
              <a:buNone/>
            </a:pPr>
            <a:r>
              <a:rPr lang="en-US" sz="950" b="1" dirty="0">
                <a:solidFill>
                  <a:srgbClr val="0F1B2D"/>
                </a:solidFill>
                <a:latin typeface="Calibri" pitchFamily="34" charset="0"/>
                <a:ea typeface="Calibri" pitchFamily="34" charset="-122"/>
                <a:cs typeface="Calibri" pitchFamily="34" charset="-120"/>
              </a:rPr>
              <a:t>No labelled one-way data exists</a:t>
            </a:r>
            <a:pPr algn="ctr" indent="0" marL="0">
              <a:buNone/>
            </a:pPr>
            <a:r>
              <a:rPr lang="en-US" sz="950" dirty="0">
                <a:solidFill>
                  <a:srgbClr val="5B6B7A"/>
                </a:solidFill>
                <a:latin typeface="Calibri" pitchFamily="34" charset="0"/>
                <a:ea typeface="Calibri" pitchFamily="34" charset="-122"/>
                <a:cs typeface="Calibri" pitchFamily="34" charset="-120"/>
              </a:rPr>
              <a:t>  →  we generate it, twins are a post-filter        </a:t>
            </a:r>
            <a:pPr algn="ctr" indent="0" marL="0">
              <a:buNone/>
            </a:pPr>
            <a:r>
              <a:rPr lang="en-US" sz="950" b="1" dirty="0">
                <a:solidFill>
                  <a:srgbClr val="0F1B2D"/>
                </a:solidFill>
                <a:latin typeface="Calibri" pitchFamily="34" charset="0"/>
                <a:ea typeface="Calibri" pitchFamily="34" charset="-122"/>
                <a:cs typeface="Calibri" pitchFamily="34" charset="-120"/>
              </a:rPr>
              <a:t>1-in-10,000 imbalance</a:t>
            </a:r>
            <a:pPr algn="ctr" indent="0" marL="0">
              <a:buNone/>
            </a:pPr>
            <a:r>
              <a:rPr lang="en-US" sz="950" dirty="0">
                <a:solidFill>
                  <a:srgbClr val="5B6B7A"/>
                </a:solidFill>
                <a:latin typeface="Calibri" pitchFamily="34" charset="0"/>
                <a:ea typeface="Calibri" pitchFamily="34" charset="-122"/>
                <a:cs typeface="Calibri" pitchFamily="34" charset="-120"/>
              </a:rPr>
              <a:t>  →  precision @ 50 alerts/hour, never accuracy        </a:t>
            </a:r>
            <a:pPr algn="ctr" indent="0" marL="0">
              <a:buNone/>
            </a:pPr>
            <a:r>
              <a:rPr lang="en-US" sz="950" b="1" dirty="0">
                <a:solidFill>
                  <a:srgbClr val="0F1B2D"/>
                </a:solidFill>
                <a:latin typeface="Calibri" pitchFamily="34" charset="0"/>
                <a:ea typeface="Calibri" pitchFamily="34" charset="-122"/>
                <a:cs typeface="Calibri" pitchFamily="34" charset="-120"/>
              </a:rPr>
              <a:t>Models stale in an air gap</a:t>
            </a:r>
            <a:pPr algn="ctr" indent="0" marL="0">
              <a:buNone/>
            </a:pPr>
            <a:r>
              <a:rPr lang="en-US" sz="950" dirty="0">
                <a:solidFill>
                  <a:srgbClr val="5B6B7A"/>
                </a:solidFill>
                <a:latin typeface="Calibri" pitchFamily="34" charset="0"/>
                <a:ea typeface="Calibri" pitchFamily="34" charset="-122"/>
                <a:cs typeface="Calibri" pitchFamily="34" charset="-120"/>
              </a:rPr>
              <a:t>  →  signed USB model packs + drift monitor</a:t>
            </a:r>
            <a:endParaRPr lang="en-US" sz="950" dirty="0"/>
          </a:p>
        </p:txBody>
      </p:sp>
      <p:sp>
        <p:nvSpPr>
          <p:cNvPr id="29" name="Text 26"/>
          <p:cNvSpPr txBox="1"/>
          <p:nvPr/>
        </p:nvSpPr>
        <p:spPr>
          <a:xfrm>
            <a:off x="548640" y="6446520"/>
            <a:ext cx="5486400" cy="256032"/>
          </a:xfrm>
          <a:prstGeom prst="rect">
            <a:avLst/>
          </a:prstGeom>
          <a:noFill/>
          <a:ln/>
        </p:spPr>
        <p:txBody>
          <a:bodyPr wrap="square" lIns="0" tIns="0" rIns="0" bIns="0" rtlCol="0" anchor="ctr"/>
          <a:lstStyle/>
          <a:p>
            <a:pPr algn="l" indent="0" marL="0">
              <a:buNone/>
            </a:pPr>
            <a:r>
              <a:rPr lang="en-US" sz="900" dirty="0">
                <a:solidFill>
                  <a:srgbClr val="9AA8B4"/>
                </a:solidFill>
                <a:latin typeface="Calibri" pitchFamily="34" charset="0"/>
                <a:ea typeface="Calibri" pitchFamily="34" charset="-122"/>
                <a:cs typeface="Calibri" pitchFamily="34" charset="-120"/>
              </a:rPr>
              <a:t>SIH26145  ·  EKADHARA  ·  NTRO</a:t>
            </a:r>
            <a:endParaRPr lang="en-US" sz="900" dirty="0"/>
          </a:p>
        </p:txBody>
      </p:sp>
      <p:sp>
        <p:nvSpPr>
          <p:cNvPr id="30" name="Text 27"/>
          <p:cNvSpPr txBox="1"/>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8B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01168"/>
          </a:xfrm>
          <a:prstGeom prst="rect">
            <a:avLst/>
          </a:prstGeom>
          <a:noFill/>
          <a:ln/>
        </p:spPr>
        <p:txBody>
          <a:bodyPr wrap="square" lIns="0" tIns="0" rIns="0" bIns="0" rtlCol="0" anchor="ctr"/>
          <a:lstStyle/>
          <a:p>
            <a:pPr algn="l" indent="0" marL="0">
              <a:buNone/>
            </a:pPr>
            <a:r>
              <a:rPr lang="en-US" sz="1000" b="1" spc="150" kern="0" dirty="0">
                <a:solidFill>
                  <a:srgbClr val="1A6E85"/>
                </a:solidFill>
                <a:latin typeface="Calibri" pitchFamily="34" charset="0"/>
                <a:ea typeface="Calibri" pitchFamily="34" charset="-122"/>
                <a:cs typeface="Calibri" pitchFamily="34" charset="-120"/>
              </a:rPr>
              <a:t>4 · IMPACT AND BENEFITS</a:t>
            </a:r>
            <a:endParaRPr lang="en-US" sz="1000" dirty="0"/>
          </a:p>
        </p:txBody>
      </p:sp>
      <p:sp>
        <p:nvSpPr>
          <p:cNvPr id="3" name="Text 1"/>
          <p:cNvSpPr txBox="1"/>
          <p:nvPr/>
        </p:nvSpPr>
        <p:spPr>
          <a:xfrm>
            <a:off x="548640" y="475488"/>
            <a:ext cx="11064240" cy="804672"/>
          </a:xfrm>
          <a:prstGeom prst="rect">
            <a:avLst/>
          </a:prstGeom>
          <a:noFill/>
          <a:ln/>
        </p:spPr>
        <p:txBody>
          <a:bodyPr wrap="square" lIns="0" tIns="0" rIns="0" bIns="0" rtlCol="0" anchor="t"/>
          <a:lstStyle/>
          <a:p>
            <a:pPr algn="l" indent="0" marL="0">
              <a:buNone/>
            </a:pPr>
            <a:r>
              <a:rPr lang="en-US" sz="2500" b="1" dirty="0">
                <a:solidFill>
                  <a:srgbClr val="0F1B2D"/>
                </a:solidFill>
                <a:latin typeface="Cambria" pitchFamily="34" charset="0"/>
                <a:ea typeface="Cambria" pitchFamily="34" charset="-122"/>
                <a:cs typeface="Cambria" pitchFamily="34" charset="-120"/>
              </a:rPr>
              <a:t>Deployable inside an Indian air gap — tomorrow</a:t>
            </a:r>
            <a:endParaRPr lang="en-US" sz="2500" dirty="0"/>
          </a:p>
        </p:txBody>
      </p:sp>
      <p:sp>
        <p:nvSpPr>
          <p:cNvPr id="4" name="Shape 2"/>
          <p:cNvSpPr/>
          <p:nvPr/>
        </p:nvSpPr>
        <p:spPr>
          <a:xfrm>
            <a:off x="548640" y="1371600"/>
            <a:ext cx="3246120" cy="2286000"/>
          </a:xfrm>
          <a:prstGeom prst="roundRect">
            <a:avLst>
              <a:gd name="adj" fmla="val 2400"/>
            </a:avLst>
          </a:prstGeom>
          <a:solidFill>
            <a:srgbClr val="F1F5F8"/>
          </a:solidFill>
          <a:ln w="12700">
            <a:solidFill>
              <a:srgbClr val="E4EDF2"/>
            </a:solidFill>
            <a:prstDash val="solid"/>
          </a:ln>
        </p:spPr>
      </p:sp>
      <p:sp>
        <p:nvSpPr>
          <p:cNvPr id="5" name="Text 3"/>
          <p:cNvSpPr txBox="1"/>
          <p:nvPr/>
        </p:nvSpPr>
        <p:spPr>
          <a:xfrm>
            <a:off x="749808" y="1481328"/>
            <a:ext cx="2834640" cy="237744"/>
          </a:xfrm>
          <a:prstGeom prst="rect">
            <a:avLst/>
          </a:prstGeom>
          <a:noFill/>
          <a:ln/>
        </p:spPr>
        <p:txBody>
          <a:bodyPr wrap="square" lIns="0" tIns="0" rIns="0" bIns="0" rtlCol="0" anchor="ctr"/>
          <a:lstStyle/>
          <a:p>
            <a:pPr indent="0" marL="0">
              <a:buNone/>
            </a:pPr>
            <a:r>
              <a:rPr lang="en-US" sz="1050" b="1" spc="150" kern="0" dirty="0">
                <a:solidFill>
                  <a:srgbClr val="5B6B7A"/>
                </a:solidFill>
                <a:latin typeface="Calibri" pitchFamily="34" charset="0"/>
                <a:ea typeface="Calibri" pitchFamily="34" charset="-122"/>
                <a:cs typeface="Calibri" pitchFamily="34" charset="-120"/>
              </a:rPr>
              <a:t>WITHOUT</a:t>
            </a:r>
            <a:endParaRPr lang="en-US" sz="1050" dirty="0"/>
          </a:p>
        </p:txBody>
      </p:sp>
      <p:sp>
        <p:nvSpPr>
          <p:cNvPr id="6" name="Text 4"/>
          <p:cNvSpPr txBox="1"/>
          <p:nvPr/>
        </p:nvSpPr>
        <p:spPr>
          <a:xfrm>
            <a:off x="749808" y="1783080"/>
            <a:ext cx="2834640" cy="1737360"/>
          </a:xfrm>
          <a:prstGeom prst="rect">
            <a:avLst/>
          </a:prstGeom>
          <a:noFill/>
          <a:ln/>
        </p:spPr>
        <p:txBody>
          <a:bodyPr wrap="square" lIns="0" tIns="0" rIns="0" bIns="0" rtlCol="0" anchor="ctr"/>
          <a:lstStyle/>
          <a:p>
            <a:pPr indent="0" marL="0">
              <a:lnSpc>
                <a:spcPct val="120000"/>
              </a:lnSpc>
              <a:buNone/>
            </a:pPr>
            <a:r>
              <a:rPr lang="en-US" sz="2000" b="1" dirty="0">
                <a:solidFill>
                  <a:srgbClr val="C0392B"/>
                </a:solidFill>
                <a:latin typeface="Calibri" pitchFamily="34" charset="0"/>
                <a:ea typeface="Calibri" pitchFamily="34" charset="-122"/>
                <a:cs typeface="Calibri" pitchFamily="34" charset="-120"/>
              </a:rPr>
              <a:t>403 alerts.</a:t>
            </a:r>
            <a:endParaRPr lang="en-US" sz="1200" dirty="0"/>
          </a:p>
          <a:p>
            <a:pPr indent="0" marL="0">
              <a:lnSpc>
                <a:spcPct val="120000"/>
              </a:lnSpc>
              <a:buNone/>
            </a:pPr>
            <a:r>
              <a:rPr lang="en-US" sz="1200" dirty="0">
                <a:solidFill>
                  <a:srgbClr val="5B6B7A"/>
                </a:solidFill>
                <a:latin typeface="Calibri" pitchFamily="34" charset="0"/>
                <a:ea typeface="Calibri" pitchFamily="34" charset="-122"/>
                <a:cs typeface="Calibri" pitchFamily="34" charset="-120"/>
              </a:rPr>
              <a:t>Unranked.</a:t>
            </a:r>
            <a:endParaRPr lang="en-US" sz="1200" dirty="0"/>
          </a:p>
          <a:p>
            <a:pPr indent="0" marL="0">
              <a:lnSpc>
                <a:spcPct val="120000"/>
              </a:lnSpc>
              <a:buNone/>
            </a:pPr>
            <a:r>
              <a:rPr lang="en-US" sz="1200" dirty="0">
                <a:solidFill>
                  <a:srgbClr val="5B6B7A"/>
                </a:solidFill>
                <a:latin typeface="Calibri" pitchFamily="34" charset="0"/>
                <a:ea typeface="Calibri" pitchFamily="34" charset="-122"/>
                <a:cs typeface="Calibri" pitchFamily="34" charset="-120"/>
              </a:rPr>
              <a:t>No context.</a:t>
            </a:r>
            <a:endParaRPr lang="en-US" sz="1200" dirty="0"/>
          </a:p>
          <a:p>
            <a:pPr indent="0" marL="0">
              <a:lnSpc>
                <a:spcPct val="120000"/>
              </a:lnSpc>
              <a:buNone/>
            </a:pPr>
            <a:r>
              <a:rPr lang="en-US" sz="1200" dirty="0">
                <a:solidFill>
                  <a:srgbClr val="5B6B7A"/>
                </a:solidFill>
                <a:latin typeface="Calibri" pitchFamily="34" charset="0"/>
                <a:ea typeface="Calibri" pitchFamily="34" charset="-122"/>
                <a:cs typeface="Calibri" pitchFamily="34" charset="-120"/>
              </a:rPr>
              <a:t>Nothing to investigate with —</a:t>
            </a:r>
            <a:endParaRPr lang="en-US" sz="1200" dirty="0"/>
          </a:p>
          <a:p>
            <a:pPr indent="0" marL="0">
              <a:lnSpc>
                <a:spcPct val="120000"/>
              </a:lnSpc>
              <a:buNone/>
            </a:pPr>
            <a:r>
              <a:rPr lang="en-US" sz="1200" dirty="0">
                <a:solidFill>
                  <a:srgbClr val="5B6B7A"/>
                </a:solidFill>
                <a:latin typeface="Calibri" pitchFamily="34" charset="0"/>
                <a:ea typeface="Calibri" pitchFamily="34" charset="-122"/>
                <a:cs typeface="Calibri" pitchFamily="34" charset="-120"/>
              </a:rPr>
              <a:t>the analyst cannot query anything.</a:t>
            </a:r>
            <a:endParaRPr lang="en-US" sz="1200" dirty="0"/>
          </a:p>
        </p:txBody>
      </p:sp>
      <p:sp>
        <p:nvSpPr>
          <p:cNvPr id="7" name="Shape 5"/>
          <p:cNvSpPr/>
          <p:nvPr/>
        </p:nvSpPr>
        <p:spPr>
          <a:xfrm>
            <a:off x="4023360" y="1371600"/>
            <a:ext cx="7589520" cy="2286000"/>
          </a:xfrm>
          <a:prstGeom prst="roundRect">
            <a:avLst>
              <a:gd name="adj" fmla="val 2400"/>
            </a:avLst>
          </a:prstGeom>
          <a:solidFill>
            <a:srgbClr val="0F1B2D"/>
          </a:solidFill>
          <a:ln w="12700">
            <a:solidFill>
              <a:srgbClr val="0F1B2D"/>
            </a:solidFill>
            <a:prstDash val="solid"/>
          </a:ln>
        </p:spPr>
      </p:sp>
      <p:sp>
        <p:nvSpPr>
          <p:cNvPr id="8" name="Text 6"/>
          <p:cNvSpPr txBox="1"/>
          <p:nvPr/>
        </p:nvSpPr>
        <p:spPr>
          <a:xfrm>
            <a:off x="4224528" y="1481328"/>
            <a:ext cx="3657600" cy="237744"/>
          </a:xfrm>
          <a:prstGeom prst="rect">
            <a:avLst/>
          </a:prstGeom>
          <a:noFill/>
          <a:ln/>
        </p:spPr>
        <p:txBody>
          <a:bodyPr wrap="square" lIns="0" tIns="0" rIns="0" bIns="0" rtlCol="0" anchor="ctr"/>
          <a:lstStyle/>
          <a:p>
            <a:pPr indent="0" marL="0">
              <a:buNone/>
            </a:pPr>
            <a:r>
              <a:rPr lang="en-US" sz="1050" b="1" spc="150" kern="0" dirty="0">
                <a:solidFill>
                  <a:srgbClr val="5EC8DE"/>
                </a:solidFill>
                <a:latin typeface="Calibri" pitchFamily="34" charset="0"/>
                <a:ea typeface="Calibri" pitchFamily="34" charset="-122"/>
                <a:cs typeface="Calibri" pitchFamily="34" charset="-120"/>
              </a:rPr>
              <a:t>WITH EKADHARA</a:t>
            </a:r>
            <a:endParaRPr lang="en-US" sz="1050" dirty="0"/>
          </a:p>
        </p:txBody>
      </p:sp>
      <p:sp>
        <p:nvSpPr>
          <p:cNvPr id="9" name="Text 7"/>
          <p:cNvSpPr txBox="1"/>
          <p:nvPr/>
        </p:nvSpPr>
        <p:spPr>
          <a:xfrm>
            <a:off x="4224528" y="1737360"/>
            <a:ext cx="7223760" cy="310896"/>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INCIDENT #42  —  CRITICAL</a:t>
            </a:r>
            <a:endParaRPr lang="en-US" sz="1800" dirty="0"/>
          </a:p>
        </p:txBody>
      </p:sp>
      <p:sp>
        <p:nvSpPr>
          <p:cNvPr id="10" name="Text 8"/>
          <p:cNvSpPr txBox="1"/>
          <p:nvPr/>
        </p:nvSpPr>
        <p:spPr>
          <a:xfrm>
            <a:off x="4224528" y="2121408"/>
            <a:ext cx="7223760" cy="1371600"/>
          </a:xfrm>
          <a:prstGeom prst="rect">
            <a:avLst/>
          </a:prstGeom>
          <a:noFill/>
          <a:ln/>
        </p:spPr>
        <p:txBody>
          <a:bodyPr wrap="square" lIns="0" tIns="0" rIns="0" bIns="0" rtlCol="0" anchor="ctr"/>
          <a:lstStyle/>
          <a:p>
            <a:pPr indent="0" marL="0">
              <a:lnSpc>
                <a:spcPct val="125000"/>
              </a:lnSpc>
              <a:buNone/>
            </a:pPr>
            <a:r>
              <a:rPr lang="en-US" sz="1200" b="1" dirty="0">
                <a:solidFill>
                  <a:srgbClr val="5EC8DE"/>
                </a:solidFill>
                <a:latin typeface="Calibri" pitchFamily="34" charset="0"/>
                <a:ea typeface="Calibri" pitchFamily="34" charset="-122"/>
                <a:cs typeface="Calibri" pitchFamily="34" charset="-120"/>
              </a:rPr>
              <a:t>Host 10.2.4.9</a:t>
            </a:r>
            <a:endParaRPr lang="en-US" sz="1200" dirty="0"/>
          </a:p>
          <a:p>
            <a:pPr indent="0" marL="0">
              <a:lnSpc>
                <a:spcPct val="125000"/>
              </a:lnSpc>
              <a:buNone/>
            </a:pPr>
            <a:r>
              <a:rPr lang="en-US" sz="1200" b="1" dirty="0">
                <a:solidFill>
                  <a:srgbClr val="FFFFFF"/>
                </a:solidFill>
                <a:latin typeface="Calibri" pitchFamily="34" charset="0"/>
                <a:ea typeface="Calibri" pitchFamily="34" charset="-122"/>
                <a:cs typeface="Calibri" pitchFamily="34" charset="-120"/>
              </a:rPr>
              <a:t>RECON 09:14   →   C2 ESTABLISHED 11:02   →   EGRESS 12:26</a:t>
            </a:r>
            <a:endParaRPr lang="en-US" sz="1200" dirty="0"/>
          </a:p>
          <a:p>
            <a:pPr indent="0" marL="0">
              <a:lnSpc>
                <a:spcPct val="125000"/>
              </a:lnSpc>
              <a:buNone/>
            </a:pPr>
            <a:r>
              <a:rPr lang="en-US" sz="1200" dirty="0">
                <a:solidFill>
                  <a:srgbClr val="9AA8B4"/>
                </a:solidFill>
                <a:latin typeface="Calibri" pitchFamily="34" charset="0"/>
                <a:ea typeface="Calibri" pitchFamily="34" charset="-122"/>
                <a:cs typeface="Calibri" pitchFamily="34" charset="-120"/>
              </a:rPr>
              <a:t>3 independent detectors concur  ·  calibrated confidence 0.94</a:t>
            </a:r>
            <a:endParaRPr lang="en-US" sz="1200" dirty="0"/>
          </a:p>
          <a:p>
            <a:pPr indent="0" marL="0">
              <a:lnSpc>
                <a:spcPct val="125000"/>
              </a:lnSpc>
              <a:buNone/>
            </a:pPr>
            <a:r>
              <a:rPr lang="en-US" sz="1200" dirty="0">
                <a:solidFill>
                  <a:srgbClr val="9AA8B4"/>
                </a:solidFill>
                <a:latin typeface="Calibri" pitchFamily="34" charset="0"/>
                <a:ea typeface="Calibri" pitchFamily="34" charset="-122"/>
                <a:cs typeface="Calibri" pitchFamily="34" charset="-120"/>
              </a:rPr>
              <a:t>~4.1 GB egress estimated via ACK-Shadow</a:t>
            </a:r>
            <a:endParaRPr lang="en-US" sz="1200" dirty="0"/>
          </a:p>
          <a:p>
            <a:pPr indent="0" marL="0">
              <a:lnSpc>
                <a:spcPct val="125000"/>
              </a:lnSpc>
              <a:buNone/>
            </a:pPr>
            <a:r>
              <a:rPr lang="en-US" sz="1200" dirty="0">
                <a:solidFill>
                  <a:srgbClr val="9AA8B4"/>
                </a:solidFill>
                <a:latin typeface="Calibri" pitchFamily="34" charset="0"/>
                <a:ea typeface="Calibri" pitchFamily="34" charset="-122"/>
                <a:cs typeface="Calibri" pitchFamily="34" charset="-120"/>
              </a:rPr>
              <a:t>Evidence: 3 content hashes, 12 contributing features, Merkle-sealed</a:t>
            </a:r>
            <a:endParaRPr lang="en-US" sz="1200" dirty="0"/>
          </a:p>
        </p:txBody>
      </p:sp>
      <p:sp>
        <p:nvSpPr>
          <p:cNvPr id="11" name="Shape 9"/>
          <p:cNvSpPr/>
          <p:nvPr/>
        </p:nvSpPr>
        <p:spPr>
          <a:xfrm>
            <a:off x="548640" y="3822192"/>
            <a:ext cx="5669280" cy="2103120"/>
          </a:xfrm>
          <a:prstGeom prst="roundRect">
            <a:avLst>
              <a:gd name="adj" fmla="val 2609"/>
            </a:avLst>
          </a:prstGeom>
          <a:solidFill>
            <a:srgbClr val="F1F5F8"/>
          </a:solidFill>
          <a:ln w="12700">
            <a:solidFill>
              <a:srgbClr val="E4EDF2"/>
            </a:solidFill>
            <a:prstDash val="solid"/>
          </a:ln>
        </p:spPr>
      </p:sp>
      <p:sp>
        <p:nvSpPr>
          <p:cNvPr id="12" name="Text 10"/>
          <p:cNvSpPr txBox="1"/>
          <p:nvPr/>
        </p:nvSpPr>
        <p:spPr>
          <a:xfrm>
            <a:off x="749808" y="3931920"/>
            <a:ext cx="5212080" cy="237744"/>
          </a:xfrm>
          <a:prstGeom prst="rect">
            <a:avLst/>
          </a:prstGeom>
          <a:noFill/>
          <a:ln/>
        </p:spPr>
        <p:txBody>
          <a:bodyPr wrap="square" lIns="0" tIns="0" rIns="0" bIns="0" rtlCol="0" anchor="ctr"/>
          <a:lstStyle/>
          <a:p>
            <a:pPr indent="0" marL="0">
              <a:buNone/>
            </a:pPr>
            <a:r>
              <a:rPr lang="en-US" sz="1050" b="1" spc="150" kern="0" dirty="0">
                <a:solidFill>
                  <a:srgbClr val="1A6E85"/>
                </a:solidFill>
                <a:latin typeface="Calibri" pitchFamily="34" charset="0"/>
                <a:ea typeface="Calibri" pitchFamily="34" charset="-122"/>
                <a:cs typeface="Calibri" pitchFamily="34" charset="-120"/>
              </a:rPr>
              <a:t>WHO BENEFITS</a:t>
            </a:r>
            <a:endParaRPr lang="en-US" sz="1050" dirty="0"/>
          </a:p>
        </p:txBody>
      </p:sp>
      <p:sp>
        <p:nvSpPr>
          <p:cNvPr id="13" name="Text 11"/>
          <p:cNvSpPr txBox="1"/>
          <p:nvPr/>
        </p:nvSpPr>
        <p:spPr>
          <a:xfrm>
            <a:off x="749808" y="4206240"/>
            <a:ext cx="5257800" cy="1664208"/>
          </a:xfrm>
          <a:prstGeom prst="rect">
            <a:avLst/>
          </a:prstGeom>
          <a:noFill/>
          <a:ln/>
        </p:spPr>
        <p:txBody>
          <a:bodyPr wrap="square" lIns="0" tIns="0" rIns="0" bIns="0" rtlCol="0" anchor="ctr"/>
          <a:lstStyle/>
          <a:p>
            <a:pPr indent="0" marL="0">
              <a:lnSpc>
                <a:spcPct val="112000"/>
              </a:lnSpc>
              <a:buNone/>
            </a:pPr>
            <a:r>
              <a:rPr lang="en-US" sz="950" b="1" dirty="0">
                <a:solidFill>
                  <a:srgbClr val="0F1B2D"/>
                </a:solidFill>
                <a:latin typeface="Calibri" pitchFamily="34" charset="0"/>
                <a:ea typeface="Calibri" pitchFamily="34" charset="-122"/>
                <a:cs typeface="Calibri" pitchFamily="34" charset="-120"/>
              </a:rPr>
              <a:t>NTRO / NCIIPC</a:t>
            </a:r>
            <a:pPr indent="0" marL="0">
              <a:lnSpc>
                <a:spcPct val="112000"/>
              </a:lnSpc>
              <a:buNone/>
            </a:pPr>
            <a:r>
              <a:rPr lang="en-US" sz="950" dirty="0">
                <a:solidFill>
                  <a:srgbClr val="5B6B7A"/>
                </a:solidFill>
                <a:latin typeface="Calibri" pitchFamily="34" charset="0"/>
                <a:ea typeface="Calibri" pitchFamily="34" charset="-122"/>
                <a:cs typeface="Calibri" pitchFamily="34" charset="-120"/>
              </a:rPr>
              <a:t>  intelligence layer for enclaves they already operate — no new hardware, no change to the security boundary</a:t>
            </a:r>
            <a:endParaRPr lang="en-US" sz="950" dirty="0"/>
          </a:p>
          <a:p>
            <a:pPr indent="0" marL="0">
              <a:lnSpc>
                <a:spcPct val="112000"/>
              </a:lnSpc>
              <a:buNone/>
            </a:pPr>
            <a:r>
              <a:rPr lang="en-US" sz="950" b="1" dirty="0">
                <a:solidFill>
                  <a:srgbClr val="0F1B2D"/>
                </a:solidFill>
                <a:latin typeface="Calibri" pitchFamily="34" charset="0"/>
                <a:ea typeface="Calibri" pitchFamily="34" charset="-122"/>
                <a:cs typeface="Calibri" pitchFamily="34" charset="-120"/>
              </a:rPr>
              <a:t>Power · telecom · defence · rail</a:t>
            </a:r>
            <a:pPr indent="0" marL="0">
              <a:lnSpc>
                <a:spcPct val="112000"/>
              </a:lnSpc>
              <a:buNone/>
            </a:pPr>
            <a:r>
              <a:rPr lang="en-US" sz="950" dirty="0">
                <a:solidFill>
                  <a:srgbClr val="5B6B7A"/>
                </a:solidFill>
                <a:latin typeface="Calibri" pitchFamily="34" charset="0"/>
                <a:ea typeface="Calibri" pitchFamily="34" charset="-122"/>
                <a:cs typeface="Calibri" pitchFamily="34" charset="-120"/>
              </a:rPr>
              <a:t>  detection inside air gaps, where commercial NDR cannot function at all</a:t>
            </a:r>
            <a:endParaRPr lang="en-US" sz="950" dirty="0"/>
          </a:p>
          <a:p>
            <a:pPr indent="0" marL="0">
              <a:lnSpc>
                <a:spcPct val="112000"/>
              </a:lnSpc>
              <a:buNone/>
            </a:pPr>
            <a:r>
              <a:rPr lang="en-US" sz="950" b="1" dirty="0">
                <a:solidFill>
                  <a:srgbClr val="0F1B2D"/>
                </a:solidFill>
                <a:latin typeface="Calibri" pitchFamily="34" charset="0"/>
                <a:ea typeface="Calibri" pitchFamily="34" charset="-122"/>
                <a:cs typeface="Calibri" pitchFamily="34" charset="-120"/>
              </a:rPr>
              <a:t>SOC analysts</a:t>
            </a:r>
            <a:pPr indent="0" marL="0">
              <a:lnSpc>
                <a:spcPct val="112000"/>
              </a:lnSpc>
              <a:buNone/>
            </a:pPr>
            <a:r>
              <a:rPr lang="en-US" sz="950" dirty="0">
                <a:solidFill>
                  <a:srgbClr val="5B6B7A"/>
                </a:solidFill>
                <a:latin typeface="Calibri" pitchFamily="34" charset="0"/>
                <a:ea typeface="Calibri" pitchFamily="34" charset="-122"/>
                <a:cs typeface="Calibri" pitchFamily="34" charset="-120"/>
              </a:rPr>
              <a:t>  incidents, not alert confetti</a:t>
            </a:r>
            <a:endParaRPr lang="en-US" sz="950" dirty="0"/>
          </a:p>
          <a:p>
            <a:pPr indent="0" marL="0">
              <a:lnSpc>
                <a:spcPct val="112000"/>
              </a:lnSpc>
              <a:buNone/>
            </a:pPr>
            <a:r>
              <a:rPr lang="en-US" sz="950" b="1" dirty="0">
                <a:solidFill>
                  <a:srgbClr val="0F1B2D"/>
                </a:solidFill>
                <a:latin typeface="Calibri" pitchFamily="34" charset="0"/>
                <a:ea typeface="Calibri" pitchFamily="34" charset="-122"/>
                <a:cs typeface="Calibri" pitchFamily="34" charset="-120"/>
              </a:rPr>
              <a:t>Forensics / legal</a:t>
            </a:r>
            <a:pPr indent="0" marL="0">
              <a:lnSpc>
                <a:spcPct val="112000"/>
              </a:lnSpc>
              <a:buNone/>
            </a:pPr>
            <a:r>
              <a:rPr lang="en-US" sz="950" dirty="0">
                <a:solidFill>
                  <a:srgbClr val="5B6B7A"/>
                </a:solidFill>
                <a:latin typeface="Calibri" pitchFamily="34" charset="0"/>
                <a:ea typeface="Calibri" pitchFamily="34" charset="-122"/>
                <a:cs typeface="Calibri" pitchFamily="34" charset="-120"/>
              </a:rPr>
              <a:t>  Merkle-sealed ledger → admissible evidence</a:t>
            </a:r>
            <a:endParaRPr lang="en-US" sz="950" dirty="0"/>
          </a:p>
          <a:p>
            <a:pPr indent="0" marL="0">
              <a:lnSpc>
                <a:spcPct val="112000"/>
              </a:lnSpc>
              <a:buNone/>
            </a:pPr>
            <a:r>
              <a:rPr lang="en-US" sz="950" b="1" dirty="0">
                <a:solidFill>
                  <a:srgbClr val="0F1B2D"/>
                </a:solidFill>
                <a:latin typeface="Calibri" pitchFamily="34" charset="0"/>
                <a:ea typeface="Calibri" pitchFamily="34" charset="-122"/>
                <a:cs typeface="Calibri" pitchFamily="34" charset="-120"/>
              </a:rPr>
              <a:t>Indian security ecosystem</a:t>
            </a:r>
            <a:pPr indent="0" marL="0">
              <a:lnSpc>
                <a:spcPct val="112000"/>
              </a:lnSpc>
              <a:buNone/>
            </a:pPr>
            <a:r>
              <a:rPr lang="en-US" sz="950" dirty="0">
                <a:solidFill>
                  <a:srgbClr val="5B6B7A"/>
                </a:solidFill>
                <a:latin typeface="Calibri" pitchFamily="34" charset="0"/>
                <a:ea typeface="Calibri" pitchFamily="34" charset="-122"/>
                <a:cs typeface="Calibri" pitchFamily="34" charset="-120"/>
              </a:rPr>
              <a:t>  UniFlow-IN — first public corpus with paired full-duplex / diode-capture variants</a:t>
            </a:r>
            <a:endParaRPr lang="en-US" sz="950" dirty="0"/>
          </a:p>
        </p:txBody>
      </p:sp>
      <p:sp>
        <p:nvSpPr>
          <p:cNvPr id="14" name="Shape 12"/>
          <p:cNvSpPr/>
          <p:nvPr/>
        </p:nvSpPr>
        <p:spPr>
          <a:xfrm>
            <a:off x="6400800" y="3822192"/>
            <a:ext cx="5212080" cy="2103120"/>
          </a:xfrm>
          <a:prstGeom prst="roundRect">
            <a:avLst>
              <a:gd name="adj" fmla="val 2609"/>
            </a:avLst>
          </a:prstGeom>
          <a:solidFill>
            <a:srgbClr val="F1F5F8"/>
          </a:solidFill>
          <a:ln w="12700">
            <a:solidFill>
              <a:srgbClr val="E4EDF2"/>
            </a:solidFill>
            <a:prstDash val="solid"/>
          </a:ln>
        </p:spPr>
      </p:sp>
      <p:sp>
        <p:nvSpPr>
          <p:cNvPr id="15" name="Text 13"/>
          <p:cNvSpPr txBox="1"/>
          <p:nvPr/>
        </p:nvSpPr>
        <p:spPr>
          <a:xfrm>
            <a:off x="6601968" y="3931920"/>
            <a:ext cx="4754880" cy="237744"/>
          </a:xfrm>
          <a:prstGeom prst="rect">
            <a:avLst/>
          </a:prstGeom>
          <a:noFill/>
          <a:ln/>
        </p:spPr>
        <p:txBody>
          <a:bodyPr wrap="square" lIns="0" tIns="0" rIns="0" bIns="0" rtlCol="0" anchor="ctr"/>
          <a:lstStyle/>
          <a:p>
            <a:pPr indent="0" marL="0">
              <a:buNone/>
            </a:pPr>
            <a:r>
              <a:rPr lang="en-US" sz="1050" b="1" spc="150" kern="0" dirty="0">
                <a:solidFill>
                  <a:srgbClr val="1A6E85"/>
                </a:solidFill>
                <a:latin typeface="Calibri" pitchFamily="34" charset="0"/>
                <a:ea typeface="Calibri" pitchFamily="34" charset="-122"/>
                <a:cs typeface="Calibri" pitchFamily="34" charset="-120"/>
              </a:rPr>
              <a:t>WHY IT DEPLOYS</a:t>
            </a:r>
            <a:endParaRPr lang="en-US" sz="1050" dirty="0"/>
          </a:p>
        </p:txBody>
      </p:sp>
      <p:sp>
        <p:nvSpPr>
          <p:cNvPr id="16" name="Text 14"/>
          <p:cNvSpPr txBox="1"/>
          <p:nvPr/>
        </p:nvSpPr>
        <p:spPr>
          <a:xfrm>
            <a:off x="6601968" y="4224528"/>
            <a:ext cx="228600" cy="237744"/>
          </a:xfrm>
          <a:prstGeom prst="rect">
            <a:avLst/>
          </a:prstGeom>
          <a:noFill/>
          <a:ln/>
        </p:spPr>
        <p:txBody>
          <a:bodyPr wrap="square" lIns="0" tIns="0" rIns="0" bIns="0" rtlCol="0" anchor="ctr"/>
          <a:lstStyle/>
          <a:p>
            <a:pPr indent="0" marL="0">
              <a:buNone/>
            </a:pPr>
            <a:r>
              <a:rPr lang="en-US" sz="1100" b="1" dirty="0">
                <a:solidFill>
                  <a:srgbClr val="1E7A4C"/>
                </a:solidFill>
                <a:latin typeface="Calibri" pitchFamily="34" charset="0"/>
                <a:ea typeface="Calibri" pitchFamily="34" charset="-122"/>
                <a:cs typeface="Calibri" pitchFamily="34" charset="-120"/>
              </a:rPr>
              <a:t>✔</a:t>
            </a:r>
            <a:endParaRPr lang="en-US" sz="1100" dirty="0"/>
          </a:p>
        </p:txBody>
      </p:sp>
      <p:sp>
        <p:nvSpPr>
          <p:cNvPr id="17" name="Text 15"/>
          <p:cNvSpPr txBox="1"/>
          <p:nvPr/>
        </p:nvSpPr>
        <p:spPr>
          <a:xfrm>
            <a:off x="6858000" y="4224528"/>
            <a:ext cx="4572000" cy="256032"/>
          </a:xfrm>
          <a:prstGeom prst="rect">
            <a:avLst/>
          </a:prstGeom>
          <a:noFill/>
          <a:ln/>
        </p:spPr>
        <p:txBody>
          <a:bodyPr wrap="square" lIns="0" tIns="0" rIns="0" bIns="0" rtlCol="0" anchor="ctr"/>
          <a:lstStyle/>
          <a:p>
            <a:pPr indent="0" marL="0">
              <a:buNone/>
            </a:pPr>
            <a:r>
              <a:rPr lang="en-US" sz="950" dirty="0">
                <a:solidFill>
                  <a:srgbClr val="16222E"/>
                </a:solidFill>
                <a:latin typeface="Calibri" pitchFamily="34" charset="0"/>
                <a:ea typeface="Calibri" pitchFamily="34" charset="-122"/>
                <a:cs typeface="Calibri" pitchFamily="34" charset="-120"/>
              </a:rPr>
              <a:t>Single OCI image · runs with --network none · USB-portable</a:t>
            </a:r>
            <a:endParaRPr lang="en-US" sz="950" dirty="0"/>
          </a:p>
        </p:txBody>
      </p:sp>
      <p:sp>
        <p:nvSpPr>
          <p:cNvPr id="18" name="Text 16"/>
          <p:cNvSpPr txBox="1"/>
          <p:nvPr/>
        </p:nvSpPr>
        <p:spPr>
          <a:xfrm>
            <a:off x="6601968" y="4498848"/>
            <a:ext cx="228600" cy="237744"/>
          </a:xfrm>
          <a:prstGeom prst="rect">
            <a:avLst/>
          </a:prstGeom>
          <a:noFill/>
          <a:ln/>
        </p:spPr>
        <p:txBody>
          <a:bodyPr wrap="square" lIns="0" tIns="0" rIns="0" bIns="0" rtlCol="0" anchor="ctr"/>
          <a:lstStyle/>
          <a:p>
            <a:pPr indent="0" marL="0">
              <a:buNone/>
            </a:pPr>
            <a:r>
              <a:rPr lang="en-US" sz="1100" b="1" dirty="0">
                <a:solidFill>
                  <a:srgbClr val="1E7A4C"/>
                </a:solidFill>
                <a:latin typeface="Calibri" pitchFamily="34" charset="0"/>
                <a:ea typeface="Calibri" pitchFamily="34" charset="-122"/>
                <a:cs typeface="Calibri" pitchFamily="34" charset="-120"/>
              </a:rPr>
              <a:t>✔</a:t>
            </a:r>
            <a:endParaRPr lang="en-US" sz="1100" dirty="0"/>
          </a:p>
        </p:txBody>
      </p:sp>
      <p:sp>
        <p:nvSpPr>
          <p:cNvPr id="19" name="Text 17"/>
          <p:cNvSpPr txBox="1"/>
          <p:nvPr/>
        </p:nvSpPr>
        <p:spPr>
          <a:xfrm>
            <a:off x="6858000" y="4498848"/>
            <a:ext cx="4572000" cy="256032"/>
          </a:xfrm>
          <a:prstGeom prst="rect">
            <a:avLst/>
          </a:prstGeom>
          <a:noFill/>
          <a:ln/>
        </p:spPr>
        <p:txBody>
          <a:bodyPr wrap="square" lIns="0" tIns="0" rIns="0" bIns="0" rtlCol="0" anchor="ctr"/>
          <a:lstStyle/>
          <a:p>
            <a:pPr indent="0" marL="0">
              <a:buNone/>
            </a:pPr>
            <a:r>
              <a:rPr lang="en-US" sz="950" dirty="0">
                <a:solidFill>
                  <a:srgbClr val="16222E"/>
                </a:solidFill>
                <a:latin typeface="Calibri" pitchFamily="34" charset="0"/>
                <a:ea typeface="Calibri" pitchFamily="34" charset="-122"/>
                <a:cs typeface="Calibri" pitchFamily="34" charset="-120"/>
              </a:rPr>
              <a:t>Zero external dependencies · SBOM shipped in the image</a:t>
            </a:r>
            <a:endParaRPr lang="en-US" sz="950" dirty="0"/>
          </a:p>
        </p:txBody>
      </p:sp>
      <p:sp>
        <p:nvSpPr>
          <p:cNvPr id="20" name="Text 18"/>
          <p:cNvSpPr txBox="1"/>
          <p:nvPr/>
        </p:nvSpPr>
        <p:spPr>
          <a:xfrm>
            <a:off x="6601968" y="4773168"/>
            <a:ext cx="228600" cy="237744"/>
          </a:xfrm>
          <a:prstGeom prst="rect">
            <a:avLst/>
          </a:prstGeom>
          <a:noFill/>
          <a:ln/>
        </p:spPr>
        <p:txBody>
          <a:bodyPr wrap="square" lIns="0" tIns="0" rIns="0" bIns="0" rtlCol="0" anchor="ctr"/>
          <a:lstStyle/>
          <a:p>
            <a:pPr indent="0" marL="0">
              <a:buNone/>
            </a:pPr>
            <a:r>
              <a:rPr lang="en-US" sz="1100" b="1" dirty="0">
                <a:solidFill>
                  <a:srgbClr val="1E7A4C"/>
                </a:solidFill>
                <a:latin typeface="Calibri" pitchFamily="34" charset="0"/>
                <a:ea typeface="Calibri" pitchFamily="34" charset="-122"/>
                <a:cs typeface="Calibri" pitchFamily="34" charset="-120"/>
              </a:rPr>
              <a:t>✔</a:t>
            </a:r>
            <a:endParaRPr lang="en-US" sz="1100" dirty="0"/>
          </a:p>
        </p:txBody>
      </p:sp>
      <p:sp>
        <p:nvSpPr>
          <p:cNvPr id="21" name="Text 19"/>
          <p:cNvSpPr txBox="1"/>
          <p:nvPr/>
        </p:nvSpPr>
        <p:spPr>
          <a:xfrm>
            <a:off x="6858000" y="4773168"/>
            <a:ext cx="4572000" cy="256032"/>
          </a:xfrm>
          <a:prstGeom prst="rect">
            <a:avLst/>
          </a:prstGeom>
          <a:noFill/>
          <a:ln/>
        </p:spPr>
        <p:txBody>
          <a:bodyPr wrap="square" lIns="0" tIns="0" rIns="0" bIns="0" rtlCol="0" anchor="ctr"/>
          <a:lstStyle/>
          <a:p>
            <a:pPr indent="0" marL="0">
              <a:buNone/>
            </a:pPr>
            <a:r>
              <a:rPr lang="en-US" sz="950" dirty="0">
                <a:solidFill>
                  <a:srgbClr val="16222E"/>
                </a:solidFill>
                <a:latin typeface="Calibri" pitchFamily="34" charset="0"/>
                <a:ea typeface="Calibri" pitchFamily="34" charset="-122"/>
                <a:cs typeface="Calibri" pitchFamily="34" charset="-120"/>
              </a:rPr>
              <a:t>Alerts emit as OCSF → plugs into any SIEM, no adapter</a:t>
            </a:r>
            <a:endParaRPr lang="en-US" sz="950" dirty="0"/>
          </a:p>
        </p:txBody>
      </p:sp>
      <p:sp>
        <p:nvSpPr>
          <p:cNvPr id="22" name="Text 20"/>
          <p:cNvSpPr txBox="1"/>
          <p:nvPr/>
        </p:nvSpPr>
        <p:spPr>
          <a:xfrm>
            <a:off x="6601968" y="5047488"/>
            <a:ext cx="228600" cy="237744"/>
          </a:xfrm>
          <a:prstGeom prst="rect">
            <a:avLst/>
          </a:prstGeom>
          <a:noFill/>
          <a:ln/>
        </p:spPr>
        <p:txBody>
          <a:bodyPr wrap="square" lIns="0" tIns="0" rIns="0" bIns="0" rtlCol="0" anchor="ctr"/>
          <a:lstStyle/>
          <a:p>
            <a:pPr indent="0" marL="0">
              <a:buNone/>
            </a:pPr>
            <a:r>
              <a:rPr lang="en-US" sz="1100" b="1" dirty="0">
                <a:solidFill>
                  <a:srgbClr val="1E7A4C"/>
                </a:solidFill>
                <a:latin typeface="Calibri" pitchFamily="34" charset="0"/>
                <a:ea typeface="Calibri" pitchFamily="34" charset="-122"/>
                <a:cs typeface="Calibri" pitchFamily="34" charset="-120"/>
              </a:rPr>
              <a:t>✔</a:t>
            </a:r>
            <a:endParaRPr lang="en-US" sz="1100" dirty="0"/>
          </a:p>
        </p:txBody>
      </p:sp>
      <p:sp>
        <p:nvSpPr>
          <p:cNvPr id="23" name="Text 21"/>
          <p:cNvSpPr txBox="1"/>
          <p:nvPr/>
        </p:nvSpPr>
        <p:spPr>
          <a:xfrm>
            <a:off x="6858000" y="5047488"/>
            <a:ext cx="4572000" cy="256032"/>
          </a:xfrm>
          <a:prstGeom prst="rect">
            <a:avLst/>
          </a:prstGeom>
          <a:noFill/>
          <a:ln/>
        </p:spPr>
        <p:txBody>
          <a:bodyPr wrap="square" lIns="0" tIns="0" rIns="0" bIns="0" rtlCol="0" anchor="ctr"/>
          <a:lstStyle/>
          <a:p>
            <a:pPr indent="0" marL="0">
              <a:buNone/>
            </a:pPr>
            <a:r>
              <a:rPr lang="en-US" sz="950" dirty="0">
                <a:solidFill>
                  <a:srgbClr val="16222E"/>
                </a:solidFill>
                <a:latin typeface="Calibri" pitchFamily="34" charset="0"/>
                <a:ea typeface="Calibri" pitchFamily="34" charset="-122"/>
                <a:cs typeface="Calibri" pitchFamily="34" charset="-120"/>
              </a:rPr>
              <a:t>Licence-clean: BSD-3 JA4 default (JA4+ is monetisation-restricted)</a:t>
            </a:r>
            <a:endParaRPr lang="en-US" sz="950" dirty="0"/>
          </a:p>
        </p:txBody>
      </p:sp>
      <p:sp>
        <p:nvSpPr>
          <p:cNvPr id="24" name="Text 22"/>
          <p:cNvSpPr txBox="1"/>
          <p:nvPr/>
        </p:nvSpPr>
        <p:spPr>
          <a:xfrm>
            <a:off x="6601968" y="5321808"/>
            <a:ext cx="228600" cy="237744"/>
          </a:xfrm>
          <a:prstGeom prst="rect">
            <a:avLst/>
          </a:prstGeom>
          <a:noFill/>
          <a:ln/>
        </p:spPr>
        <p:txBody>
          <a:bodyPr wrap="square" lIns="0" tIns="0" rIns="0" bIns="0" rtlCol="0" anchor="ctr"/>
          <a:lstStyle/>
          <a:p>
            <a:pPr indent="0" marL="0">
              <a:buNone/>
            </a:pPr>
            <a:r>
              <a:rPr lang="en-US" sz="1100" b="1" dirty="0">
                <a:solidFill>
                  <a:srgbClr val="1E7A4C"/>
                </a:solidFill>
                <a:latin typeface="Calibri" pitchFamily="34" charset="0"/>
                <a:ea typeface="Calibri" pitchFamily="34" charset="-122"/>
                <a:cs typeface="Calibri" pitchFamily="34" charset="-120"/>
              </a:rPr>
              <a:t>✔</a:t>
            </a:r>
            <a:endParaRPr lang="en-US" sz="1100" dirty="0"/>
          </a:p>
        </p:txBody>
      </p:sp>
      <p:sp>
        <p:nvSpPr>
          <p:cNvPr id="25" name="Text 23"/>
          <p:cNvSpPr txBox="1"/>
          <p:nvPr/>
        </p:nvSpPr>
        <p:spPr>
          <a:xfrm>
            <a:off x="6858000" y="5321808"/>
            <a:ext cx="4572000" cy="256032"/>
          </a:xfrm>
          <a:prstGeom prst="rect">
            <a:avLst/>
          </a:prstGeom>
          <a:noFill/>
          <a:ln/>
        </p:spPr>
        <p:txBody>
          <a:bodyPr wrap="square" lIns="0" tIns="0" rIns="0" bIns="0" rtlCol="0" anchor="ctr"/>
          <a:lstStyle/>
          <a:p>
            <a:pPr indent="0" marL="0">
              <a:buNone/>
            </a:pPr>
            <a:r>
              <a:rPr lang="en-US" sz="950" dirty="0">
                <a:solidFill>
                  <a:srgbClr val="16222E"/>
                </a:solidFill>
                <a:latin typeface="Calibri" pitchFamily="34" charset="0"/>
                <a:ea typeface="Calibri" pitchFamily="34" charset="-122"/>
                <a:cs typeface="Calibri" pitchFamily="34" charset="-120"/>
              </a:rPr>
              <a:t>Self-baselines to a new network in 7 days</a:t>
            </a:r>
            <a:endParaRPr lang="en-US" sz="950" dirty="0"/>
          </a:p>
        </p:txBody>
      </p:sp>
      <p:sp>
        <p:nvSpPr>
          <p:cNvPr id="26" name="Text 24"/>
          <p:cNvSpPr txBox="1"/>
          <p:nvPr/>
        </p:nvSpPr>
        <p:spPr>
          <a:xfrm>
            <a:off x="6601968" y="5596128"/>
            <a:ext cx="228600" cy="237744"/>
          </a:xfrm>
          <a:prstGeom prst="rect">
            <a:avLst/>
          </a:prstGeom>
          <a:noFill/>
          <a:ln/>
        </p:spPr>
        <p:txBody>
          <a:bodyPr wrap="square" lIns="0" tIns="0" rIns="0" bIns="0" rtlCol="0" anchor="ctr"/>
          <a:lstStyle/>
          <a:p>
            <a:pPr indent="0" marL="0">
              <a:buNone/>
            </a:pPr>
            <a:r>
              <a:rPr lang="en-US" sz="1100" b="1" dirty="0">
                <a:solidFill>
                  <a:srgbClr val="1E7A4C"/>
                </a:solidFill>
                <a:latin typeface="Calibri" pitchFamily="34" charset="0"/>
                <a:ea typeface="Calibri" pitchFamily="34" charset="-122"/>
                <a:cs typeface="Calibri" pitchFamily="34" charset="-120"/>
              </a:rPr>
              <a:t>✔</a:t>
            </a:r>
            <a:endParaRPr lang="en-US" sz="1100" dirty="0"/>
          </a:p>
        </p:txBody>
      </p:sp>
      <p:sp>
        <p:nvSpPr>
          <p:cNvPr id="27" name="Text 25"/>
          <p:cNvSpPr txBox="1"/>
          <p:nvPr/>
        </p:nvSpPr>
        <p:spPr>
          <a:xfrm>
            <a:off x="6858000" y="5596128"/>
            <a:ext cx="4572000" cy="256032"/>
          </a:xfrm>
          <a:prstGeom prst="rect">
            <a:avLst/>
          </a:prstGeom>
          <a:noFill/>
          <a:ln/>
        </p:spPr>
        <p:txBody>
          <a:bodyPr wrap="square" lIns="0" tIns="0" rIns="0" bIns="0" rtlCol="0" anchor="ctr"/>
          <a:lstStyle/>
          <a:p>
            <a:pPr indent="0" marL="0">
              <a:buNone/>
            </a:pPr>
            <a:r>
              <a:rPr lang="en-US" sz="950" dirty="0">
                <a:solidFill>
                  <a:srgbClr val="16222E"/>
                </a:solidFill>
                <a:latin typeface="Calibri" pitchFamily="34" charset="0"/>
                <a:ea typeface="Calibri" pitchFamily="34" charset="-122"/>
                <a:cs typeface="Calibri" pitchFamily="34" charset="-120"/>
              </a:rPr>
              <a:t>Signed model updates by sneakernet — no internet, ever</a:t>
            </a:r>
            <a:endParaRPr lang="en-US" sz="950" dirty="0"/>
          </a:p>
        </p:txBody>
      </p:sp>
      <p:sp>
        <p:nvSpPr>
          <p:cNvPr id="28" name="Text 26"/>
          <p:cNvSpPr txBox="1"/>
          <p:nvPr/>
        </p:nvSpPr>
        <p:spPr>
          <a:xfrm>
            <a:off x="548640" y="6446520"/>
            <a:ext cx="5486400" cy="256032"/>
          </a:xfrm>
          <a:prstGeom prst="rect">
            <a:avLst/>
          </a:prstGeom>
          <a:noFill/>
          <a:ln/>
        </p:spPr>
        <p:txBody>
          <a:bodyPr wrap="square" lIns="0" tIns="0" rIns="0" bIns="0" rtlCol="0" anchor="ctr"/>
          <a:lstStyle/>
          <a:p>
            <a:pPr algn="l" indent="0" marL="0">
              <a:buNone/>
            </a:pPr>
            <a:r>
              <a:rPr lang="en-US" sz="900" dirty="0">
                <a:solidFill>
                  <a:srgbClr val="9AA8B4"/>
                </a:solidFill>
                <a:latin typeface="Calibri" pitchFamily="34" charset="0"/>
                <a:ea typeface="Calibri" pitchFamily="34" charset="-122"/>
                <a:cs typeface="Calibri" pitchFamily="34" charset="-120"/>
              </a:rPr>
              <a:t>SIH26145  ·  EKADHARA  ·  NTRO</a:t>
            </a:r>
            <a:endParaRPr lang="en-US" sz="900" dirty="0"/>
          </a:p>
        </p:txBody>
      </p:sp>
      <p:sp>
        <p:nvSpPr>
          <p:cNvPr id="29" name="Text 27"/>
          <p:cNvSpPr txBox="1"/>
          <p:nvPr/>
        </p:nvSpPr>
        <p:spPr>
          <a:xfrm>
            <a:off x="11064240" y="6446520"/>
            <a:ext cx="548640" cy="256032"/>
          </a:xfrm>
          <a:prstGeom prst="rect">
            <a:avLst/>
          </a:prstGeom>
          <a:noFill/>
          <a:ln/>
        </p:spPr>
        <p:txBody>
          <a:bodyPr wrap="square" lIns="0" tIns="0" rIns="0" bIns="0" rtlCol="0" anchor="ctr"/>
          <a:lstStyle/>
          <a:p>
            <a:pPr algn="r" indent="0" marL="0">
              <a:buNone/>
            </a:pPr>
            <a:r>
              <a:rPr lang="en-US" sz="900" dirty="0">
                <a:solidFill>
                  <a:srgbClr val="9AA8B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274320"/>
            <a:ext cx="11064240" cy="201168"/>
          </a:xfrm>
          <a:prstGeom prst="rect">
            <a:avLst/>
          </a:prstGeom>
          <a:noFill/>
          <a:ln/>
        </p:spPr>
        <p:txBody>
          <a:bodyPr wrap="square" lIns="0" tIns="0" rIns="0" bIns="0" rtlCol="0" anchor="ctr"/>
          <a:lstStyle/>
          <a:p>
            <a:pPr indent="0" marL="0">
              <a:buNone/>
            </a:pPr>
            <a:r>
              <a:rPr lang="en-US" sz="1000" b="1" spc="150" kern="0" dirty="0">
                <a:solidFill>
                  <a:srgbClr val="5EC8DE"/>
                </a:solidFill>
                <a:latin typeface="Calibri" pitchFamily="34" charset="0"/>
                <a:ea typeface="Calibri" pitchFamily="34" charset="-122"/>
                <a:cs typeface="Calibri" pitchFamily="34" charset="-120"/>
              </a:rPr>
              <a:t>5 · RESEARCH AND REFERENCES</a:t>
            </a:r>
            <a:endParaRPr lang="en-US" sz="1000" dirty="0"/>
          </a:p>
        </p:txBody>
      </p:sp>
      <p:sp>
        <p:nvSpPr>
          <p:cNvPr id="3" name="Text 1"/>
          <p:cNvSpPr txBox="1"/>
          <p:nvPr/>
        </p:nvSpPr>
        <p:spPr>
          <a:xfrm>
            <a:off x="548640" y="475488"/>
            <a:ext cx="11064240" cy="804672"/>
          </a:xfrm>
          <a:prstGeom prst="rect">
            <a:avLst/>
          </a:prstGeom>
          <a:noFill/>
          <a:ln/>
        </p:spPr>
        <p:txBody>
          <a:bodyPr wrap="square" lIns="0" tIns="0" rIns="0" bIns="0" rtlCol="0" anchor="t"/>
          <a:lstStyle/>
          <a:p>
            <a:pPr indent="0" marL="0">
              <a:buNone/>
            </a:pPr>
            <a:r>
              <a:rPr lang="en-US" sz="2500" b="1" dirty="0">
                <a:solidFill>
                  <a:srgbClr val="FFFFFF"/>
                </a:solidFill>
                <a:latin typeface="Cambria" pitchFamily="34" charset="0"/>
                <a:ea typeface="Cambria" pitchFamily="34" charset="-122"/>
                <a:cs typeface="Cambria" pitchFamily="34" charset="-120"/>
              </a:rPr>
              <a:t>Built on standards.  Validated against real traffic.</a:t>
            </a:r>
            <a:endParaRPr lang="en-US" sz="2500" dirty="0"/>
          </a:p>
        </p:txBody>
      </p:sp>
      <p:sp>
        <p:nvSpPr>
          <p:cNvPr id="4" name="Shape 2"/>
          <p:cNvSpPr/>
          <p:nvPr/>
        </p:nvSpPr>
        <p:spPr>
          <a:xfrm>
            <a:off x="548640" y="1371600"/>
            <a:ext cx="3505200" cy="3703320"/>
          </a:xfrm>
          <a:prstGeom prst="roundRect">
            <a:avLst>
              <a:gd name="adj" fmla="val 1565"/>
            </a:avLst>
          </a:prstGeom>
          <a:solidFill>
            <a:srgbClr val="1C3050"/>
          </a:solidFill>
          <a:ln w="12700">
            <a:solidFill>
              <a:srgbClr val="1A6E85"/>
            </a:solidFill>
            <a:prstDash val="solid"/>
          </a:ln>
        </p:spPr>
      </p:sp>
      <p:sp>
        <p:nvSpPr>
          <p:cNvPr id="5" name="Text 3"/>
          <p:cNvSpPr txBox="1"/>
          <p:nvPr/>
        </p:nvSpPr>
        <p:spPr>
          <a:xfrm>
            <a:off x="749808" y="1481328"/>
            <a:ext cx="3102864" cy="256032"/>
          </a:xfrm>
          <a:prstGeom prst="rect">
            <a:avLst/>
          </a:prstGeom>
          <a:noFill/>
          <a:ln/>
        </p:spPr>
        <p:txBody>
          <a:bodyPr wrap="square" lIns="0" tIns="0" rIns="0" bIns="0" rtlCol="0" anchor="ctr"/>
          <a:lstStyle/>
          <a:p>
            <a:pPr indent="0" marL="0">
              <a:buNone/>
            </a:pPr>
            <a:r>
              <a:rPr lang="en-US" sz="1100" b="1" spc="150" kern="0" dirty="0">
                <a:solidFill>
                  <a:srgbClr val="5EC8DE"/>
                </a:solidFill>
                <a:latin typeface="Calibri" pitchFamily="34" charset="0"/>
                <a:ea typeface="Calibri" pitchFamily="34" charset="-122"/>
                <a:cs typeface="Calibri" pitchFamily="34" charset="-120"/>
              </a:rPr>
              <a:t>STANDARDS</a:t>
            </a:r>
            <a:endParaRPr lang="en-US" sz="1100" dirty="0"/>
          </a:p>
        </p:txBody>
      </p:sp>
      <p:sp>
        <p:nvSpPr>
          <p:cNvPr id="6" name="Text 4"/>
          <p:cNvSpPr txBox="1"/>
          <p:nvPr/>
        </p:nvSpPr>
        <p:spPr>
          <a:xfrm>
            <a:off x="749808" y="1783080"/>
            <a:ext cx="3102864" cy="3154680"/>
          </a:xfrm>
          <a:prstGeom prst="rect">
            <a:avLst/>
          </a:prstGeom>
          <a:noFill/>
          <a:ln/>
        </p:spPr>
        <p:txBody>
          <a:bodyPr wrap="square" lIns="0" tIns="0" rIns="0" bIns="0" rtlCol="0" anchor="ctr"/>
          <a:lstStyle/>
          <a:p>
            <a:pPr marL="342900" indent="-342900">
              <a:lnSpc>
                <a:spcPct val="102000"/>
              </a:lnSpc>
              <a:spcAft>
                <a:spcPts val="600"/>
              </a:spcAft>
              <a:buSzPct val="100000"/>
              <a:buChar char="•"/>
            </a:pPr>
            <a:r>
              <a:rPr lang="en-US" sz="900" dirty="0">
                <a:solidFill>
                  <a:srgbClr val="D6E2EA"/>
                </a:solidFill>
                <a:latin typeface="Calibri" pitchFamily="34" charset="0"/>
                <a:ea typeface="Calibri" pitchFamily="34" charset="-122"/>
                <a:cs typeface="Calibri" pitchFamily="34" charset="-120"/>
              </a:rPr>
              <a:t>OCSF — Open Cybersecurity Schema Framework (Linux Foundation). Our alert schema: class 2004 Detection Finding</a:t>
            </a:r>
            <a:endParaRPr lang="en-US" sz="900" dirty="0"/>
          </a:p>
          <a:p>
            <a:pPr marL="342900" indent="-342900">
              <a:lnSpc>
                <a:spcPct val="102000"/>
              </a:lnSpc>
              <a:spcAft>
                <a:spcPts val="600"/>
              </a:spcAft>
              <a:buSzPct val="100000"/>
              <a:buChar char="•"/>
            </a:pPr>
            <a:r>
              <a:rPr lang="en-US" sz="900" dirty="0">
                <a:solidFill>
                  <a:srgbClr val="D6E2EA"/>
                </a:solidFill>
                <a:latin typeface="Calibri" pitchFamily="34" charset="0"/>
                <a:ea typeface="Calibri" pitchFamily="34" charset="-122"/>
                <a:cs typeface="Calibri" pitchFamily="34" charset="-120"/>
              </a:rPr>
              <a:t>JA4 / JA4+ — FoxIO TLS fingerprinting. Core JA4 is BSD-3-Clause and ships by default; JA4+ is FoxIO Licence 1.1 — government internal use permitted, monetisation restricted, patent-pending</a:t>
            </a:r>
            <a:endParaRPr lang="en-US" sz="900" dirty="0"/>
          </a:p>
          <a:p>
            <a:pPr marL="342900" indent="-342900">
              <a:lnSpc>
                <a:spcPct val="102000"/>
              </a:lnSpc>
              <a:spcAft>
                <a:spcPts val="600"/>
              </a:spcAft>
              <a:buSzPct val="100000"/>
              <a:buChar char="•"/>
            </a:pPr>
            <a:r>
              <a:rPr lang="en-US" sz="900" dirty="0">
                <a:solidFill>
                  <a:srgbClr val="D6E2EA"/>
                </a:solidFill>
                <a:latin typeface="Calibri" pitchFamily="34" charset="0"/>
                <a:ea typeface="Calibri" pitchFamily="34" charset="-122"/>
                <a:cs typeface="Calibri" pitchFamily="34" charset="-120"/>
              </a:rPr>
              <a:t>IPFIX (RFC 7011) · NetFlow v9 · sFlow — ingest modes</a:t>
            </a:r>
            <a:endParaRPr lang="en-US" sz="900" dirty="0"/>
          </a:p>
          <a:p>
            <a:pPr marL="342900" indent="-342900">
              <a:lnSpc>
                <a:spcPct val="102000"/>
              </a:lnSpc>
              <a:spcAft>
                <a:spcPts val="600"/>
              </a:spcAft>
              <a:buSzPct val="100000"/>
              <a:buChar char="•"/>
            </a:pPr>
            <a:r>
              <a:rPr lang="en-US" sz="900" dirty="0">
                <a:solidFill>
                  <a:srgbClr val="D6E2EA"/>
                </a:solidFill>
                <a:latin typeface="Calibri" pitchFamily="34" charset="0"/>
                <a:ea typeface="Calibri" pitchFamily="34" charset="-122"/>
                <a:cs typeface="Calibri" pitchFamily="34" charset="-120"/>
              </a:rPr>
              <a:t>MITRE ATT&amp;CK — kill-chain stage mapping</a:t>
            </a:r>
            <a:endParaRPr lang="en-US" sz="900" dirty="0"/>
          </a:p>
          <a:p>
            <a:pPr marL="342900" indent="-342900">
              <a:lnSpc>
                <a:spcPct val="102000"/>
              </a:lnSpc>
              <a:spcAft>
                <a:spcPts val="600"/>
              </a:spcAft>
              <a:buSzPct val="100000"/>
              <a:buChar char="•"/>
            </a:pPr>
            <a:r>
              <a:rPr lang="en-US" sz="900" dirty="0">
                <a:solidFill>
                  <a:srgbClr val="D6E2EA"/>
                </a:solidFill>
                <a:latin typeface="Calibri" pitchFamily="34" charset="0"/>
                <a:ea typeface="Calibri" pitchFamily="34" charset="-122"/>
                <a:cs typeface="Calibri" pitchFamily="34" charset="-120"/>
              </a:rPr>
              <a:t>Zeek · Suricata — parser oracle and comparison baselines</a:t>
            </a:r>
            <a:endParaRPr lang="en-US" sz="900" dirty="0"/>
          </a:p>
        </p:txBody>
      </p:sp>
      <p:sp>
        <p:nvSpPr>
          <p:cNvPr id="7" name="Shape 5"/>
          <p:cNvSpPr/>
          <p:nvPr/>
        </p:nvSpPr>
        <p:spPr>
          <a:xfrm>
            <a:off x="4328160" y="1371600"/>
            <a:ext cx="3505200" cy="3703320"/>
          </a:xfrm>
          <a:prstGeom prst="roundRect">
            <a:avLst>
              <a:gd name="adj" fmla="val 1565"/>
            </a:avLst>
          </a:prstGeom>
          <a:solidFill>
            <a:srgbClr val="1C3050"/>
          </a:solidFill>
          <a:ln w="12700">
            <a:solidFill>
              <a:srgbClr val="1A6E85"/>
            </a:solidFill>
            <a:prstDash val="solid"/>
          </a:ln>
        </p:spPr>
      </p:sp>
      <p:sp>
        <p:nvSpPr>
          <p:cNvPr id="8" name="Text 6"/>
          <p:cNvSpPr txBox="1"/>
          <p:nvPr/>
        </p:nvSpPr>
        <p:spPr>
          <a:xfrm>
            <a:off x="4529328" y="1481328"/>
            <a:ext cx="3102864" cy="256032"/>
          </a:xfrm>
          <a:prstGeom prst="rect">
            <a:avLst/>
          </a:prstGeom>
          <a:noFill/>
          <a:ln/>
        </p:spPr>
        <p:txBody>
          <a:bodyPr wrap="square" lIns="0" tIns="0" rIns="0" bIns="0" rtlCol="0" anchor="ctr"/>
          <a:lstStyle/>
          <a:p>
            <a:pPr indent="0" marL="0">
              <a:buNone/>
            </a:pPr>
            <a:r>
              <a:rPr lang="en-US" sz="1100" b="1" spc="150" kern="0" dirty="0">
                <a:solidFill>
                  <a:srgbClr val="5EC8DE"/>
                </a:solidFill>
                <a:latin typeface="Calibri" pitchFamily="34" charset="0"/>
                <a:ea typeface="Calibri" pitchFamily="34" charset="-122"/>
                <a:cs typeface="Calibri" pitchFamily="34" charset="-120"/>
              </a:rPr>
              <a:t>TECHNIQUES</a:t>
            </a:r>
            <a:endParaRPr lang="en-US" sz="1100" dirty="0"/>
          </a:p>
        </p:txBody>
      </p:sp>
      <p:sp>
        <p:nvSpPr>
          <p:cNvPr id="9" name="Text 7"/>
          <p:cNvSpPr txBox="1"/>
          <p:nvPr/>
        </p:nvSpPr>
        <p:spPr>
          <a:xfrm>
            <a:off x="4529328" y="1783080"/>
            <a:ext cx="3102864" cy="3154680"/>
          </a:xfrm>
          <a:prstGeom prst="rect">
            <a:avLst/>
          </a:prstGeom>
          <a:noFill/>
          <a:ln/>
        </p:spPr>
        <p:txBody>
          <a:bodyPr wrap="square" lIns="0" tIns="0" rIns="0" bIns="0" rtlCol="0" anchor="ctr"/>
          <a:lstStyle/>
          <a:p>
            <a:pPr marL="342900" indent="-342900">
              <a:lnSpc>
                <a:spcPct val="102000"/>
              </a:lnSpc>
              <a:spcAft>
                <a:spcPts val="600"/>
              </a:spcAft>
              <a:buSzPct val="100000"/>
              <a:buChar char="•"/>
            </a:pPr>
            <a:r>
              <a:rPr lang="en-US" sz="900" dirty="0">
                <a:solidFill>
                  <a:srgbClr val="D6E2EA"/>
                </a:solidFill>
                <a:latin typeface="Calibri" pitchFamily="34" charset="0"/>
                <a:ea typeface="Calibri" pitchFamily="34" charset="-122"/>
                <a:cs typeface="Calibri" pitchFamily="34" charset="-120"/>
              </a:rPr>
              <a:t>Count-Min Sketch (Cormode &amp; Muthukrishnan) — bounded-memory frequency</a:t>
            </a:r>
            <a:endParaRPr lang="en-US" sz="900" dirty="0"/>
          </a:p>
          <a:p>
            <a:pPr marL="342900" indent="-342900">
              <a:lnSpc>
                <a:spcPct val="102000"/>
              </a:lnSpc>
              <a:spcAft>
                <a:spcPts val="600"/>
              </a:spcAft>
              <a:buSzPct val="100000"/>
              <a:buChar char="•"/>
            </a:pPr>
            <a:r>
              <a:rPr lang="en-US" sz="900" dirty="0">
                <a:solidFill>
                  <a:srgbClr val="D6E2EA"/>
                </a:solidFill>
                <a:latin typeface="Calibri" pitchFamily="34" charset="0"/>
                <a:ea typeface="Calibri" pitchFamily="34" charset="-122"/>
                <a:cs typeface="Calibri" pitchFamily="34" charset="-120"/>
              </a:rPr>
              <a:t>HyperLogLog (Flajolet et al.) — bounded-memory fan-out cardinality</a:t>
            </a:r>
            <a:endParaRPr lang="en-US" sz="900" dirty="0"/>
          </a:p>
          <a:p>
            <a:pPr marL="342900" indent="-342900">
              <a:lnSpc>
                <a:spcPct val="102000"/>
              </a:lnSpc>
              <a:spcAft>
                <a:spcPts val="600"/>
              </a:spcAft>
              <a:buSzPct val="100000"/>
              <a:buChar char="•"/>
            </a:pPr>
            <a:r>
              <a:rPr lang="en-US" sz="900" dirty="0">
                <a:solidFill>
                  <a:srgbClr val="D6E2EA"/>
                </a:solidFill>
                <a:latin typeface="Calibri" pitchFamily="34" charset="0"/>
                <a:ea typeface="Calibri" pitchFamily="34" charset="-122"/>
                <a:cs typeface="Calibri" pitchFamily="34" charset="-120"/>
              </a:rPr>
              <a:t>CUSUM change-point detection — rate anomaly without static thresholds</a:t>
            </a:r>
            <a:endParaRPr lang="en-US" sz="900" dirty="0"/>
          </a:p>
          <a:p>
            <a:pPr marL="342900" indent="-342900">
              <a:lnSpc>
                <a:spcPct val="102000"/>
              </a:lnSpc>
              <a:spcAft>
                <a:spcPts val="600"/>
              </a:spcAft>
              <a:buSzPct val="100000"/>
              <a:buChar char="•"/>
            </a:pPr>
            <a:r>
              <a:rPr lang="en-US" sz="900" dirty="0">
                <a:solidFill>
                  <a:srgbClr val="D6E2EA"/>
                </a:solidFill>
                <a:latin typeface="Calibri" pitchFamily="34" charset="0"/>
                <a:ea typeface="Calibri" pitchFamily="34" charset="-122"/>
                <a:cs typeface="Calibri" pitchFamily="34" charset="-120"/>
              </a:rPr>
              <a:t>Bowley skewness + MAD — jitter-tolerant beacon periodicity</a:t>
            </a:r>
            <a:endParaRPr lang="en-US" sz="900" dirty="0"/>
          </a:p>
          <a:p>
            <a:pPr marL="342900" indent="-342900">
              <a:lnSpc>
                <a:spcPct val="102000"/>
              </a:lnSpc>
              <a:spcAft>
                <a:spcPts val="600"/>
              </a:spcAft>
              <a:buSzPct val="100000"/>
              <a:buChar char="•"/>
            </a:pPr>
            <a:r>
              <a:rPr lang="en-US" sz="900" dirty="0">
                <a:solidFill>
                  <a:srgbClr val="D6E2EA"/>
                </a:solidFill>
                <a:latin typeface="Calibri" pitchFamily="34" charset="0"/>
                <a:ea typeface="Calibri" pitchFamily="34" charset="-122"/>
                <a:cs typeface="Calibri" pitchFamily="34" charset="-120"/>
              </a:rPr>
              <a:t>Isotonic calibration · Expected Calibration Error</a:t>
            </a:r>
            <a:endParaRPr lang="en-US" sz="900" dirty="0"/>
          </a:p>
          <a:p>
            <a:pPr marL="342900" indent="-342900">
              <a:lnSpc>
                <a:spcPct val="102000"/>
              </a:lnSpc>
              <a:spcAft>
                <a:spcPts val="600"/>
              </a:spcAft>
              <a:buSzPct val="100000"/>
              <a:buChar char="•"/>
            </a:pPr>
            <a:r>
              <a:rPr lang="en-US" sz="900" dirty="0">
                <a:solidFill>
                  <a:srgbClr val="D6E2EA"/>
                </a:solidFill>
                <a:latin typeface="Calibri" pitchFamily="34" charset="0"/>
                <a:ea typeface="Calibri" pitchFamily="34" charset="-122"/>
                <a:cs typeface="Calibri" pitchFamily="34" charset="-120"/>
              </a:rPr>
              <a:t>TreeSHAP (Lundberg &amp; Lee) — per-alert evidence attribution</a:t>
            </a:r>
            <a:endParaRPr lang="en-US" sz="900" dirty="0"/>
          </a:p>
          <a:p>
            <a:pPr marL="342900" indent="-342900">
              <a:lnSpc>
                <a:spcPct val="102000"/>
              </a:lnSpc>
              <a:spcAft>
                <a:spcPts val="600"/>
              </a:spcAft>
              <a:buSzPct val="100000"/>
              <a:buChar char="•"/>
            </a:pPr>
            <a:r>
              <a:rPr lang="en-US" sz="900" dirty="0">
                <a:solidFill>
                  <a:srgbClr val="D6E2EA"/>
                </a:solidFill>
                <a:latin typeface="Calibri" pitchFamily="34" charset="0"/>
                <a:ea typeface="Calibri" pitchFamily="34" charset="-122"/>
                <a:cs typeface="Calibri" pitchFamily="34" charset="-120"/>
              </a:rPr>
              <a:t>Merkle hash chains — tamper-evident custody</a:t>
            </a:r>
            <a:endParaRPr lang="en-US" sz="900" dirty="0"/>
          </a:p>
        </p:txBody>
      </p:sp>
      <p:sp>
        <p:nvSpPr>
          <p:cNvPr id="10" name="Shape 8"/>
          <p:cNvSpPr/>
          <p:nvPr/>
        </p:nvSpPr>
        <p:spPr>
          <a:xfrm>
            <a:off x="8107680" y="1371600"/>
            <a:ext cx="3505200" cy="3703320"/>
          </a:xfrm>
          <a:prstGeom prst="roundRect">
            <a:avLst>
              <a:gd name="adj" fmla="val 1565"/>
            </a:avLst>
          </a:prstGeom>
          <a:solidFill>
            <a:srgbClr val="1C3050"/>
          </a:solidFill>
          <a:ln w="12700">
            <a:solidFill>
              <a:srgbClr val="1A6E85"/>
            </a:solidFill>
            <a:prstDash val="solid"/>
          </a:ln>
        </p:spPr>
      </p:sp>
      <p:sp>
        <p:nvSpPr>
          <p:cNvPr id="11" name="Text 9"/>
          <p:cNvSpPr txBox="1"/>
          <p:nvPr/>
        </p:nvSpPr>
        <p:spPr>
          <a:xfrm>
            <a:off x="8308848" y="1481328"/>
            <a:ext cx="3102864" cy="256032"/>
          </a:xfrm>
          <a:prstGeom prst="rect">
            <a:avLst/>
          </a:prstGeom>
          <a:noFill/>
          <a:ln/>
        </p:spPr>
        <p:txBody>
          <a:bodyPr wrap="square" lIns="0" tIns="0" rIns="0" bIns="0" rtlCol="0" anchor="ctr"/>
          <a:lstStyle/>
          <a:p>
            <a:pPr indent="0" marL="0">
              <a:buNone/>
            </a:pPr>
            <a:r>
              <a:rPr lang="en-US" sz="1100" b="1" spc="150" kern="0" dirty="0">
                <a:solidFill>
                  <a:srgbClr val="5EC8DE"/>
                </a:solidFill>
                <a:latin typeface="Calibri" pitchFamily="34" charset="0"/>
                <a:ea typeface="Calibri" pitchFamily="34" charset="-122"/>
                <a:cs typeface="Calibri" pitchFamily="34" charset="-120"/>
              </a:rPr>
              <a:t>DATA</a:t>
            </a:r>
            <a:endParaRPr lang="en-US" sz="1100" dirty="0"/>
          </a:p>
        </p:txBody>
      </p:sp>
      <p:sp>
        <p:nvSpPr>
          <p:cNvPr id="12" name="Text 10"/>
          <p:cNvSpPr txBox="1"/>
          <p:nvPr/>
        </p:nvSpPr>
        <p:spPr>
          <a:xfrm>
            <a:off x="8308848" y="1783080"/>
            <a:ext cx="3102864" cy="3154680"/>
          </a:xfrm>
          <a:prstGeom prst="rect">
            <a:avLst/>
          </a:prstGeom>
          <a:noFill/>
          <a:ln/>
        </p:spPr>
        <p:txBody>
          <a:bodyPr wrap="square" lIns="0" tIns="0" rIns="0" bIns="0" rtlCol="0" anchor="ctr"/>
          <a:lstStyle/>
          <a:p>
            <a:pPr marL="342900" indent="-342900">
              <a:lnSpc>
                <a:spcPct val="102000"/>
              </a:lnSpc>
              <a:spcAft>
                <a:spcPts val="600"/>
              </a:spcAft>
              <a:buSzPct val="100000"/>
              <a:buChar char="•"/>
            </a:pPr>
            <a:r>
              <a:rPr lang="en-US" sz="900" dirty="0">
                <a:solidFill>
                  <a:srgbClr val="D6E2EA"/>
                </a:solidFill>
                <a:latin typeface="Calibri" pitchFamily="34" charset="0"/>
                <a:ea typeface="Calibri" pitchFamily="34" charset="-122"/>
                <a:cs typeface="Calibri" pitchFamily="34" charset="-120"/>
              </a:rPr>
              <a:t>UniFlow-IN (our contribution) — 40 scenarios, paired BI/FWD/REV twins, packet-level labels</a:t>
            </a:r>
            <a:endParaRPr lang="en-US" sz="900" dirty="0"/>
          </a:p>
          <a:p>
            <a:pPr marL="342900" indent="-342900">
              <a:lnSpc>
                <a:spcPct val="102000"/>
              </a:lnSpc>
              <a:spcAft>
                <a:spcPts val="600"/>
              </a:spcAft>
              <a:buSzPct val="100000"/>
              <a:buChar char="•"/>
            </a:pPr>
            <a:r>
              <a:rPr lang="en-US" sz="900" dirty="0">
                <a:solidFill>
                  <a:srgbClr val="D6E2EA"/>
                </a:solidFill>
                <a:latin typeface="Calibri" pitchFamily="34" charset="0"/>
                <a:ea typeface="Calibri" pitchFamily="34" charset="-122"/>
                <a:cs typeface="Calibri" pitchFamily="34" charset="-120"/>
              </a:rPr>
              <a:t>CTU-13 / MalwareCaptureFacility</a:t>
            </a:r>
            <a:endParaRPr lang="en-US" sz="900" dirty="0"/>
          </a:p>
          <a:p>
            <a:pPr marL="342900" indent="-342900">
              <a:lnSpc>
                <a:spcPct val="102000"/>
              </a:lnSpc>
              <a:spcAft>
                <a:spcPts val="600"/>
              </a:spcAft>
              <a:buSzPct val="100000"/>
              <a:buChar char="•"/>
            </a:pPr>
            <a:r>
              <a:rPr lang="en-US" sz="900" dirty="0">
                <a:solidFill>
                  <a:srgbClr val="D6E2EA"/>
                </a:solidFill>
                <a:latin typeface="Calibri" pitchFamily="34" charset="0"/>
                <a:ea typeface="Calibri" pitchFamily="34" charset="-122"/>
                <a:cs typeface="Calibri" pitchFamily="34" charset="-120"/>
              </a:rPr>
              <a:t>malware-traffic-analysis.net</a:t>
            </a:r>
            <a:endParaRPr lang="en-US" sz="900" dirty="0"/>
          </a:p>
          <a:p>
            <a:pPr marL="342900" indent="-342900">
              <a:lnSpc>
                <a:spcPct val="102000"/>
              </a:lnSpc>
              <a:spcAft>
                <a:spcPts val="600"/>
              </a:spcAft>
              <a:buSzPct val="100000"/>
              <a:buChar char="•"/>
            </a:pPr>
            <a:r>
              <a:rPr lang="en-US" sz="900" dirty="0">
                <a:solidFill>
                  <a:srgbClr val="D6E2EA"/>
                </a:solidFill>
                <a:latin typeface="Calibri" pitchFamily="34" charset="0"/>
                <a:ea typeface="Calibri" pitchFamily="34" charset="-122"/>
                <a:cs typeface="Calibri" pitchFamily="34" charset="-120"/>
              </a:rPr>
              <a:t>DGArchive · CIRA-CIC-DoHBrw</a:t>
            </a:r>
            <a:endParaRPr lang="en-US" sz="900" dirty="0"/>
          </a:p>
          <a:p>
            <a:pPr marL="342900" indent="-342900">
              <a:lnSpc>
                <a:spcPct val="102000"/>
              </a:lnSpc>
              <a:spcAft>
                <a:spcPts val="600"/>
              </a:spcAft>
              <a:buSzPct val="100000"/>
              <a:buChar char="•"/>
            </a:pPr>
            <a:r>
              <a:rPr lang="en-US" sz="900" dirty="0">
                <a:solidFill>
                  <a:srgbClr val="D6E2EA"/>
                </a:solidFill>
                <a:latin typeface="Calibri" pitchFamily="34" charset="0"/>
                <a:ea typeface="Calibri" pitchFamily="34" charset="-122"/>
                <a:cs typeface="Calibri" pitchFamily="34" charset="-120"/>
              </a:rPr>
              <a:t>CIC-IDS2017 — comparability only; documented label errors stated</a:t>
            </a:r>
            <a:endParaRPr lang="en-US" sz="900" dirty="0"/>
          </a:p>
        </p:txBody>
      </p:sp>
      <p:sp>
        <p:nvSpPr>
          <p:cNvPr id="13" name="Shape 11"/>
          <p:cNvSpPr/>
          <p:nvPr/>
        </p:nvSpPr>
        <p:spPr>
          <a:xfrm>
            <a:off x="548640" y="5230368"/>
            <a:ext cx="11064240" cy="868680"/>
          </a:xfrm>
          <a:prstGeom prst="roundRect">
            <a:avLst>
              <a:gd name="adj" fmla="val 6316"/>
            </a:avLst>
          </a:prstGeom>
          <a:solidFill>
            <a:srgbClr val="1C3050"/>
          </a:solidFill>
          <a:ln w="15875">
            <a:solidFill>
              <a:srgbClr val="1A6E85"/>
            </a:solidFill>
            <a:prstDash val="solid"/>
          </a:ln>
        </p:spPr>
      </p:sp>
      <p:sp>
        <p:nvSpPr>
          <p:cNvPr id="14" name="Text 12"/>
          <p:cNvSpPr txBox="1"/>
          <p:nvPr/>
        </p:nvSpPr>
        <p:spPr>
          <a:xfrm>
            <a:off x="777240" y="5321808"/>
            <a:ext cx="3657600" cy="237744"/>
          </a:xfrm>
          <a:prstGeom prst="rect">
            <a:avLst/>
          </a:prstGeom>
          <a:noFill/>
          <a:ln/>
        </p:spPr>
        <p:txBody>
          <a:bodyPr wrap="square" lIns="0" tIns="0" rIns="0" bIns="0" rtlCol="0" anchor="ctr"/>
          <a:lstStyle/>
          <a:p>
            <a:pPr indent="0" marL="0">
              <a:buNone/>
            </a:pPr>
            <a:r>
              <a:rPr lang="en-US" sz="1000" b="1" spc="150" kern="0" dirty="0">
                <a:solidFill>
                  <a:srgbClr val="5EC8DE"/>
                </a:solidFill>
                <a:latin typeface="Calibri" pitchFamily="34" charset="0"/>
                <a:ea typeface="Calibri" pitchFamily="34" charset="-122"/>
                <a:cs typeface="Calibri" pitchFamily="34" charset="-120"/>
              </a:rPr>
              <a:t>8 BACKUP SLIDES AVAILABLE</a:t>
            </a:r>
            <a:endParaRPr lang="en-US" sz="1000" dirty="0"/>
          </a:p>
        </p:txBody>
      </p:sp>
      <p:sp>
        <p:nvSpPr>
          <p:cNvPr id="15" name="Text 13"/>
          <p:cNvSpPr txBox="1"/>
          <p:nvPr/>
        </p:nvSpPr>
        <p:spPr>
          <a:xfrm>
            <a:off x="777240" y="5559552"/>
            <a:ext cx="10607040" cy="457200"/>
          </a:xfrm>
          <a:prstGeom prst="rect">
            <a:avLst/>
          </a:prstGeom>
          <a:noFill/>
          <a:ln/>
        </p:spPr>
        <p:txBody>
          <a:bodyPr wrap="square" lIns="0" tIns="0" rIns="0" bIns="0" rtlCol="0" anchor="ctr"/>
          <a:lstStyle/>
          <a:p>
            <a:pPr indent="0" marL="0">
              <a:lnSpc>
                <a:spcPct val="110000"/>
              </a:lnSpc>
              <a:buNone/>
            </a:pPr>
            <a:r>
              <a:rPr lang="en-US" sz="1000" dirty="0">
                <a:solidFill>
                  <a:srgbClr val="D6E2EA"/>
                </a:solidFill>
                <a:latin typeface="Calibri" pitchFamily="34" charset="0"/>
                <a:ea typeface="Calibri" pitchFamily="34" charset="-122"/>
                <a:cs typeface="Calibri" pitchFamily="34" charset="-120"/>
              </a:rPr>
              <a:t>ACK-Shadow proof  ·  Egress Lockdown layers  ·  Merkle custody chain  ·  full degradation matrix incl. flow-only mode  ·  evasion break-even points  ·  per-detector feature lists  ·  licence register + SBOM  ·  scale-out design</a:t>
            </a:r>
            <a:endParaRPr lang="en-US" sz="1000" dirty="0"/>
          </a:p>
        </p:txBody>
      </p:sp>
      <p:sp>
        <p:nvSpPr>
          <p:cNvPr id="16" name="Text 14"/>
          <p:cNvSpPr txBox="1"/>
          <p:nvPr/>
        </p:nvSpPr>
        <p:spPr>
          <a:xfrm>
            <a:off x="548640" y="6263640"/>
            <a:ext cx="11064240" cy="256032"/>
          </a:xfrm>
          <a:prstGeom prst="rect">
            <a:avLst/>
          </a:prstGeom>
          <a:noFill/>
          <a:ln/>
        </p:spPr>
        <p:txBody>
          <a:bodyPr wrap="square" lIns="0" tIns="0" rIns="0" bIns="0" rtlCol="0" anchor="ctr"/>
          <a:lstStyle/>
          <a:p>
            <a:pPr algn="ctr" indent="0" marL="0">
              <a:buNone/>
            </a:pPr>
            <a:r>
              <a:rPr lang="en-US" sz="950" dirty="0">
                <a:solidFill>
                  <a:srgbClr val="9AA8B4"/>
                </a:solidFill>
                <a:latin typeface="Calibri" pitchFamily="34" charset="0"/>
                <a:ea typeface="Calibri" pitchFamily="34" charset="-122"/>
                <a:cs typeface="Calibri" pitchFamily="34" charset="-120"/>
              </a:rPr>
              <a:t>Repo  &lt;github link&gt;          Demo video  &lt;link&gt;          UniFlow-IN dataset  &lt;link&gt;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EKADHARA - SIH26145 - NTRO</dc:title>
  <dc:subject>PptxGenJS Presentation</dc:subject>
  <dc:creator>Team EKADHARA</dc:creator>
  <cp:lastModifiedBy>Team EKADHARA</cp:lastModifiedBy>
  <cp:revision>1</cp:revision>
  <dcterms:created xsi:type="dcterms:W3CDTF">2026-09-07T16:31:18Z</dcterms:created>
  <dcterms:modified xsi:type="dcterms:W3CDTF">2026-09-07T16:31:18Z</dcterms:modified>
</cp:coreProperties>
</file>