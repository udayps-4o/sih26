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875520" y="182880"/>
            <a:ext cx="2103120" cy="41148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21240" y="228600"/>
            <a:ext cx="2011680" cy="320040"/>
          </a:xfrm>
          <a:prstGeom prst="rect">
            <a:avLst/>
          </a:prstGeom>
          <a:noFill/>
        </p:spPr>
        <p:txBody>
          <a:bodyPr wrap="square">
            <a:spAutoFit/>
          </a:bodyPr>
          <a:lstStyle/>
          <a:p>
            <a:pPr algn="r"/>
            <a:r>
              <a:rPr sz="900" b="0" i="0">
                <a:solidFill>
                  <a:srgbClr val="94A3B8"/>
                </a:solidFill>
                <a:latin typeface="Calibri"/>
              </a:rPr>
              <a:t>SIH 2026  ·  Problem ID 26099</a:t>
            </a:r>
          </a:p>
        </p:txBody>
      </p:sp>
      <p:sp>
        <p:nvSpPr>
          <p:cNvPr id="6" name="Rectangle 5"/>
          <p:cNvSpPr/>
          <p:nvPr/>
        </p:nvSpPr>
        <p:spPr>
          <a:xfrm>
            <a:off x="365760" y="274320"/>
            <a:ext cx="1645920" cy="109728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365760"/>
            <a:ext cx="1554480" cy="502920"/>
          </a:xfrm>
          <a:prstGeom prst="rect">
            <a:avLst/>
          </a:prstGeom>
          <a:noFill/>
        </p:spPr>
        <p:txBody>
          <a:bodyPr wrap="square">
            <a:spAutoFit/>
          </a:bodyPr>
          <a:lstStyle/>
          <a:p>
            <a:pPr algn="l"/>
            <a:r>
              <a:rPr sz="2200" b="1" i="0">
                <a:solidFill>
                  <a:srgbClr val="D946EF"/>
                </a:solidFill>
                <a:latin typeface="Calibri"/>
              </a:rPr>
              <a:t>NUMMF</a:t>
            </a:r>
          </a:p>
        </p:txBody>
      </p:sp>
      <p:sp>
        <p:nvSpPr>
          <p:cNvPr id="8" name="TextBox 7"/>
          <p:cNvSpPr txBox="1"/>
          <p:nvPr/>
        </p:nvSpPr>
        <p:spPr>
          <a:xfrm>
            <a:off x="411480" y="822960"/>
            <a:ext cx="1554480" cy="411480"/>
          </a:xfrm>
          <a:prstGeom prst="rect">
            <a:avLst/>
          </a:prstGeom>
          <a:noFill/>
        </p:spPr>
        <p:txBody>
          <a:bodyPr wrap="square">
            <a:spAutoFit/>
          </a:bodyPr>
          <a:lstStyle/>
          <a:p>
            <a:pPr algn="l"/>
            <a:r>
              <a:rPr sz="900" b="0" i="0">
                <a:solidFill>
                  <a:srgbClr val="94A3B8"/>
                </a:solidFill>
                <a:latin typeface="Calibri"/>
              </a:rPr>
              <a:t>National Unified
Material Master
Framework</a:t>
            </a:r>
          </a:p>
        </p:txBody>
      </p:sp>
      <p:sp>
        <p:nvSpPr>
          <p:cNvPr id="9" name="TextBox 8"/>
          <p:cNvSpPr txBox="1"/>
          <p:nvPr/>
        </p:nvSpPr>
        <p:spPr>
          <a:xfrm>
            <a:off x="2286000" y="2011680"/>
            <a:ext cx="7589520" cy="1097280"/>
          </a:xfrm>
          <a:prstGeom prst="rect">
            <a:avLst/>
          </a:prstGeom>
          <a:noFill/>
        </p:spPr>
        <p:txBody>
          <a:bodyPr wrap="square">
            <a:spAutoFit/>
          </a:bodyPr>
          <a:lstStyle/>
          <a:p>
            <a:pPr algn="ctr"/>
            <a:r>
              <a:rPr sz="5800" b="1" i="0">
                <a:solidFill>
                  <a:srgbClr val="FFFFFF"/>
                </a:solidFill>
                <a:latin typeface="Calibri"/>
              </a:rPr>
              <a:t>One Nation,</a:t>
            </a:r>
          </a:p>
        </p:txBody>
      </p:sp>
      <p:sp>
        <p:nvSpPr>
          <p:cNvPr id="10" name="TextBox 9"/>
          <p:cNvSpPr txBox="1"/>
          <p:nvPr/>
        </p:nvSpPr>
        <p:spPr>
          <a:xfrm>
            <a:off x="2286000" y="2926080"/>
            <a:ext cx="7589520" cy="914400"/>
          </a:xfrm>
          <a:prstGeom prst="rect">
            <a:avLst/>
          </a:prstGeom>
          <a:noFill/>
        </p:spPr>
        <p:txBody>
          <a:bodyPr wrap="square">
            <a:spAutoFit/>
          </a:bodyPr>
          <a:lstStyle/>
          <a:p>
            <a:pPr algn="ctr"/>
            <a:r>
              <a:rPr sz="5800" b="1" i="0">
                <a:solidFill>
                  <a:srgbClr val="D946EF"/>
                </a:solidFill>
                <a:latin typeface="Calibri"/>
              </a:rPr>
              <a:t>One Material Code</a:t>
            </a:r>
          </a:p>
        </p:txBody>
      </p:sp>
      <p:sp>
        <p:nvSpPr>
          <p:cNvPr id="11" name="TextBox 10"/>
          <p:cNvSpPr txBox="1"/>
          <p:nvPr/>
        </p:nvSpPr>
        <p:spPr>
          <a:xfrm>
            <a:off x="2743200" y="4023360"/>
            <a:ext cx="6675120" cy="640080"/>
          </a:xfrm>
          <a:prstGeom prst="rect">
            <a:avLst/>
          </a:prstGeom>
          <a:noFill/>
        </p:spPr>
        <p:txBody>
          <a:bodyPr wrap="square">
            <a:spAutoFit/>
          </a:bodyPr>
          <a:lstStyle/>
          <a:p>
            <a:pPr algn="ctr"/>
            <a:r>
              <a:rPr sz="1800" b="0" i="1">
                <a:solidFill>
                  <a:srgbClr val="94A3B8"/>
                </a:solidFill>
                <a:latin typeface="Calibri"/>
              </a:rPr>
              <a:t>AI-driven standardization across material records from CPSEs</a:t>
            </a:r>
          </a:p>
        </p:txBody>
      </p:sp>
      <p:sp>
        <p:nvSpPr>
          <p:cNvPr id="12" name="TextBox 11"/>
          <p:cNvSpPr txBox="1"/>
          <p:nvPr/>
        </p:nvSpPr>
        <p:spPr>
          <a:xfrm>
            <a:off x="3200400" y="4663440"/>
            <a:ext cx="5760720" cy="457200"/>
          </a:xfrm>
          <a:prstGeom prst="rect">
            <a:avLst/>
          </a:prstGeom>
          <a:noFill/>
        </p:spPr>
        <p:txBody>
          <a:bodyPr wrap="square">
            <a:spAutoFit/>
          </a:bodyPr>
          <a:lstStyle/>
          <a:p>
            <a:pPr algn="ctr"/>
            <a:r>
              <a:rPr sz="1400" b="0" i="0">
                <a:solidFill>
                  <a:srgbClr val="3B82F6"/>
                </a:solidFill>
                <a:latin typeface="Calibri"/>
              </a:rPr>
              <a:t>Normalize · Match · Assign · Harmonize</a:t>
            </a:r>
          </a:p>
        </p:txBody>
      </p:sp>
      <p:sp>
        <p:nvSpPr>
          <p:cNvPr id="13" name="Rectangle 12"/>
          <p:cNvSpPr/>
          <p:nvPr/>
        </p:nvSpPr>
        <p:spPr>
          <a:xfrm>
            <a:off x="5029200" y="5394960"/>
            <a:ext cx="2103120" cy="64008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5440680"/>
            <a:ext cx="2103120" cy="548640"/>
          </a:xfrm>
          <a:prstGeom prst="rect">
            <a:avLst/>
          </a:prstGeom>
          <a:noFill/>
        </p:spPr>
        <p:txBody>
          <a:bodyPr wrap="square">
            <a:spAutoFit/>
          </a:bodyPr>
          <a:lstStyle/>
          <a:p>
            <a:pPr algn="ctr"/>
            <a:r>
              <a:rPr sz="1400" b="1" i="0">
                <a:solidFill>
                  <a:srgbClr val="FFFFFF"/>
                </a:solidFill>
                <a:latin typeface="Calibri"/>
              </a:rPr>
              <a:t>▶   START DEMO</a:t>
            </a:r>
          </a:p>
        </p:txBody>
      </p:sp>
      <p:sp>
        <p:nvSpPr>
          <p:cNvPr id="15" name="Rectangle 14"/>
          <p:cNvSpPr/>
          <p:nvPr/>
        </p:nvSpPr>
        <p:spPr>
          <a:xfrm>
            <a:off x="2560320" y="6309360"/>
            <a:ext cx="1645920" cy="274320"/>
          </a:xfrm>
          <a:prstGeom prst="rect">
            <a:avLst/>
          </a:prstGeom>
          <a:solidFill>
            <a:srgbClr val="1E3A5F"/>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06040" y="6327648"/>
            <a:ext cx="1554480" cy="228600"/>
          </a:xfrm>
          <a:prstGeom prst="rect">
            <a:avLst/>
          </a:prstGeom>
          <a:noFill/>
        </p:spPr>
        <p:txBody>
          <a:bodyPr wrap="square">
            <a:spAutoFit/>
          </a:bodyPr>
          <a:lstStyle/>
          <a:p>
            <a:pPr algn="ctr"/>
            <a:r>
              <a:rPr sz="800" b="0" i="0">
                <a:solidFill>
                  <a:srgbClr val="94A3B8"/>
                </a:solidFill>
                <a:latin typeface="Calibri"/>
              </a:rPr>
              <a:t>FastAPI</a:t>
            </a:r>
          </a:p>
        </p:txBody>
      </p:sp>
      <p:sp>
        <p:nvSpPr>
          <p:cNvPr id="17" name="Rectangle 16"/>
          <p:cNvSpPr/>
          <p:nvPr/>
        </p:nvSpPr>
        <p:spPr>
          <a:xfrm>
            <a:off x="4343400" y="6309360"/>
            <a:ext cx="1645920" cy="274320"/>
          </a:xfrm>
          <a:prstGeom prst="rect">
            <a:avLst/>
          </a:prstGeom>
          <a:solidFill>
            <a:srgbClr val="1E3A5F"/>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6327648"/>
            <a:ext cx="1554480" cy="228600"/>
          </a:xfrm>
          <a:prstGeom prst="rect">
            <a:avLst/>
          </a:prstGeom>
          <a:noFill/>
        </p:spPr>
        <p:txBody>
          <a:bodyPr wrap="square">
            <a:spAutoFit/>
          </a:bodyPr>
          <a:lstStyle/>
          <a:p>
            <a:pPr algn="ctr"/>
            <a:r>
              <a:rPr sz="800" b="0" i="0">
                <a:solidFill>
                  <a:srgbClr val="94A3B8"/>
                </a:solidFill>
                <a:latin typeface="Calibri"/>
              </a:rPr>
              <a:t>React + TS</a:t>
            </a:r>
          </a:p>
        </p:txBody>
      </p:sp>
      <p:sp>
        <p:nvSpPr>
          <p:cNvPr id="19" name="Rectangle 18"/>
          <p:cNvSpPr/>
          <p:nvPr/>
        </p:nvSpPr>
        <p:spPr>
          <a:xfrm>
            <a:off x="6126480" y="6309360"/>
            <a:ext cx="1645920" cy="274320"/>
          </a:xfrm>
          <a:prstGeom prst="rect">
            <a:avLst/>
          </a:prstGeom>
          <a:solidFill>
            <a:srgbClr val="1E3A5F"/>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6327648"/>
            <a:ext cx="1554480" cy="228600"/>
          </a:xfrm>
          <a:prstGeom prst="rect">
            <a:avLst/>
          </a:prstGeom>
          <a:noFill/>
        </p:spPr>
        <p:txBody>
          <a:bodyPr wrap="square">
            <a:spAutoFit/>
          </a:bodyPr>
          <a:lstStyle/>
          <a:p>
            <a:pPr algn="ctr"/>
            <a:r>
              <a:rPr sz="800" b="0" i="0">
                <a:solidFill>
                  <a:srgbClr val="94A3B8"/>
                </a:solidFill>
                <a:latin typeface="Calibri"/>
              </a:rPr>
              <a:t>sentence-transformers</a:t>
            </a:r>
          </a:p>
        </p:txBody>
      </p:sp>
      <p:sp>
        <p:nvSpPr>
          <p:cNvPr id="21" name="Rectangle 20"/>
          <p:cNvSpPr/>
          <p:nvPr/>
        </p:nvSpPr>
        <p:spPr>
          <a:xfrm>
            <a:off x="7909560" y="6309360"/>
            <a:ext cx="1645920" cy="274320"/>
          </a:xfrm>
          <a:prstGeom prst="rect">
            <a:avLst/>
          </a:prstGeom>
          <a:solidFill>
            <a:srgbClr val="1E3A5F"/>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0" y="6327648"/>
            <a:ext cx="1554480" cy="228600"/>
          </a:xfrm>
          <a:prstGeom prst="rect">
            <a:avLst/>
          </a:prstGeom>
          <a:noFill/>
        </p:spPr>
        <p:txBody>
          <a:bodyPr wrap="square">
            <a:spAutoFit/>
          </a:bodyPr>
          <a:lstStyle/>
          <a:p>
            <a:pPr algn="ctr"/>
            <a:r>
              <a:rPr sz="800" b="0" i="0">
                <a:solidFill>
                  <a:srgbClr val="94A3B8"/>
                </a:solidFill>
                <a:latin typeface="Calibri"/>
              </a:rPr>
              <a:t>Docker</a:t>
            </a:r>
          </a:p>
        </p:txBody>
      </p:sp>
      <p:sp>
        <p:nvSpPr>
          <p:cNvPr id="23" name="Rectangle 22"/>
          <p:cNvSpPr/>
          <p:nvPr/>
        </p:nvSpPr>
        <p:spPr>
          <a:xfrm>
            <a:off x="9692640" y="6309360"/>
            <a:ext cx="1645920" cy="274320"/>
          </a:xfrm>
          <a:prstGeom prst="rect">
            <a:avLst/>
          </a:prstGeom>
          <a:solidFill>
            <a:srgbClr val="1E3A5F"/>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6327648"/>
            <a:ext cx="1554480" cy="228600"/>
          </a:xfrm>
          <a:prstGeom prst="rect">
            <a:avLst/>
          </a:prstGeom>
          <a:noFill/>
        </p:spPr>
        <p:txBody>
          <a:bodyPr wrap="square">
            <a:spAutoFit/>
          </a:bodyPr>
          <a:lstStyle/>
          <a:p>
            <a:pPr algn="ctr"/>
            <a:r>
              <a:rPr sz="800" b="0" i="0">
                <a:solidFill>
                  <a:srgbClr val="94A3B8"/>
                </a:solidFill>
                <a:latin typeface="Calibri"/>
              </a:rPr>
              <a:t>PostgreSQL</a:t>
            </a:r>
          </a:p>
        </p:txBody>
      </p:sp>
      <p:sp>
        <p:nvSpPr>
          <p:cNvPr id="25" name="TextBox 24"/>
          <p:cNvSpPr txBox="1"/>
          <p:nvPr/>
        </p:nvSpPr>
        <p:spPr>
          <a:xfrm>
            <a:off x="274320" y="6583680"/>
            <a:ext cx="3657600" cy="228600"/>
          </a:xfrm>
          <a:prstGeom prst="rect">
            <a:avLst/>
          </a:prstGeom>
          <a:noFill/>
        </p:spPr>
        <p:txBody>
          <a:bodyPr wrap="square">
            <a:spAutoFit/>
          </a:bodyPr>
          <a:lstStyle/>
          <a:p>
            <a:pPr algn="l"/>
            <a:r>
              <a:rPr sz="900" b="0" i="0">
                <a:solidFill>
                  <a:srgbClr val="475669"/>
                </a:solidFill>
                <a:latin typeface="Calibri"/>
              </a:rPr>
              <a:t>Ministry of Petroleum &amp; Natural Gas  ·  CPCL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The Problem</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11430000" cy="731520"/>
          </a:xfrm>
          <a:prstGeom prst="rect">
            <a:avLst/>
          </a:prstGeom>
          <a:noFill/>
        </p:spPr>
        <p:txBody>
          <a:bodyPr wrap="square">
            <a:spAutoFit/>
          </a:bodyPr>
          <a:lstStyle/>
          <a:p>
            <a:pPr algn="l"/>
            <a:r>
              <a:rPr sz="3200" b="1" i="0">
                <a:solidFill>
                  <a:srgbClr val="FFFFFF"/>
                </a:solidFill>
                <a:latin typeface="Calibri"/>
              </a:rPr>
              <a:t>CPSEs Face Fragmented Material Catalogs</a:t>
            </a:r>
          </a:p>
        </p:txBody>
      </p:sp>
      <p:sp>
        <p:nvSpPr>
          <p:cNvPr id="9" name="Rectangle 8"/>
          <p:cNvSpPr/>
          <p:nvPr/>
        </p:nvSpPr>
        <p:spPr>
          <a:xfrm>
            <a:off x="365760" y="1371600"/>
            <a:ext cx="36576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3474720" cy="320040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920240"/>
            <a:ext cx="3200400" cy="365760"/>
          </a:xfrm>
          <a:prstGeom prst="rect">
            <a:avLst/>
          </a:prstGeom>
          <a:noFill/>
        </p:spPr>
        <p:txBody>
          <a:bodyPr wrap="square">
            <a:spAutoFit/>
          </a:bodyPr>
          <a:lstStyle/>
          <a:p>
            <a:pPr algn="l"/>
            <a:r>
              <a:rPr sz="1800" b="1" i="0">
                <a:solidFill>
                  <a:srgbClr val="3B82F6"/>
                </a:solidFill>
                <a:latin typeface="Calibri"/>
              </a:rPr>
              <a:t>IOCL</a:t>
            </a:r>
          </a:p>
        </p:txBody>
      </p:sp>
      <p:sp>
        <p:nvSpPr>
          <p:cNvPr id="12" name="TextBox 11"/>
          <p:cNvSpPr txBox="1"/>
          <p:nvPr/>
        </p:nvSpPr>
        <p:spPr>
          <a:xfrm>
            <a:off x="594360" y="2331720"/>
            <a:ext cx="3200400" cy="1097280"/>
          </a:xfrm>
          <a:prstGeom prst="rect">
            <a:avLst/>
          </a:prstGeom>
          <a:noFill/>
        </p:spPr>
        <p:txBody>
          <a:bodyPr wrap="square">
            <a:spAutoFit/>
          </a:bodyPr>
          <a:lstStyle/>
          <a:p>
            <a:pPr algn="l"/>
            <a:r>
              <a:rPr sz="1300" b="0" i="0">
                <a:solidFill>
                  <a:srgbClr val="FFFFFF"/>
                </a:solidFill>
                <a:latin typeface="Calibri"/>
              </a:rPr>
              <a:t>Hex Bolt M20x100
SS304 Grade 8.8</a:t>
            </a:r>
          </a:p>
        </p:txBody>
      </p:sp>
      <p:sp>
        <p:nvSpPr>
          <p:cNvPr id="13" name="Rectangle 12"/>
          <p:cNvSpPr/>
          <p:nvPr/>
        </p:nvSpPr>
        <p:spPr>
          <a:xfrm>
            <a:off x="594360" y="3474720"/>
            <a:ext cx="320040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520440"/>
            <a:ext cx="3200400" cy="320040"/>
          </a:xfrm>
          <a:prstGeom prst="rect">
            <a:avLst/>
          </a:prstGeom>
          <a:noFill/>
        </p:spPr>
        <p:txBody>
          <a:bodyPr wrap="square">
            <a:spAutoFit/>
          </a:bodyPr>
          <a:lstStyle/>
          <a:p>
            <a:pPr algn="l"/>
            <a:r>
              <a:rPr sz="1100" b="1" i="0">
                <a:solidFill>
                  <a:srgbClr val="0F172A"/>
                </a:solidFill>
                <a:latin typeface="Calibri"/>
              </a:rPr>
              <a:t>Code: IOCL-HEX-001234</a:t>
            </a:r>
          </a:p>
        </p:txBody>
      </p:sp>
      <p:sp>
        <p:nvSpPr>
          <p:cNvPr id="15" name="Rectangle 14"/>
          <p:cNvSpPr/>
          <p:nvPr/>
        </p:nvSpPr>
        <p:spPr>
          <a:xfrm>
            <a:off x="4297680" y="1828800"/>
            <a:ext cx="3474720" cy="320040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920240"/>
            <a:ext cx="3200400" cy="365760"/>
          </a:xfrm>
          <a:prstGeom prst="rect">
            <a:avLst/>
          </a:prstGeom>
          <a:noFill/>
        </p:spPr>
        <p:txBody>
          <a:bodyPr wrap="square">
            <a:spAutoFit/>
          </a:bodyPr>
          <a:lstStyle/>
          <a:p>
            <a:pPr algn="l"/>
            <a:r>
              <a:rPr sz="1800" b="1" i="0">
                <a:solidFill>
                  <a:srgbClr val="F59E0B"/>
                </a:solidFill>
                <a:latin typeface="Calibri"/>
              </a:rPr>
              <a:t>NTPC</a:t>
            </a:r>
          </a:p>
        </p:txBody>
      </p:sp>
      <p:sp>
        <p:nvSpPr>
          <p:cNvPr id="17" name="TextBox 16"/>
          <p:cNvSpPr txBox="1"/>
          <p:nvPr/>
        </p:nvSpPr>
        <p:spPr>
          <a:xfrm>
            <a:off x="4434840" y="2331720"/>
            <a:ext cx="3200400" cy="1097280"/>
          </a:xfrm>
          <a:prstGeom prst="rect">
            <a:avLst/>
          </a:prstGeom>
          <a:noFill/>
        </p:spPr>
        <p:txBody>
          <a:bodyPr wrap="square">
            <a:spAutoFit/>
          </a:bodyPr>
          <a:lstStyle/>
          <a:p>
            <a:pPr algn="l"/>
            <a:r>
              <a:rPr sz="1300" b="0" i="0">
                <a:solidFill>
                  <a:srgbClr val="FFFFFF"/>
                </a:solidFill>
                <a:latin typeface="Calibri"/>
              </a:rPr>
              <a:t>Hex Bolt M20x100
SS304 Grade 8.8</a:t>
            </a:r>
          </a:p>
        </p:txBody>
      </p:sp>
      <p:sp>
        <p:nvSpPr>
          <p:cNvPr id="18" name="Rectangle 17"/>
          <p:cNvSpPr/>
          <p:nvPr/>
        </p:nvSpPr>
        <p:spPr>
          <a:xfrm>
            <a:off x="4434840" y="3474720"/>
            <a:ext cx="320040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3520440"/>
            <a:ext cx="3200400" cy="320040"/>
          </a:xfrm>
          <a:prstGeom prst="rect">
            <a:avLst/>
          </a:prstGeom>
          <a:noFill/>
        </p:spPr>
        <p:txBody>
          <a:bodyPr wrap="square">
            <a:spAutoFit/>
          </a:bodyPr>
          <a:lstStyle/>
          <a:p>
            <a:pPr algn="l"/>
            <a:r>
              <a:rPr sz="1100" b="1" i="0">
                <a:solidFill>
                  <a:srgbClr val="0F172A"/>
                </a:solidFill>
                <a:latin typeface="Calibri"/>
              </a:rPr>
              <a:t>Code: NT-BOLT-5678</a:t>
            </a:r>
          </a:p>
        </p:txBody>
      </p:sp>
      <p:sp>
        <p:nvSpPr>
          <p:cNvPr id="20" name="Rectangle 19"/>
          <p:cNvSpPr/>
          <p:nvPr/>
        </p:nvSpPr>
        <p:spPr>
          <a:xfrm>
            <a:off x="8138160" y="1828800"/>
            <a:ext cx="3474720" cy="320040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1920240"/>
            <a:ext cx="3200400" cy="365760"/>
          </a:xfrm>
          <a:prstGeom prst="rect">
            <a:avLst/>
          </a:prstGeom>
          <a:noFill/>
        </p:spPr>
        <p:txBody>
          <a:bodyPr wrap="square">
            <a:spAutoFit/>
          </a:bodyPr>
          <a:lstStyle/>
          <a:p>
            <a:pPr algn="l"/>
            <a:r>
              <a:rPr sz="1800" b="1" i="0">
                <a:solidFill>
                  <a:srgbClr val="10B981"/>
                </a:solidFill>
                <a:latin typeface="Calibri"/>
              </a:rPr>
              <a:t>SAIL</a:t>
            </a:r>
          </a:p>
        </p:txBody>
      </p:sp>
      <p:sp>
        <p:nvSpPr>
          <p:cNvPr id="22" name="TextBox 21"/>
          <p:cNvSpPr txBox="1"/>
          <p:nvPr/>
        </p:nvSpPr>
        <p:spPr>
          <a:xfrm>
            <a:off x="8275320" y="2331720"/>
            <a:ext cx="3200400" cy="1097280"/>
          </a:xfrm>
          <a:prstGeom prst="rect">
            <a:avLst/>
          </a:prstGeom>
          <a:noFill/>
        </p:spPr>
        <p:txBody>
          <a:bodyPr wrap="square">
            <a:spAutoFit/>
          </a:bodyPr>
          <a:lstStyle/>
          <a:p>
            <a:pPr algn="l"/>
            <a:r>
              <a:rPr sz="1300" b="0" i="0">
                <a:solidFill>
                  <a:srgbClr val="FFFFFF"/>
                </a:solidFill>
                <a:latin typeface="Calibri"/>
              </a:rPr>
              <a:t>Hexagonal Bolt 20mm
SS304</a:t>
            </a:r>
          </a:p>
        </p:txBody>
      </p:sp>
      <p:sp>
        <p:nvSpPr>
          <p:cNvPr id="23" name="Rectangle 22"/>
          <p:cNvSpPr/>
          <p:nvPr/>
        </p:nvSpPr>
        <p:spPr>
          <a:xfrm>
            <a:off x="8275320" y="3474720"/>
            <a:ext cx="320040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520440"/>
            <a:ext cx="3200400" cy="320040"/>
          </a:xfrm>
          <a:prstGeom prst="rect">
            <a:avLst/>
          </a:prstGeom>
          <a:noFill/>
        </p:spPr>
        <p:txBody>
          <a:bodyPr wrap="square">
            <a:spAutoFit/>
          </a:bodyPr>
          <a:lstStyle/>
          <a:p>
            <a:pPr algn="l"/>
            <a:r>
              <a:rPr sz="1100" b="1" i="0">
                <a:solidFill>
                  <a:srgbClr val="0F172A"/>
                </a:solidFill>
                <a:latin typeface="Calibri"/>
              </a:rPr>
              <a:t>Code: SA-FA-9012</a:t>
            </a:r>
          </a:p>
        </p:txBody>
      </p:sp>
      <p:sp>
        <p:nvSpPr>
          <p:cNvPr id="25" name="TextBox 24"/>
          <p:cNvSpPr txBox="1"/>
          <p:nvPr/>
        </p:nvSpPr>
        <p:spPr>
          <a:xfrm>
            <a:off x="365760" y="5349240"/>
            <a:ext cx="2743200" cy="365760"/>
          </a:xfrm>
          <a:prstGeom prst="rect">
            <a:avLst/>
          </a:prstGeom>
          <a:noFill/>
        </p:spPr>
        <p:txBody>
          <a:bodyPr wrap="square">
            <a:spAutoFit/>
          </a:bodyPr>
          <a:lstStyle/>
          <a:p>
            <a:pPr algn="l"/>
            <a:r>
              <a:rPr sz="1400" b="1" i="0">
                <a:solidFill>
                  <a:srgbClr val="F59E0B"/>
                </a:solidFill>
                <a:latin typeface="Calibri"/>
              </a:rPr>
              <a:t>❌  Impact:</a:t>
            </a:r>
          </a:p>
        </p:txBody>
      </p:sp>
      <p:sp>
        <p:nvSpPr>
          <p:cNvPr id="26" name="Rectangle 25"/>
          <p:cNvSpPr/>
          <p:nvPr/>
        </p:nvSpPr>
        <p:spPr>
          <a:xfrm>
            <a:off x="365760" y="5760720"/>
            <a:ext cx="2743200" cy="502920"/>
          </a:xfrm>
          <a:prstGeom prst="rect">
            <a:avLst/>
          </a:prstGeom>
          <a:solidFill>
            <a:srgbClr val="1A232E"/>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833872"/>
            <a:ext cx="2560320" cy="411480"/>
          </a:xfrm>
          <a:prstGeom prst="rect">
            <a:avLst/>
          </a:prstGeom>
          <a:noFill/>
        </p:spPr>
        <p:txBody>
          <a:bodyPr wrap="square">
            <a:spAutoFit/>
          </a:bodyPr>
          <a:lstStyle/>
          <a:p>
            <a:pPr algn="l"/>
            <a:r>
              <a:rPr sz="1000" b="0" i="0">
                <a:solidFill>
                  <a:srgbClr val="94A3B8"/>
                </a:solidFill>
                <a:latin typeface="Calibri"/>
              </a:rPr>
              <a:t>Duplicate master data across CPSEs</a:t>
            </a:r>
          </a:p>
        </p:txBody>
      </p:sp>
      <p:sp>
        <p:nvSpPr>
          <p:cNvPr id="28" name="Rectangle 27"/>
          <p:cNvSpPr/>
          <p:nvPr/>
        </p:nvSpPr>
        <p:spPr>
          <a:xfrm>
            <a:off x="3246120" y="5760720"/>
            <a:ext cx="2743200" cy="502920"/>
          </a:xfrm>
          <a:prstGeom prst="rect">
            <a:avLst/>
          </a:prstGeom>
          <a:solidFill>
            <a:srgbClr val="1A232E"/>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7560" y="5833872"/>
            <a:ext cx="2560320" cy="411480"/>
          </a:xfrm>
          <a:prstGeom prst="rect">
            <a:avLst/>
          </a:prstGeom>
          <a:noFill/>
        </p:spPr>
        <p:txBody>
          <a:bodyPr wrap="square">
            <a:spAutoFit/>
          </a:bodyPr>
          <a:lstStyle/>
          <a:p>
            <a:pPr algn="l"/>
            <a:r>
              <a:rPr sz="1000" b="0" i="0">
                <a:solidFill>
                  <a:srgbClr val="94A3B8"/>
                </a:solidFill>
                <a:latin typeface="Calibri"/>
              </a:rPr>
              <a:t>No demand aggregation in procurement</a:t>
            </a:r>
          </a:p>
        </p:txBody>
      </p:sp>
      <p:sp>
        <p:nvSpPr>
          <p:cNvPr id="30" name="Rectangle 29"/>
          <p:cNvSpPr/>
          <p:nvPr/>
        </p:nvSpPr>
        <p:spPr>
          <a:xfrm>
            <a:off x="6126480" y="5760720"/>
            <a:ext cx="2743200" cy="502920"/>
          </a:xfrm>
          <a:prstGeom prst="rect">
            <a:avLst/>
          </a:prstGeom>
          <a:solidFill>
            <a:srgbClr val="1A232E"/>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5833872"/>
            <a:ext cx="2560320" cy="411480"/>
          </a:xfrm>
          <a:prstGeom prst="rect">
            <a:avLst/>
          </a:prstGeom>
          <a:noFill/>
        </p:spPr>
        <p:txBody>
          <a:bodyPr wrap="square">
            <a:spAutoFit/>
          </a:bodyPr>
          <a:lstStyle/>
          <a:p>
            <a:pPr algn="l"/>
            <a:r>
              <a:rPr sz="1000" b="0" i="0">
                <a:solidFill>
                  <a:srgbClr val="94A3B8"/>
                </a:solidFill>
                <a:latin typeface="Calibri"/>
              </a:rPr>
              <a:t>Higher inventory carrying costs</a:t>
            </a:r>
          </a:p>
        </p:txBody>
      </p:sp>
      <p:sp>
        <p:nvSpPr>
          <p:cNvPr id="32" name="Rectangle 31"/>
          <p:cNvSpPr/>
          <p:nvPr/>
        </p:nvSpPr>
        <p:spPr>
          <a:xfrm>
            <a:off x="9006840" y="5760720"/>
            <a:ext cx="2743200" cy="502920"/>
          </a:xfrm>
          <a:prstGeom prst="rect">
            <a:avLst/>
          </a:prstGeom>
          <a:solidFill>
            <a:srgbClr val="1A232E"/>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98280" y="5833872"/>
            <a:ext cx="2560320" cy="411480"/>
          </a:xfrm>
          <a:prstGeom prst="rect">
            <a:avLst/>
          </a:prstGeom>
          <a:noFill/>
        </p:spPr>
        <p:txBody>
          <a:bodyPr wrap="square">
            <a:spAutoFit/>
          </a:bodyPr>
          <a:lstStyle/>
          <a:p>
            <a:pPr algn="l"/>
            <a:r>
              <a:rPr sz="1000" b="0" i="0">
                <a:solidFill>
                  <a:srgbClr val="94A3B8"/>
                </a:solidFill>
                <a:latin typeface="Calibri"/>
              </a:rPr>
              <a:t>Slower sourcing &amp; tender preparation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The Solution</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7315200" cy="731520"/>
          </a:xfrm>
          <a:prstGeom prst="rect">
            <a:avLst/>
          </a:prstGeom>
          <a:noFill/>
        </p:spPr>
        <p:txBody>
          <a:bodyPr wrap="square">
            <a:spAutoFit/>
          </a:bodyPr>
          <a:lstStyle/>
          <a:p>
            <a:pPr algn="l"/>
            <a:r>
              <a:rPr sz="3000" b="1" i="0">
                <a:solidFill>
                  <a:srgbClr val="FFFFFF"/>
                </a:solidFill>
                <a:latin typeface="Calibri"/>
              </a:rPr>
              <a:t>NUMMF — AI-Powered Unified Material Master</a:t>
            </a:r>
          </a:p>
        </p:txBody>
      </p:sp>
      <p:sp>
        <p:nvSpPr>
          <p:cNvPr id="9" name="TextBox 8"/>
          <p:cNvSpPr txBox="1"/>
          <p:nvPr/>
        </p:nvSpPr>
        <p:spPr>
          <a:xfrm>
            <a:off x="365760" y="1325880"/>
            <a:ext cx="10972800" cy="365760"/>
          </a:xfrm>
          <a:prstGeom prst="rect">
            <a:avLst/>
          </a:prstGeom>
          <a:noFill/>
        </p:spPr>
        <p:txBody>
          <a:bodyPr wrap="square">
            <a:spAutoFit/>
          </a:bodyPr>
          <a:lstStyle/>
          <a:p>
            <a:pPr algn="l"/>
            <a:r>
              <a:rPr sz="1200" b="0" i="1">
                <a:solidFill>
                  <a:srgbClr val="94A3B8"/>
                </a:solidFill>
                <a:latin typeface="Calibri"/>
              </a:rPr>
              <a:t>Use AI/NLP to find equivalent materials across CPSEs and generate a single Common National Material Code (CNMC)</a:t>
            </a:r>
          </a:p>
        </p:txBody>
      </p:sp>
      <p:sp>
        <p:nvSpPr>
          <p:cNvPr id="10" name="Rectangle 9"/>
          <p:cNvSpPr/>
          <p:nvPr/>
        </p:nvSpPr>
        <p:spPr>
          <a:xfrm>
            <a:off x="365760" y="173736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03120"/>
            <a:ext cx="2651760" cy="137160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103120"/>
            <a:ext cx="502920" cy="13716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713232"/>
            <a:ext cx="365760" cy="457200"/>
          </a:xfrm>
          <a:prstGeom prst="rect">
            <a:avLst/>
          </a:prstGeom>
          <a:noFill/>
        </p:spPr>
        <p:txBody>
          <a:bodyPr wrap="square">
            <a:spAutoFit/>
          </a:bodyPr>
          <a:lstStyle/>
          <a:p>
            <a:pPr algn="l"/>
            <a:r>
              <a:rPr sz="2000" b="1" i="0">
                <a:solidFill>
                  <a:srgbClr val="0F172A"/>
                </a:solidFill>
                <a:latin typeface="Calibri"/>
              </a:rPr>
              <a:t>1</a:t>
            </a:r>
          </a:p>
        </p:txBody>
      </p:sp>
      <p:sp>
        <p:nvSpPr>
          <p:cNvPr id="14" name="TextBox 13"/>
          <p:cNvSpPr txBox="1"/>
          <p:nvPr/>
        </p:nvSpPr>
        <p:spPr>
          <a:xfrm>
            <a:off x="1051560" y="2176272"/>
            <a:ext cx="1920240" cy="365760"/>
          </a:xfrm>
          <a:prstGeom prst="rect">
            <a:avLst/>
          </a:prstGeom>
          <a:noFill/>
        </p:spPr>
        <p:txBody>
          <a:bodyPr wrap="square">
            <a:spAutoFit/>
          </a:bodyPr>
          <a:lstStyle/>
          <a:p>
            <a:pPr algn="l"/>
            <a:r>
              <a:rPr sz="1400" b="1" i="0">
                <a:solidFill>
                  <a:srgbClr val="3B82F6"/>
                </a:solidFill>
                <a:latin typeface="Calibri"/>
              </a:rPr>
              <a:t>INGEST</a:t>
            </a:r>
          </a:p>
        </p:txBody>
      </p:sp>
      <p:sp>
        <p:nvSpPr>
          <p:cNvPr id="15" name="TextBox 14"/>
          <p:cNvSpPr txBox="1"/>
          <p:nvPr/>
        </p:nvSpPr>
        <p:spPr>
          <a:xfrm>
            <a:off x="1051560" y="2542032"/>
            <a:ext cx="1920240" cy="822960"/>
          </a:xfrm>
          <a:prstGeom prst="rect">
            <a:avLst/>
          </a:prstGeom>
          <a:noFill/>
        </p:spPr>
        <p:txBody>
          <a:bodyPr wrap="square">
            <a:spAutoFit/>
          </a:bodyPr>
          <a:lstStyle/>
          <a:p>
            <a:pPr algn="l"/>
            <a:r>
              <a:rPr sz="1100" b="0" i="0">
                <a:solidFill>
                  <a:srgbClr val="94A3B8"/>
                </a:solidFill>
                <a:latin typeface="Calibri"/>
              </a:rPr>
              <a:t>Connect &amp; import
material masters</a:t>
            </a:r>
          </a:p>
        </p:txBody>
      </p:sp>
      <p:sp>
        <p:nvSpPr>
          <p:cNvPr id="16" name="TextBox 15"/>
          <p:cNvSpPr txBox="1"/>
          <p:nvPr/>
        </p:nvSpPr>
        <p:spPr>
          <a:xfrm>
            <a:off x="3154680" y="2697480"/>
            <a:ext cx="228600" cy="365760"/>
          </a:xfrm>
          <a:prstGeom prst="rect">
            <a:avLst/>
          </a:prstGeom>
          <a:noFill/>
        </p:spPr>
        <p:txBody>
          <a:bodyPr wrap="square">
            <a:spAutoFit/>
          </a:bodyPr>
          <a:lstStyle/>
          <a:p>
            <a:pPr algn="ctr"/>
            <a:r>
              <a:rPr sz="2000" b="0" i="0">
                <a:solidFill>
                  <a:srgbClr val="475669"/>
                </a:solidFill>
                <a:latin typeface="Calibri"/>
              </a:rPr>
              <a:t>→</a:t>
            </a:r>
          </a:p>
        </p:txBody>
      </p:sp>
      <p:sp>
        <p:nvSpPr>
          <p:cNvPr id="17" name="Rectangle 16"/>
          <p:cNvSpPr/>
          <p:nvPr/>
        </p:nvSpPr>
        <p:spPr>
          <a:xfrm>
            <a:off x="3337560" y="2103120"/>
            <a:ext cx="2651760" cy="137160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37560" y="2103120"/>
            <a:ext cx="502920" cy="13716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10712" y="713232"/>
            <a:ext cx="365760" cy="457200"/>
          </a:xfrm>
          <a:prstGeom prst="rect">
            <a:avLst/>
          </a:prstGeom>
          <a:noFill/>
        </p:spPr>
        <p:txBody>
          <a:bodyPr wrap="square">
            <a:spAutoFit/>
          </a:bodyPr>
          <a:lstStyle/>
          <a:p>
            <a:pPr algn="l"/>
            <a:r>
              <a:rPr sz="2000" b="1" i="0">
                <a:solidFill>
                  <a:srgbClr val="0F172A"/>
                </a:solidFill>
                <a:latin typeface="Calibri"/>
              </a:rPr>
              <a:t>2</a:t>
            </a:r>
          </a:p>
        </p:txBody>
      </p:sp>
      <p:sp>
        <p:nvSpPr>
          <p:cNvPr id="20" name="TextBox 19"/>
          <p:cNvSpPr txBox="1"/>
          <p:nvPr/>
        </p:nvSpPr>
        <p:spPr>
          <a:xfrm>
            <a:off x="3931920" y="2176272"/>
            <a:ext cx="1920240" cy="365760"/>
          </a:xfrm>
          <a:prstGeom prst="rect">
            <a:avLst/>
          </a:prstGeom>
          <a:noFill/>
        </p:spPr>
        <p:txBody>
          <a:bodyPr wrap="square">
            <a:spAutoFit/>
          </a:bodyPr>
          <a:lstStyle/>
          <a:p>
            <a:pPr algn="l"/>
            <a:r>
              <a:rPr sz="1400" b="1" i="0">
                <a:solidFill>
                  <a:srgbClr val="D946EF"/>
                </a:solidFill>
                <a:latin typeface="Calibri"/>
              </a:rPr>
              <a:t>NORMALIZE</a:t>
            </a:r>
          </a:p>
        </p:txBody>
      </p:sp>
      <p:sp>
        <p:nvSpPr>
          <p:cNvPr id="21" name="TextBox 20"/>
          <p:cNvSpPr txBox="1"/>
          <p:nvPr/>
        </p:nvSpPr>
        <p:spPr>
          <a:xfrm>
            <a:off x="3931920" y="2542032"/>
            <a:ext cx="1920240" cy="822960"/>
          </a:xfrm>
          <a:prstGeom prst="rect">
            <a:avLst/>
          </a:prstGeom>
          <a:noFill/>
        </p:spPr>
        <p:txBody>
          <a:bodyPr wrap="square">
            <a:spAutoFit/>
          </a:bodyPr>
          <a:lstStyle/>
          <a:p>
            <a:pPr algn="l"/>
            <a:r>
              <a:rPr sz="1100" b="0" i="0">
                <a:solidFill>
                  <a:srgbClr val="94A3B8"/>
                </a:solidFill>
                <a:latin typeface="Calibri"/>
              </a:rPr>
              <a:t>Domain-aware
text normalization</a:t>
            </a:r>
          </a:p>
        </p:txBody>
      </p:sp>
      <p:sp>
        <p:nvSpPr>
          <p:cNvPr id="22" name="TextBox 21"/>
          <p:cNvSpPr txBox="1"/>
          <p:nvPr/>
        </p:nvSpPr>
        <p:spPr>
          <a:xfrm>
            <a:off x="6035040" y="2697480"/>
            <a:ext cx="228600" cy="365760"/>
          </a:xfrm>
          <a:prstGeom prst="rect">
            <a:avLst/>
          </a:prstGeom>
          <a:noFill/>
        </p:spPr>
        <p:txBody>
          <a:bodyPr wrap="square">
            <a:spAutoFit/>
          </a:bodyPr>
          <a:lstStyle/>
          <a:p>
            <a:pPr algn="ctr"/>
            <a:r>
              <a:rPr sz="2000" b="0" i="0">
                <a:solidFill>
                  <a:srgbClr val="475669"/>
                </a:solidFill>
                <a:latin typeface="Calibri"/>
              </a:rPr>
              <a:t>→</a:t>
            </a:r>
          </a:p>
        </p:txBody>
      </p:sp>
      <p:sp>
        <p:nvSpPr>
          <p:cNvPr id="23" name="Rectangle 22"/>
          <p:cNvSpPr/>
          <p:nvPr/>
        </p:nvSpPr>
        <p:spPr>
          <a:xfrm>
            <a:off x="6217920" y="2103120"/>
            <a:ext cx="2651760" cy="137160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103120"/>
            <a:ext cx="502920"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1072" y="713232"/>
            <a:ext cx="365760" cy="457200"/>
          </a:xfrm>
          <a:prstGeom prst="rect">
            <a:avLst/>
          </a:prstGeom>
          <a:noFill/>
        </p:spPr>
        <p:txBody>
          <a:bodyPr wrap="square">
            <a:spAutoFit/>
          </a:bodyPr>
          <a:lstStyle/>
          <a:p>
            <a:pPr algn="l"/>
            <a:r>
              <a:rPr sz="2000" b="1" i="0">
                <a:solidFill>
                  <a:srgbClr val="0F172A"/>
                </a:solidFill>
                <a:latin typeface="Calibri"/>
              </a:rPr>
              <a:t>3</a:t>
            </a:r>
          </a:p>
        </p:txBody>
      </p:sp>
      <p:sp>
        <p:nvSpPr>
          <p:cNvPr id="26" name="TextBox 25"/>
          <p:cNvSpPr txBox="1"/>
          <p:nvPr/>
        </p:nvSpPr>
        <p:spPr>
          <a:xfrm>
            <a:off x="6812280" y="2176272"/>
            <a:ext cx="1920240" cy="365760"/>
          </a:xfrm>
          <a:prstGeom prst="rect">
            <a:avLst/>
          </a:prstGeom>
          <a:noFill/>
        </p:spPr>
        <p:txBody>
          <a:bodyPr wrap="square">
            <a:spAutoFit/>
          </a:bodyPr>
          <a:lstStyle/>
          <a:p>
            <a:pPr algn="l"/>
            <a:r>
              <a:rPr sz="1400" b="1" i="0">
                <a:solidFill>
                  <a:srgbClr val="10B981"/>
                </a:solidFill>
                <a:latin typeface="Calibri"/>
              </a:rPr>
              <a:t>AI MATCH</a:t>
            </a:r>
          </a:p>
        </p:txBody>
      </p:sp>
      <p:sp>
        <p:nvSpPr>
          <p:cNvPr id="27" name="TextBox 26"/>
          <p:cNvSpPr txBox="1"/>
          <p:nvPr/>
        </p:nvSpPr>
        <p:spPr>
          <a:xfrm>
            <a:off x="6812280" y="2542032"/>
            <a:ext cx="1920240" cy="822960"/>
          </a:xfrm>
          <a:prstGeom prst="rect">
            <a:avLst/>
          </a:prstGeom>
          <a:noFill/>
        </p:spPr>
        <p:txBody>
          <a:bodyPr wrap="square">
            <a:spAutoFit/>
          </a:bodyPr>
          <a:lstStyle/>
          <a:p>
            <a:pPr algn="l"/>
            <a:r>
              <a:rPr sz="1100" b="0" i="0">
                <a:solidFill>
                  <a:srgbClr val="94A3B8"/>
                </a:solidFill>
                <a:latin typeface="Calibri"/>
              </a:rPr>
              <a:t>4-stage scoring
pipeline</a:t>
            </a:r>
          </a:p>
        </p:txBody>
      </p:sp>
      <p:sp>
        <p:nvSpPr>
          <p:cNvPr id="28" name="TextBox 27"/>
          <p:cNvSpPr txBox="1"/>
          <p:nvPr/>
        </p:nvSpPr>
        <p:spPr>
          <a:xfrm>
            <a:off x="8915400" y="2697480"/>
            <a:ext cx="228600" cy="365760"/>
          </a:xfrm>
          <a:prstGeom prst="rect">
            <a:avLst/>
          </a:prstGeom>
          <a:noFill/>
        </p:spPr>
        <p:txBody>
          <a:bodyPr wrap="square">
            <a:spAutoFit/>
          </a:bodyPr>
          <a:lstStyle/>
          <a:p>
            <a:pPr algn="ctr"/>
            <a:r>
              <a:rPr sz="2000" b="0" i="0">
                <a:solidFill>
                  <a:srgbClr val="475669"/>
                </a:solidFill>
                <a:latin typeface="Calibri"/>
              </a:rPr>
              <a:t>→</a:t>
            </a:r>
          </a:p>
        </p:txBody>
      </p:sp>
      <p:sp>
        <p:nvSpPr>
          <p:cNvPr id="29" name="Rectangle 28"/>
          <p:cNvSpPr/>
          <p:nvPr/>
        </p:nvSpPr>
        <p:spPr>
          <a:xfrm>
            <a:off x="9098280" y="2103120"/>
            <a:ext cx="2651760" cy="137160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98280" y="2103120"/>
            <a:ext cx="502920"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71432" y="713232"/>
            <a:ext cx="365760" cy="457200"/>
          </a:xfrm>
          <a:prstGeom prst="rect">
            <a:avLst/>
          </a:prstGeom>
          <a:noFill/>
        </p:spPr>
        <p:txBody>
          <a:bodyPr wrap="square">
            <a:spAutoFit/>
          </a:bodyPr>
          <a:lstStyle/>
          <a:p>
            <a:pPr algn="l"/>
            <a:r>
              <a:rPr sz="2000" b="1" i="0">
                <a:solidFill>
                  <a:srgbClr val="0F172A"/>
                </a:solidFill>
                <a:latin typeface="Calibri"/>
              </a:rPr>
              <a:t>4</a:t>
            </a:r>
          </a:p>
        </p:txBody>
      </p:sp>
      <p:sp>
        <p:nvSpPr>
          <p:cNvPr id="32" name="TextBox 31"/>
          <p:cNvSpPr txBox="1"/>
          <p:nvPr/>
        </p:nvSpPr>
        <p:spPr>
          <a:xfrm>
            <a:off x="9692640" y="2176272"/>
            <a:ext cx="1920240" cy="365760"/>
          </a:xfrm>
          <a:prstGeom prst="rect">
            <a:avLst/>
          </a:prstGeom>
          <a:noFill/>
        </p:spPr>
        <p:txBody>
          <a:bodyPr wrap="square">
            <a:spAutoFit/>
          </a:bodyPr>
          <a:lstStyle/>
          <a:p>
            <a:pPr algn="l"/>
            <a:r>
              <a:rPr sz="1400" b="1" i="0">
                <a:solidFill>
                  <a:srgbClr val="F59E0B"/>
                </a:solidFill>
                <a:latin typeface="Calibri"/>
              </a:rPr>
              <a:t>CNMC</a:t>
            </a:r>
          </a:p>
        </p:txBody>
      </p:sp>
      <p:sp>
        <p:nvSpPr>
          <p:cNvPr id="33" name="TextBox 32"/>
          <p:cNvSpPr txBox="1"/>
          <p:nvPr/>
        </p:nvSpPr>
        <p:spPr>
          <a:xfrm>
            <a:off x="9692640" y="2542032"/>
            <a:ext cx="1920240" cy="822960"/>
          </a:xfrm>
          <a:prstGeom prst="rect">
            <a:avLst/>
          </a:prstGeom>
          <a:noFill/>
        </p:spPr>
        <p:txBody>
          <a:bodyPr wrap="square">
            <a:spAutoFit/>
          </a:bodyPr>
          <a:lstStyle/>
          <a:p>
            <a:pPr algn="l"/>
            <a:r>
              <a:rPr sz="1100" b="0" i="0">
                <a:solidFill>
                  <a:srgbClr val="94A3B8"/>
                </a:solidFill>
                <a:latin typeface="Calibri"/>
              </a:rPr>
              <a:t>Assign unified
material codes</a:t>
            </a:r>
          </a:p>
        </p:txBody>
      </p:sp>
      <p:sp>
        <p:nvSpPr>
          <p:cNvPr id="34" name="Rectangle 33"/>
          <p:cNvSpPr/>
          <p:nvPr/>
        </p:nvSpPr>
        <p:spPr>
          <a:xfrm>
            <a:off x="457200" y="3749039"/>
            <a:ext cx="11247120" cy="2468880"/>
          </a:xfrm>
          <a:prstGeom prst="rect">
            <a:avLst/>
          </a:prstGeom>
          <a:solidFill>
            <a:srgbClr val="111827"/>
          </a:solidFill>
          <a:ln w="1524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3749039"/>
            <a:ext cx="11247120" cy="320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3785615"/>
            <a:ext cx="11027664" cy="274320"/>
          </a:xfrm>
          <a:prstGeom prst="rect">
            <a:avLst/>
          </a:prstGeom>
          <a:noFill/>
        </p:spPr>
        <p:txBody>
          <a:bodyPr wrap="square">
            <a:spAutoFit/>
          </a:bodyPr>
          <a:lstStyle/>
          <a:p>
            <a:pPr algn="l"/>
            <a:r>
              <a:rPr sz="1400" b="1" i="0">
                <a:solidFill>
                  <a:srgbClr val="D946EF"/>
                </a:solidFill>
                <a:latin typeface="Calibri"/>
              </a:rPr>
              <a:t>▸  Key Actions</a:t>
            </a:r>
          </a:p>
        </p:txBody>
      </p:sp>
      <p:sp>
        <p:nvSpPr>
          <p:cNvPr id="37" name="TextBox 36"/>
          <p:cNvSpPr txBox="1"/>
          <p:nvPr/>
        </p:nvSpPr>
        <p:spPr>
          <a:xfrm>
            <a:off x="566928" y="4096511"/>
            <a:ext cx="11027664" cy="2121408"/>
          </a:xfrm>
          <a:prstGeom prst="rect">
            <a:avLst/>
          </a:prstGeom>
          <a:noFill/>
        </p:spPr>
        <p:txBody>
          <a:bodyPr wrap="square">
            <a:spAutoFit/>
          </a:bodyPr>
          <a:lstStyle/>
          <a:p>
            <a:pPr>
              <a:spcBef>
                <a:spcPts val="200"/>
              </a:spcBef>
            </a:pPr>
            <a:r>
              <a:rPr sz="1200">
                <a:solidFill>
                  <a:srgbClr val="FFFFFF"/>
                </a:solidFill>
                <a:latin typeface="Calibri"/>
              </a:rPr>
              <a:t>Ingest material data from multiple CPSE ERP/SAP systems</a:t>
            </a:r>
          </a:p>
          <a:p>
            <a:pPr>
              <a:spcBef>
                <a:spcPts val="200"/>
              </a:spcBef>
            </a:pPr>
            <a:r>
              <a:rPr sz="1200">
                <a:solidFill>
                  <a:srgbClr val="FFFFFF"/>
                </a:solidFill>
                <a:latin typeface="Calibri"/>
              </a:rPr>
              <a:t>Normalize descriptions to a standard format</a:t>
            </a:r>
          </a:p>
          <a:p>
            <a:pPr>
              <a:spcBef>
                <a:spcPts val="200"/>
              </a:spcBef>
            </a:pPr>
            <a:r>
              <a:rPr sz="1200">
                <a:solidFill>
                  <a:srgbClr val="FFFFFF"/>
                </a:solidFill>
                <a:latin typeface="Calibri"/>
              </a:rPr>
              <a:t>Match materials using 4-stage AI pipeline</a:t>
            </a:r>
          </a:p>
          <a:p>
            <a:pPr>
              <a:spcBef>
                <a:spcPts val="200"/>
              </a:spcBef>
            </a:pPr>
            <a:r>
              <a:rPr sz="1200">
                <a:solidFill>
                  <a:srgbClr val="FFFFFF"/>
                </a:solidFill>
                <a:latin typeface="Calibri"/>
              </a:rPr>
              <a:t>Generate unique CNMC codes (CNMC-{SEGMENT}-{HASH})</a:t>
            </a:r>
          </a:p>
          <a:p>
            <a:pPr>
              <a:spcBef>
                <a:spcPts val="200"/>
              </a:spcBef>
            </a:pPr>
            <a:r>
              <a:rPr sz="1200">
                <a:solidFill>
                  <a:srgbClr val="FFFFFF"/>
                </a:solidFill>
                <a:latin typeface="Calibri"/>
              </a:rPr>
              <a:t>Map CPSE codes ↔ CNMC codes bidirectionally</a:t>
            </a:r>
          </a:p>
          <a:p>
            <a:pPr>
              <a:spcBef>
                <a:spcPts val="200"/>
              </a:spcBef>
            </a:pPr>
            <a:r>
              <a:rPr sz="1200">
                <a:solidFill>
                  <a:srgbClr val="FFFFFF"/>
                </a:solidFill>
                <a:latin typeface="Calibri"/>
              </a:rPr>
              <a:t>Review &amp; Approve AI suggestions with full audit trail</a:t>
            </a:r>
          </a:p>
        </p:txBody>
      </p:sp>
      <p:sp>
        <p:nvSpPr>
          <p:cNvPr id="38" name="TextBox 37"/>
          <p:cNvSpPr txBox="1"/>
          <p:nvPr/>
        </p:nvSpPr>
        <p:spPr>
          <a:xfrm>
            <a:off x="365760" y="6355080"/>
            <a:ext cx="11430000" cy="320040"/>
          </a:xfrm>
          <a:prstGeom prst="rect">
            <a:avLst/>
          </a:prstGeom>
          <a:noFill/>
        </p:spPr>
        <p:txBody>
          <a:bodyPr wrap="square">
            <a:spAutoFit/>
          </a:bodyPr>
          <a:lstStyle/>
          <a:p>
            <a:pPr algn="ctr"/>
            <a:r>
              <a:rPr sz="1300" b="1" i="0">
                <a:solidFill>
                  <a:srgbClr val="D946EF"/>
                </a:solidFill>
                <a:latin typeface="Calibri"/>
              </a:rPr>
              <a:t>Tagline:  "One Nation, One Material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Technology Stack</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7315200" cy="731520"/>
          </a:xfrm>
          <a:prstGeom prst="rect">
            <a:avLst/>
          </a:prstGeom>
          <a:noFill/>
        </p:spPr>
        <p:txBody>
          <a:bodyPr wrap="square">
            <a:spAutoFit/>
          </a:bodyPr>
          <a:lstStyle/>
          <a:p>
            <a:pPr algn="l"/>
            <a:r>
              <a:rPr sz="3000" b="1" i="0">
                <a:solidFill>
                  <a:srgbClr val="FFFFFF"/>
                </a:solidFill>
                <a:latin typeface="Calibri"/>
              </a:rPr>
              <a:t>Built for Scale, Speed &amp; Accuracy</a:t>
            </a:r>
          </a:p>
        </p:txBody>
      </p:sp>
      <p:sp>
        <p:nvSpPr>
          <p:cNvPr id="9" name="Rectangle 8"/>
          <p:cNvSpPr/>
          <p:nvPr/>
        </p:nvSpPr>
        <p:spPr>
          <a:xfrm>
            <a:off x="365760" y="1371600"/>
            <a:ext cx="36576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3657600" cy="201168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828800"/>
            <a:ext cx="365760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874520"/>
            <a:ext cx="3474720" cy="274320"/>
          </a:xfrm>
          <a:prstGeom prst="rect">
            <a:avLst/>
          </a:prstGeom>
          <a:noFill/>
        </p:spPr>
        <p:txBody>
          <a:bodyPr wrap="square">
            <a:spAutoFit/>
          </a:bodyPr>
          <a:lstStyle/>
          <a:p>
            <a:pPr algn="l"/>
            <a:r>
              <a:rPr sz="1300" b="1" i="0">
                <a:solidFill>
                  <a:srgbClr val="0F172A"/>
                </a:solidFill>
                <a:latin typeface="Calibri"/>
              </a:rPr>
              <a:t>Backend</a:t>
            </a:r>
          </a:p>
        </p:txBody>
      </p:sp>
      <p:sp>
        <p:nvSpPr>
          <p:cNvPr id="13" name="TextBox 12"/>
          <p:cNvSpPr txBox="1"/>
          <p:nvPr/>
        </p:nvSpPr>
        <p:spPr>
          <a:xfrm>
            <a:off x="502920" y="2267712"/>
            <a:ext cx="3383280" cy="320040"/>
          </a:xfrm>
          <a:prstGeom prst="rect">
            <a:avLst/>
          </a:prstGeom>
          <a:noFill/>
        </p:spPr>
        <p:txBody>
          <a:bodyPr wrap="square">
            <a:spAutoFit/>
          </a:bodyPr>
          <a:lstStyle/>
          <a:p>
            <a:pPr algn="l"/>
            <a:r>
              <a:rPr sz="1000" b="0" i="0">
                <a:solidFill>
                  <a:srgbClr val="FFFFFF"/>
                </a:solidFill>
                <a:latin typeface="Calibri"/>
              </a:rPr>
              <a:t>▸  FastAPI — Async, type-safe, OpenAPI</a:t>
            </a:r>
          </a:p>
        </p:txBody>
      </p:sp>
      <p:sp>
        <p:nvSpPr>
          <p:cNvPr id="14" name="TextBox 13"/>
          <p:cNvSpPr txBox="1"/>
          <p:nvPr/>
        </p:nvSpPr>
        <p:spPr>
          <a:xfrm>
            <a:off x="502920" y="2615184"/>
            <a:ext cx="3383280" cy="320040"/>
          </a:xfrm>
          <a:prstGeom prst="rect">
            <a:avLst/>
          </a:prstGeom>
          <a:noFill/>
        </p:spPr>
        <p:txBody>
          <a:bodyPr wrap="square">
            <a:spAutoFit/>
          </a:bodyPr>
          <a:lstStyle/>
          <a:p>
            <a:pPr algn="l"/>
            <a:r>
              <a:rPr sz="1000" b="0" i="0">
                <a:solidFill>
                  <a:srgbClr val="FFFFFF"/>
                </a:solidFill>
                <a:latin typeface="Calibri"/>
              </a:rPr>
              <a:t>▸  SQLAlchemy 2.0 — ORM + migrations</a:t>
            </a:r>
          </a:p>
        </p:txBody>
      </p:sp>
      <p:sp>
        <p:nvSpPr>
          <p:cNvPr id="15" name="TextBox 14"/>
          <p:cNvSpPr txBox="1"/>
          <p:nvPr/>
        </p:nvSpPr>
        <p:spPr>
          <a:xfrm>
            <a:off x="502920" y="2962656"/>
            <a:ext cx="3383280" cy="320040"/>
          </a:xfrm>
          <a:prstGeom prst="rect">
            <a:avLst/>
          </a:prstGeom>
          <a:noFill/>
        </p:spPr>
        <p:txBody>
          <a:bodyPr wrap="square">
            <a:spAutoFit/>
          </a:bodyPr>
          <a:lstStyle/>
          <a:p>
            <a:pPr algn="l"/>
            <a:r>
              <a:rPr sz="1000" b="0" i="0">
                <a:solidFill>
                  <a:srgbClr val="FFFFFF"/>
                </a:solidFill>
                <a:latin typeface="Calibri"/>
              </a:rPr>
              <a:t>▸  Pydantic V2 — Data validation</a:t>
            </a:r>
          </a:p>
        </p:txBody>
      </p:sp>
      <p:sp>
        <p:nvSpPr>
          <p:cNvPr id="16" name="TextBox 15"/>
          <p:cNvSpPr txBox="1"/>
          <p:nvPr/>
        </p:nvSpPr>
        <p:spPr>
          <a:xfrm>
            <a:off x="502920" y="3310128"/>
            <a:ext cx="3383280" cy="320040"/>
          </a:xfrm>
          <a:prstGeom prst="rect">
            <a:avLst/>
          </a:prstGeom>
          <a:noFill/>
        </p:spPr>
        <p:txBody>
          <a:bodyPr wrap="square">
            <a:spAutoFit/>
          </a:bodyPr>
          <a:lstStyle/>
          <a:p>
            <a:pPr algn="l"/>
            <a:r>
              <a:rPr sz="1000" b="0" i="0">
                <a:solidFill>
                  <a:srgbClr val="FFFFFF"/>
                </a:solidFill>
                <a:latin typeface="Calibri"/>
              </a:rPr>
              <a:t>▸  JWT Auth — Secure API access</a:t>
            </a:r>
          </a:p>
        </p:txBody>
      </p:sp>
      <p:sp>
        <p:nvSpPr>
          <p:cNvPr id="17" name="Rectangle 16"/>
          <p:cNvSpPr/>
          <p:nvPr/>
        </p:nvSpPr>
        <p:spPr>
          <a:xfrm>
            <a:off x="4251960" y="1828800"/>
            <a:ext cx="3657600" cy="201168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60" y="1828800"/>
            <a:ext cx="3657600" cy="34747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688" y="1874520"/>
            <a:ext cx="3474720" cy="274320"/>
          </a:xfrm>
          <a:prstGeom prst="rect">
            <a:avLst/>
          </a:prstGeom>
          <a:noFill/>
        </p:spPr>
        <p:txBody>
          <a:bodyPr wrap="square">
            <a:spAutoFit/>
          </a:bodyPr>
          <a:lstStyle/>
          <a:p>
            <a:pPr algn="l"/>
            <a:r>
              <a:rPr sz="1300" b="1" i="0">
                <a:solidFill>
                  <a:srgbClr val="0F172A"/>
                </a:solidFill>
                <a:latin typeface="Calibri"/>
              </a:rPr>
              <a:t>AI / ML</a:t>
            </a:r>
          </a:p>
        </p:txBody>
      </p:sp>
      <p:sp>
        <p:nvSpPr>
          <p:cNvPr id="20" name="TextBox 19"/>
          <p:cNvSpPr txBox="1"/>
          <p:nvPr/>
        </p:nvSpPr>
        <p:spPr>
          <a:xfrm>
            <a:off x="4389120" y="2267712"/>
            <a:ext cx="3383280" cy="320040"/>
          </a:xfrm>
          <a:prstGeom prst="rect">
            <a:avLst/>
          </a:prstGeom>
          <a:noFill/>
        </p:spPr>
        <p:txBody>
          <a:bodyPr wrap="square">
            <a:spAutoFit/>
          </a:bodyPr>
          <a:lstStyle/>
          <a:p>
            <a:pPr algn="l"/>
            <a:r>
              <a:rPr sz="1000" b="0" i="0">
                <a:solidFill>
                  <a:srgbClr val="FFFFFF"/>
                </a:solidFill>
                <a:latin typeface="Calibri"/>
              </a:rPr>
              <a:t>▸  sentence-transformers — State-of-the-art embeddings</a:t>
            </a:r>
          </a:p>
        </p:txBody>
      </p:sp>
      <p:sp>
        <p:nvSpPr>
          <p:cNvPr id="21" name="TextBox 20"/>
          <p:cNvSpPr txBox="1"/>
          <p:nvPr/>
        </p:nvSpPr>
        <p:spPr>
          <a:xfrm>
            <a:off x="4389120" y="2615184"/>
            <a:ext cx="3383280" cy="320040"/>
          </a:xfrm>
          <a:prstGeom prst="rect">
            <a:avLst/>
          </a:prstGeom>
          <a:noFill/>
        </p:spPr>
        <p:txBody>
          <a:bodyPr wrap="square">
            <a:spAutoFit/>
          </a:bodyPr>
          <a:lstStyle/>
          <a:p>
            <a:pPr algn="l"/>
            <a:r>
              <a:rPr sz="1000" b="0" i="0">
                <a:solidFill>
                  <a:srgbClr val="FFFFFF"/>
                </a:solidFill>
                <a:latin typeface="Calibri"/>
              </a:rPr>
              <a:t>▸  RapidFuzz — Fast fuzzy string matching</a:t>
            </a:r>
          </a:p>
        </p:txBody>
      </p:sp>
      <p:sp>
        <p:nvSpPr>
          <p:cNvPr id="22" name="TextBox 21"/>
          <p:cNvSpPr txBox="1"/>
          <p:nvPr/>
        </p:nvSpPr>
        <p:spPr>
          <a:xfrm>
            <a:off x="4389120" y="2962656"/>
            <a:ext cx="3383280" cy="320040"/>
          </a:xfrm>
          <a:prstGeom prst="rect">
            <a:avLst/>
          </a:prstGeom>
          <a:noFill/>
        </p:spPr>
        <p:txBody>
          <a:bodyPr wrap="square">
            <a:spAutoFit/>
          </a:bodyPr>
          <a:lstStyle/>
          <a:p>
            <a:pPr algn="l"/>
            <a:r>
              <a:rPr sz="1000" b="0" i="0">
                <a:solidFill>
                  <a:srgbClr val="FFFFFF"/>
                </a:solidFill>
                <a:latin typeface="Calibri"/>
              </a:rPr>
              <a:t>▸  Cross-Encoder — High-accuracy re-ranking</a:t>
            </a:r>
          </a:p>
        </p:txBody>
      </p:sp>
      <p:sp>
        <p:nvSpPr>
          <p:cNvPr id="23" name="TextBox 22"/>
          <p:cNvSpPr txBox="1"/>
          <p:nvPr/>
        </p:nvSpPr>
        <p:spPr>
          <a:xfrm>
            <a:off x="4389120" y="3310128"/>
            <a:ext cx="3383280" cy="320040"/>
          </a:xfrm>
          <a:prstGeom prst="rect">
            <a:avLst/>
          </a:prstGeom>
          <a:noFill/>
        </p:spPr>
        <p:txBody>
          <a:bodyPr wrap="square">
            <a:spAutoFit/>
          </a:bodyPr>
          <a:lstStyle/>
          <a:p>
            <a:pPr algn="l"/>
            <a:r>
              <a:rPr sz="1000" b="0" i="0">
                <a:solidFill>
                  <a:srgbClr val="FFFFFF"/>
                </a:solidFill>
                <a:latin typeface="Calibri"/>
              </a:rPr>
              <a:t>▸  scikit-learn — TF-IDF fallback</a:t>
            </a:r>
          </a:p>
        </p:txBody>
      </p:sp>
      <p:sp>
        <p:nvSpPr>
          <p:cNvPr id="24" name="Rectangle 23"/>
          <p:cNvSpPr/>
          <p:nvPr/>
        </p:nvSpPr>
        <p:spPr>
          <a:xfrm>
            <a:off x="8138160" y="1828800"/>
            <a:ext cx="3657600" cy="201168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60" y="1828800"/>
            <a:ext cx="3657600"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47888" y="1874520"/>
            <a:ext cx="3474720" cy="274320"/>
          </a:xfrm>
          <a:prstGeom prst="rect">
            <a:avLst/>
          </a:prstGeom>
          <a:noFill/>
        </p:spPr>
        <p:txBody>
          <a:bodyPr wrap="square">
            <a:spAutoFit/>
          </a:bodyPr>
          <a:lstStyle/>
          <a:p>
            <a:pPr algn="l"/>
            <a:r>
              <a:rPr sz="1300" b="1" i="0">
                <a:solidFill>
                  <a:srgbClr val="0F172A"/>
                </a:solidFill>
                <a:latin typeface="Calibri"/>
              </a:rPr>
              <a:t>Frontend</a:t>
            </a:r>
          </a:p>
        </p:txBody>
      </p:sp>
      <p:sp>
        <p:nvSpPr>
          <p:cNvPr id="27" name="TextBox 26"/>
          <p:cNvSpPr txBox="1"/>
          <p:nvPr/>
        </p:nvSpPr>
        <p:spPr>
          <a:xfrm>
            <a:off x="8275320" y="2267712"/>
            <a:ext cx="3383280" cy="320040"/>
          </a:xfrm>
          <a:prstGeom prst="rect">
            <a:avLst/>
          </a:prstGeom>
          <a:noFill/>
        </p:spPr>
        <p:txBody>
          <a:bodyPr wrap="square">
            <a:spAutoFit/>
          </a:bodyPr>
          <a:lstStyle/>
          <a:p>
            <a:pPr algn="l"/>
            <a:r>
              <a:rPr sz="1000" b="0" i="0">
                <a:solidFill>
                  <a:srgbClr val="FFFFFF"/>
                </a:solidFill>
                <a:latin typeface="Calibri"/>
              </a:rPr>
              <a:t>▸  React 18 + TypeScript — Modern UI</a:t>
            </a:r>
          </a:p>
        </p:txBody>
      </p:sp>
      <p:sp>
        <p:nvSpPr>
          <p:cNvPr id="28" name="TextBox 27"/>
          <p:cNvSpPr txBox="1"/>
          <p:nvPr/>
        </p:nvSpPr>
        <p:spPr>
          <a:xfrm>
            <a:off x="8275320" y="2615184"/>
            <a:ext cx="3383280" cy="320040"/>
          </a:xfrm>
          <a:prstGeom prst="rect">
            <a:avLst/>
          </a:prstGeom>
          <a:noFill/>
        </p:spPr>
        <p:txBody>
          <a:bodyPr wrap="square">
            <a:spAutoFit/>
          </a:bodyPr>
          <a:lstStyle/>
          <a:p>
            <a:pPr algn="l"/>
            <a:r>
              <a:rPr sz="1000" b="0" i="0">
                <a:solidFill>
                  <a:srgbClr val="FFFFFF"/>
                </a:solidFill>
                <a:latin typeface="Calibri"/>
              </a:rPr>
              <a:t>▸  Tailwind CSS — Utility-first styling</a:t>
            </a:r>
          </a:p>
        </p:txBody>
      </p:sp>
      <p:sp>
        <p:nvSpPr>
          <p:cNvPr id="29" name="TextBox 28"/>
          <p:cNvSpPr txBox="1"/>
          <p:nvPr/>
        </p:nvSpPr>
        <p:spPr>
          <a:xfrm>
            <a:off x="8275320" y="2962656"/>
            <a:ext cx="3383280" cy="320040"/>
          </a:xfrm>
          <a:prstGeom prst="rect">
            <a:avLst/>
          </a:prstGeom>
          <a:noFill/>
        </p:spPr>
        <p:txBody>
          <a:bodyPr wrap="square">
            <a:spAutoFit/>
          </a:bodyPr>
          <a:lstStyle/>
          <a:p>
            <a:pPr algn="l"/>
            <a:r>
              <a:rPr sz="1000" b="0" i="0">
                <a:solidFill>
                  <a:srgbClr val="FFFFFF"/>
                </a:solidFill>
                <a:latin typeface="Calibri"/>
              </a:rPr>
              <a:t>▸  Zustand — Lightweight state management</a:t>
            </a:r>
          </a:p>
        </p:txBody>
      </p:sp>
      <p:sp>
        <p:nvSpPr>
          <p:cNvPr id="30" name="TextBox 29"/>
          <p:cNvSpPr txBox="1"/>
          <p:nvPr/>
        </p:nvSpPr>
        <p:spPr>
          <a:xfrm>
            <a:off x="8275320" y="3310128"/>
            <a:ext cx="3383280" cy="320040"/>
          </a:xfrm>
          <a:prstGeom prst="rect">
            <a:avLst/>
          </a:prstGeom>
          <a:noFill/>
        </p:spPr>
        <p:txBody>
          <a:bodyPr wrap="square">
            <a:spAutoFit/>
          </a:bodyPr>
          <a:lstStyle/>
          <a:p>
            <a:pPr algn="l"/>
            <a:r>
              <a:rPr sz="1000" b="0" i="0">
                <a:solidFill>
                  <a:srgbClr val="FFFFFF"/>
                </a:solidFill>
                <a:latin typeface="Calibri"/>
              </a:rPr>
              <a:t>▸  Recharts — Beautiful data viz</a:t>
            </a:r>
          </a:p>
        </p:txBody>
      </p:sp>
      <p:sp>
        <p:nvSpPr>
          <p:cNvPr id="31" name="Rectangle 30"/>
          <p:cNvSpPr/>
          <p:nvPr/>
        </p:nvSpPr>
        <p:spPr>
          <a:xfrm>
            <a:off x="365760" y="4114800"/>
            <a:ext cx="3657600" cy="201168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4114800"/>
            <a:ext cx="365760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4160520"/>
            <a:ext cx="3474720" cy="274320"/>
          </a:xfrm>
          <a:prstGeom prst="rect">
            <a:avLst/>
          </a:prstGeom>
          <a:noFill/>
        </p:spPr>
        <p:txBody>
          <a:bodyPr wrap="square">
            <a:spAutoFit/>
          </a:bodyPr>
          <a:lstStyle/>
          <a:p>
            <a:pPr algn="l"/>
            <a:r>
              <a:rPr sz="1300" b="1" i="0">
                <a:solidFill>
                  <a:srgbClr val="0F172A"/>
                </a:solidFill>
                <a:latin typeface="Calibri"/>
              </a:rPr>
              <a:t>Data</a:t>
            </a:r>
          </a:p>
        </p:txBody>
      </p:sp>
      <p:sp>
        <p:nvSpPr>
          <p:cNvPr id="34" name="TextBox 33"/>
          <p:cNvSpPr txBox="1"/>
          <p:nvPr/>
        </p:nvSpPr>
        <p:spPr>
          <a:xfrm>
            <a:off x="502920" y="4553712"/>
            <a:ext cx="3383280" cy="320040"/>
          </a:xfrm>
          <a:prstGeom prst="rect">
            <a:avLst/>
          </a:prstGeom>
          <a:noFill/>
        </p:spPr>
        <p:txBody>
          <a:bodyPr wrap="square">
            <a:spAutoFit/>
          </a:bodyPr>
          <a:lstStyle/>
          <a:p>
            <a:pPr algn="l"/>
            <a:r>
              <a:rPr sz="1000" b="0" i="0">
                <a:solidFill>
                  <a:srgbClr val="FFFFFF"/>
                </a:solidFill>
                <a:latin typeface="Calibri"/>
              </a:rPr>
              <a:t>▸  SQLite (dev) / PostgreSQL (prod)</a:t>
            </a:r>
          </a:p>
        </p:txBody>
      </p:sp>
      <p:sp>
        <p:nvSpPr>
          <p:cNvPr id="35" name="TextBox 34"/>
          <p:cNvSpPr txBox="1"/>
          <p:nvPr/>
        </p:nvSpPr>
        <p:spPr>
          <a:xfrm>
            <a:off x="502920" y="4901184"/>
            <a:ext cx="3383280" cy="320040"/>
          </a:xfrm>
          <a:prstGeom prst="rect">
            <a:avLst/>
          </a:prstGeom>
          <a:noFill/>
        </p:spPr>
        <p:txBody>
          <a:bodyPr wrap="square">
            <a:spAutoFit/>
          </a:bodyPr>
          <a:lstStyle/>
          <a:p>
            <a:pPr algn="l"/>
            <a:r>
              <a:rPr sz="1000" b="0" i="0">
                <a:solidFill>
                  <a:srgbClr val="FFFFFF"/>
                </a:solidFill>
                <a:latin typeface="Calibri"/>
              </a:rPr>
              <a:t>▸  Alembic — DB migrations</a:t>
            </a:r>
          </a:p>
        </p:txBody>
      </p:sp>
      <p:sp>
        <p:nvSpPr>
          <p:cNvPr id="36" name="TextBox 35"/>
          <p:cNvSpPr txBox="1"/>
          <p:nvPr/>
        </p:nvSpPr>
        <p:spPr>
          <a:xfrm>
            <a:off x="502920" y="5248656"/>
            <a:ext cx="3383280" cy="320040"/>
          </a:xfrm>
          <a:prstGeom prst="rect">
            <a:avLst/>
          </a:prstGeom>
          <a:noFill/>
        </p:spPr>
        <p:txBody>
          <a:bodyPr wrap="square">
            <a:spAutoFit/>
          </a:bodyPr>
          <a:lstStyle/>
          <a:p>
            <a:pPr algn="l"/>
            <a:r>
              <a:rPr sz="1000" b="0" i="0">
                <a:solidFill>
                  <a:srgbClr val="FFFFFF"/>
                </a:solidFill>
                <a:latin typeface="Calibri"/>
              </a:rPr>
              <a:t>▸  Audit trail — Full governance log</a:t>
            </a:r>
          </a:p>
        </p:txBody>
      </p:sp>
      <p:sp>
        <p:nvSpPr>
          <p:cNvPr id="37" name="Rectangle 36"/>
          <p:cNvSpPr/>
          <p:nvPr/>
        </p:nvSpPr>
        <p:spPr>
          <a:xfrm>
            <a:off x="4251960" y="4114800"/>
            <a:ext cx="3657600" cy="2011680"/>
          </a:xfrm>
          <a:prstGeom prst="rect">
            <a:avLst/>
          </a:prstGeom>
          <a:solidFill>
            <a:srgbClr val="1E3A5F"/>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51960" y="4114800"/>
            <a:ext cx="3657600" cy="34747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61688" y="4160520"/>
            <a:ext cx="3474720" cy="274320"/>
          </a:xfrm>
          <a:prstGeom prst="rect">
            <a:avLst/>
          </a:prstGeom>
          <a:noFill/>
        </p:spPr>
        <p:txBody>
          <a:bodyPr wrap="square">
            <a:spAutoFit/>
          </a:bodyPr>
          <a:lstStyle/>
          <a:p>
            <a:pPr algn="l"/>
            <a:r>
              <a:rPr sz="1300" b="1" i="0">
                <a:solidFill>
                  <a:srgbClr val="0F172A"/>
                </a:solidFill>
                <a:latin typeface="Calibri"/>
              </a:rPr>
              <a:t>Deploy</a:t>
            </a:r>
          </a:p>
        </p:txBody>
      </p:sp>
      <p:sp>
        <p:nvSpPr>
          <p:cNvPr id="40" name="TextBox 39"/>
          <p:cNvSpPr txBox="1"/>
          <p:nvPr/>
        </p:nvSpPr>
        <p:spPr>
          <a:xfrm>
            <a:off x="4389120" y="4553712"/>
            <a:ext cx="3383280" cy="320040"/>
          </a:xfrm>
          <a:prstGeom prst="rect">
            <a:avLst/>
          </a:prstGeom>
          <a:noFill/>
        </p:spPr>
        <p:txBody>
          <a:bodyPr wrap="square">
            <a:spAutoFit/>
          </a:bodyPr>
          <a:lstStyle/>
          <a:p>
            <a:pPr algn="l"/>
            <a:r>
              <a:rPr sz="1000" b="0" i="0">
                <a:solidFill>
                  <a:srgbClr val="FFFFFF"/>
                </a:solidFill>
                <a:latin typeface="Calibri"/>
              </a:rPr>
              <a:t>▸  Docker Compose — One-command deploy</a:t>
            </a:r>
          </a:p>
        </p:txBody>
      </p:sp>
      <p:sp>
        <p:nvSpPr>
          <p:cNvPr id="41" name="TextBox 40"/>
          <p:cNvSpPr txBox="1"/>
          <p:nvPr/>
        </p:nvSpPr>
        <p:spPr>
          <a:xfrm>
            <a:off x="4389120" y="4901184"/>
            <a:ext cx="3383280" cy="320040"/>
          </a:xfrm>
          <a:prstGeom prst="rect">
            <a:avLst/>
          </a:prstGeom>
          <a:noFill/>
        </p:spPr>
        <p:txBody>
          <a:bodyPr wrap="square">
            <a:spAutoFit/>
          </a:bodyPr>
          <a:lstStyle/>
          <a:p>
            <a:pPr algn="l"/>
            <a:r>
              <a:rPr sz="1000" b="0" i="0">
                <a:solidFill>
                  <a:srgbClr val="FFFFFF"/>
                </a:solidFill>
                <a:latin typeface="Calibri"/>
              </a:rPr>
              <a:t>▸  Nginx — Reverse proxy + static cache</a:t>
            </a:r>
          </a:p>
        </p:txBody>
      </p:sp>
      <p:sp>
        <p:nvSpPr>
          <p:cNvPr id="42" name="TextBox 41"/>
          <p:cNvSpPr txBox="1"/>
          <p:nvPr/>
        </p:nvSpPr>
        <p:spPr>
          <a:xfrm>
            <a:off x="4389120" y="5248656"/>
            <a:ext cx="3383280" cy="320040"/>
          </a:xfrm>
          <a:prstGeom prst="rect">
            <a:avLst/>
          </a:prstGeom>
          <a:noFill/>
        </p:spPr>
        <p:txBody>
          <a:bodyPr wrap="square">
            <a:spAutoFit/>
          </a:bodyPr>
          <a:lstStyle/>
          <a:p>
            <a:pPr algn="l"/>
            <a:r>
              <a:rPr sz="1000" b="0" i="0">
                <a:solidFill>
                  <a:srgbClr val="FFFFFF"/>
                </a:solidFill>
                <a:latin typeface="Calibri"/>
              </a:rPr>
              <a:t>▸  Production-ready → K8s scale-out</a:t>
            </a:r>
          </a:p>
        </p:txBody>
      </p:sp>
      <p:sp>
        <p:nvSpPr>
          <p:cNvPr id="43" name="TextBox 42"/>
          <p:cNvSpPr txBox="1"/>
          <p:nvPr/>
        </p:nvSpPr>
        <p:spPr>
          <a:xfrm>
            <a:off x="365760" y="6492240"/>
            <a:ext cx="11430000" cy="274320"/>
          </a:xfrm>
          <a:prstGeom prst="rect">
            <a:avLst/>
          </a:prstGeom>
          <a:noFill/>
        </p:spPr>
        <p:txBody>
          <a:bodyPr wrap="square">
            <a:spAutoFit/>
          </a:bodyPr>
          <a:lstStyle/>
          <a:p>
            <a:pPr algn="l"/>
            <a:r>
              <a:rPr sz="1100" b="1" i="0">
                <a:solidFill>
                  <a:srgbClr val="10B981"/>
                </a:solidFill>
                <a:latin typeface="Calibri"/>
              </a:rPr>
              <a:t>★  All libraries are open-source — no proprietary AI APIs required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AI Matching Pipeline</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4-Stage AI Matching Pipeline</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920240"/>
            <a:ext cx="2194560" cy="219456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920240"/>
            <a:ext cx="457200" cy="21945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640080"/>
            <a:ext cx="365760" cy="365760"/>
          </a:xfrm>
          <a:prstGeom prst="rect">
            <a:avLst/>
          </a:prstGeom>
          <a:noFill/>
        </p:spPr>
        <p:txBody>
          <a:bodyPr wrap="square">
            <a:spAutoFit/>
          </a:bodyPr>
          <a:lstStyle/>
          <a:p>
            <a:pPr algn="l"/>
            <a:r>
              <a:rPr sz="1800" b="1" i="0">
                <a:solidFill>
                  <a:srgbClr val="0F172A"/>
                </a:solidFill>
                <a:latin typeface="Calibri"/>
              </a:rPr>
              <a:t>1</a:t>
            </a:r>
          </a:p>
        </p:txBody>
      </p:sp>
      <p:sp>
        <p:nvSpPr>
          <p:cNvPr id="13" name="TextBox 12"/>
          <p:cNvSpPr txBox="1"/>
          <p:nvPr/>
        </p:nvSpPr>
        <p:spPr>
          <a:xfrm>
            <a:off x="868680" y="1965960"/>
            <a:ext cx="1554480" cy="365760"/>
          </a:xfrm>
          <a:prstGeom prst="rect">
            <a:avLst/>
          </a:prstGeom>
          <a:noFill/>
        </p:spPr>
        <p:txBody>
          <a:bodyPr wrap="square">
            <a:spAutoFit/>
          </a:bodyPr>
          <a:lstStyle/>
          <a:p>
            <a:pPr algn="l"/>
            <a:r>
              <a:rPr sz="1100" b="1" i="0">
                <a:solidFill>
                  <a:srgbClr val="3B82F6"/>
                </a:solidFill>
                <a:latin typeface="Calibri"/>
              </a:rPr>
              <a:t>NORMALIZE</a:t>
            </a:r>
          </a:p>
        </p:txBody>
      </p:sp>
      <p:sp>
        <p:nvSpPr>
          <p:cNvPr id="14" name="Rectangle 13"/>
          <p:cNvSpPr/>
          <p:nvPr/>
        </p:nvSpPr>
        <p:spPr>
          <a:xfrm>
            <a:off x="868680" y="2331720"/>
            <a:ext cx="1554480" cy="2286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331720"/>
            <a:ext cx="1554480" cy="228600"/>
          </a:xfrm>
          <a:prstGeom prst="rect">
            <a:avLst/>
          </a:prstGeom>
          <a:noFill/>
        </p:spPr>
        <p:txBody>
          <a:bodyPr wrap="square">
            <a:spAutoFit/>
          </a:bodyPr>
          <a:lstStyle/>
          <a:p>
            <a:pPr algn="ctr"/>
            <a:r>
              <a:rPr sz="1000" b="1" i="0">
                <a:solidFill>
                  <a:srgbClr val="3B82F6"/>
                </a:solidFill>
                <a:latin typeface="Calibri"/>
              </a:rPr>
              <a:t>30%</a:t>
            </a:r>
          </a:p>
        </p:txBody>
      </p:sp>
      <p:sp>
        <p:nvSpPr>
          <p:cNvPr id="16" name="TextBox 15"/>
          <p:cNvSpPr txBox="1"/>
          <p:nvPr/>
        </p:nvSpPr>
        <p:spPr>
          <a:xfrm>
            <a:off x="457200" y="2606040"/>
            <a:ext cx="1920240" cy="1371600"/>
          </a:xfrm>
          <a:prstGeom prst="rect">
            <a:avLst/>
          </a:prstGeom>
          <a:noFill/>
        </p:spPr>
        <p:txBody>
          <a:bodyPr wrap="square">
            <a:spAutoFit/>
          </a:bodyPr>
          <a:lstStyle/>
          <a:p>
            <a:pPr algn="l"/>
            <a:r>
              <a:rPr sz="900" b="0" i="0">
                <a:solidFill>
                  <a:srgbClr val="94A3B8"/>
                </a:solidFill>
                <a:latin typeface="Calibri"/>
              </a:rPr>
              <a:t>Input: Raw ERP descriptions
Removes IS codes, standard codes
Normalizes grades, dimensions, UOMs</a:t>
            </a:r>
          </a:p>
        </p:txBody>
      </p:sp>
      <p:sp>
        <p:nvSpPr>
          <p:cNvPr id="17" name="TextBox 16"/>
          <p:cNvSpPr txBox="1"/>
          <p:nvPr/>
        </p:nvSpPr>
        <p:spPr>
          <a:xfrm>
            <a:off x="2560320" y="2743200"/>
            <a:ext cx="137160" cy="365760"/>
          </a:xfrm>
          <a:prstGeom prst="rect">
            <a:avLst/>
          </a:prstGeom>
          <a:noFill/>
        </p:spPr>
        <p:txBody>
          <a:bodyPr wrap="square">
            <a:spAutoFit/>
          </a:bodyPr>
          <a:lstStyle/>
          <a:p>
            <a:pPr algn="ctr"/>
            <a:r>
              <a:rPr sz="2000" b="0" i="0">
                <a:solidFill>
                  <a:srgbClr val="475669"/>
                </a:solidFill>
                <a:latin typeface="Calibri"/>
              </a:rPr>
              <a:t>→</a:t>
            </a:r>
          </a:p>
        </p:txBody>
      </p:sp>
      <p:sp>
        <p:nvSpPr>
          <p:cNvPr id="18" name="Rectangle 17"/>
          <p:cNvSpPr/>
          <p:nvPr/>
        </p:nvSpPr>
        <p:spPr>
          <a:xfrm>
            <a:off x="2651760" y="1920240"/>
            <a:ext cx="2194560" cy="219456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51760" y="1920240"/>
            <a:ext cx="457200" cy="21945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06624" y="640080"/>
            <a:ext cx="365760" cy="365760"/>
          </a:xfrm>
          <a:prstGeom prst="rect">
            <a:avLst/>
          </a:prstGeom>
          <a:noFill/>
        </p:spPr>
        <p:txBody>
          <a:bodyPr wrap="square">
            <a:spAutoFit/>
          </a:bodyPr>
          <a:lstStyle/>
          <a:p>
            <a:pPr algn="l"/>
            <a:r>
              <a:rPr sz="1800" b="1" i="0">
                <a:solidFill>
                  <a:srgbClr val="0F172A"/>
                </a:solidFill>
                <a:latin typeface="Calibri"/>
              </a:rPr>
              <a:t>2</a:t>
            </a:r>
          </a:p>
        </p:txBody>
      </p:sp>
      <p:sp>
        <p:nvSpPr>
          <p:cNvPr id="21" name="TextBox 20"/>
          <p:cNvSpPr txBox="1"/>
          <p:nvPr/>
        </p:nvSpPr>
        <p:spPr>
          <a:xfrm>
            <a:off x="3200400" y="1965960"/>
            <a:ext cx="1554480" cy="365760"/>
          </a:xfrm>
          <a:prstGeom prst="rect">
            <a:avLst/>
          </a:prstGeom>
          <a:noFill/>
        </p:spPr>
        <p:txBody>
          <a:bodyPr wrap="square">
            <a:spAutoFit/>
          </a:bodyPr>
          <a:lstStyle/>
          <a:p>
            <a:pPr algn="l"/>
            <a:r>
              <a:rPr sz="1100" b="1" i="0">
                <a:solidFill>
                  <a:srgbClr val="3B82F6"/>
                </a:solidFill>
                <a:latin typeface="Calibri"/>
              </a:rPr>
              <a:t>LEXICAL (30%)</a:t>
            </a:r>
          </a:p>
        </p:txBody>
      </p:sp>
      <p:sp>
        <p:nvSpPr>
          <p:cNvPr id="22" name="Rectangle 21"/>
          <p:cNvSpPr/>
          <p:nvPr/>
        </p:nvSpPr>
        <p:spPr>
          <a:xfrm>
            <a:off x="3200400" y="2331720"/>
            <a:ext cx="1554480" cy="2286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2331720"/>
            <a:ext cx="1554480" cy="228600"/>
          </a:xfrm>
          <a:prstGeom prst="rect">
            <a:avLst/>
          </a:prstGeom>
          <a:noFill/>
        </p:spPr>
        <p:txBody>
          <a:bodyPr wrap="square">
            <a:spAutoFit/>
          </a:bodyPr>
          <a:lstStyle/>
          <a:p>
            <a:pPr algn="ctr"/>
            <a:r>
              <a:rPr sz="1000" b="1" i="0">
                <a:solidFill>
                  <a:srgbClr val="3B82F6"/>
                </a:solidFill>
                <a:latin typeface="Calibri"/>
              </a:rPr>
              <a:t>30%</a:t>
            </a:r>
          </a:p>
        </p:txBody>
      </p:sp>
      <p:sp>
        <p:nvSpPr>
          <p:cNvPr id="24" name="TextBox 23"/>
          <p:cNvSpPr txBox="1"/>
          <p:nvPr/>
        </p:nvSpPr>
        <p:spPr>
          <a:xfrm>
            <a:off x="2788920" y="2606040"/>
            <a:ext cx="1920240" cy="1371600"/>
          </a:xfrm>
          <a:prstGeom prst="rect">
            <a:avLst/>
          </a:prstGeom>
          <a:noFill/>
        </p:spPr>
        <p:txBody>
          <a:bodyPr wrap="square">
            <a:spAutoFit/>
          </a:bodyPr>
          <a:lstStyle/>
          <a:p>
            <a:pPr algn="l"/>
            <a:r>
              <a:rPr sz="900" b="0" i="0">
                <a:solidFill>
                  <a:srgbClr val="94A3B8"/>
                </a:solidFill>
                <a:latin typeface="Calibri"/>
              </a:rPr>
              <a:t>Token sort ratio + fuzzy match
RapidFuzz-powered scoring
Handles spelling variants &amp; typos</a:t>
            </a:r>
          </a:p>
        </p:txBody>
      </p:sp>
      <p:sp>
        <p:nvSpPr>
          <p:cNvPr id="25" name="TextBox 24"/>
          <p:cNvSpPr txBox="1"/>
          <p:nvPr/>
        </p:nvSpPr>
        <p:spPr>
          <a:xfrm>
            <a:off x="4892040" y="2743200"/>
            <a:ext cx="137160" cy="365760"/>
          </a:xfrm>
          <a:prstGeom prst="rect">
            <a:avLst/>
          </a:prstGeom>
          <a:noFill/>
        </p:spPr>
        <p:txBody>
          <a:bodyPr wrap="square">
            <a:spAutoFit/>
          </a:bodyPr>
          <a:lstStyle/>
          <a:p>
            <a:pPr algn="ctr"/>
            <a:r>
              <a:rPr sz="2000" b="0" i="0">
                <a:solidFill>
                  <a:srgbClr val="475669"/>
                </a:solidFill>
                <a:latin typeface="Calibri"/>
              </a:rPr>
              <a:t>→</a:t>
            </a:r>
          </a:p>
        </p:txBody>
      </p:sp>
      <p:sp>
        <p:nvSpPr>
          <p:cNvPr id="26" name="Rectangle 25"/>
          <p:cNvSpPr/>
          <p:nvPr/>
        </p:nvSpPr>
        <p:spPr>
          <a:xfrm>
            <a:off x="4983480" y="1920240"/>
            <a:ext cx="2194560" cy="219456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83480" y="1920240"/>
            <a:ext cx="457200" cy="21945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38344" y="640080"/>
            <a:ext cx="365760" cy="365760"/>
          </a:xfrm>
          <a:prstGeom prst="rect">
            <a:avLst/>
          </a:prstGeom>
          <a:noFill/>
        </p:spPr>
        <p:txBody>
          <a:bodyPr wrap="square">
            <a:spAutoFit/>
          </a:bodyPr>
          <a:lstStyle/>
          <a:p>
            <a:pPr algn="l"/>
            <a:r>
              <a:rPr sz="1800" b="1" i="0">
                <a:solidFill>
                  <a:srgbClr val="0F172A"/>
                </a:solidFill>
                <a:latin typeface="Calibri"/>
              </a:rPr>
              <a:t>3</a:t>
            </a:r>
          </a:p>
        </p:txBody>
      </p:sp>
      <p:sp>
        <p:nvSpPr>
          <p:cNvPr id="29" name="TextBox 28"/>
          <p:cNvSpPr txBox="1"/>
          <p:nvPr/>
        </p:nvSpPr>
        <p:spPr>
          <a:xfrm>
            <a:off x="5532120" y="1965960"/>
            <a:ext cx="1554480" cy="365760"/>
          </a:xfrm>
          <a:prstGeom prst="rect">
            <a:avLst/>
          </a:prstGeom>
          <a:noFill/>
        </p:spPr>
        <p:txBody>
          <a:bodyPr wrap="square">
            <a:spAutoFit/>
          </a:bodyPr>
          <a:lstStyle/>
          <a:p>
            <a:pPr algn="l"/>
            <a:r>
              <a:rPr sz="1100" b="1" i="0">
                <a:solidFill>
                  <a:srgbClr val="D946EF"/>
                </a:solidFill>
                <a:latin typeface="Calibri"/>
              </a:rPr>
              <a:t>SEMANTIC (40%)</a:t>
            </a:r>
          </a:p>
        </p:txBody>
      </p:sp>
      <p:sp>
        <p:nvSpPr>
          <p:cNvPr id="30" name="Rectangle 29"/>
          <p:cNvSpPr/>
          <p:nvPr/>
        </p:nvSpPr>
        <p:spPr>
          <a:xfrm>
            <a:off x="5532120" y="2331720"/>
            <a:ext cx="1554480" cy="2286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32120" y="2331720"/>
            <a:ext cx="1554480" cy="228600"/>
          </a:xfrm>
          <a:prstGeom prst="rect">
            <a:avLst/>
          </a:prstGeom>
          <a:noFill/>
        </p:spPr>
        <p:txBody>
          <a:bodyPr wrap="square">
            <a:spAutoFit/>
          </a:bodyPr>
          <a:lstStyle/>
          <a:p>
            <a:pPr algn="ctr"/>
            <a:r>
              <a:rPr sz="1000" b="1" i="0">
                <a:solidFill>
                  <a:srgbClr val="D946EF"/>
                </a:solidFill>
                <a:latin typeface="Calibri"/>
              </a:rPr>
              <a:t>40%</a:t>
            </a:r>
          </a:p>
        </p:txBody>
      </p:sp>
      <p:sp>
        <p:nvSpPr>
          <p:cNvPr id="32" name="TextBox 31"/>
          <p:cNvSpPr txBox="1"/>
          <p:nvPr/>
        </p:nvSpPr>
        <p:spPr>
          <a:xfrm>
            <a:off x="5120640" y="2606040"/>
            <a:ext cx="1920240" cy="1371600"/>
          </a:xfrm>
          <a:prstGeom prst="rect">
            <a:avLst/>
          </a:prstGeom>
          <a:noFill/>
        </p:spPr>
        <p:txBody>
          <a:bodyPr wrap="square">
            <a:spAutoFit/>
          </a:bodyPr>
          <a:lstStyle/>
          <a:p>
            <a:pPr algn="l"/>
            <a:r>
              <a:rPr sz="900" b="0" i="0">
                <a:solidFill>
                  <a:srgbClr val="94A3B8"/>
                </a:solidFill>
                <a:latin typeface="Calibri"/>
              </a:rPr>
              <a:t>Bi-encoder: all-MiniLM-L6-v2
Dense vector embeddings
Captures meaning beyond words</a:t>
            </a:r>
          </a:p>
        </p:txBody>
      </p:sp>
      <p:sp>
        <p:nvSpPr>
          <p:cNvPr id="33" name="TextBox 32"/>
          <p:cNvSpPr txBox="1"/>
          <p:nvPr/>
        </p:nvSpPr>
        <p:spPr>
          <a:xfrm>
            <a:off x="7223760" y="2743200"/>
            <a:ext cx="137160" cy="365760"/>
          </a:xfrm>
          <a:prstGeom prst="rect">
            <a:avLst/>
          </a:prstGeom>
          <a:noFill/>
        </p:spPr>
        <p:txBody>
          <a:bodyPr wrap="square">
            <a:spAutoFit/>
          </a:bodyPr>
          <a:lstStyle/>
          <a:p>
            <a:pPr algn="ctr"/>
            <a:r>
              <a:rPr sz="2000" b="0" i="0">
                <a:solidFill>
                  <a:srgbClr val="475669"/>
                </a:solidFill>
                <a:latin typeface="Calibri"/>
              </a:rPr>
              <a:t>→</a:t>
            </a:r>
          </a:p>
        </p:txBody>
      </p:sp>
      <p:sp>
        <p:nvSpPr>
          <p:cNvPr id="34" name="Rectangle 33"/>
          <p:cNvSpPr/>
          <p:nvPr/>
        </p:nvSpPr>
        <p:spPr>
          <a:xfrm>
            <a:off x="7315200" y="1920240"/>
            <a:ext cx="2194560" cy="219456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0" y="1920240"/>
            <a:ext cx="457200" cy="21945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70064" y="640080"/>
            <a:ext cx="365760" cy="365760"/>
          </a:xfrm>
          <a:prstGeom prst="rect">
            <a:avLst/>
          </a:prstGeom>
          <a:noFill/>
        </p:spPr>
        <p:txBody>
          <a:bodyPr wrap="square">
            <a:spAutoFit/>
          </a:bodyPr>
          <a:lstStyle/>
          <a:p>
            <a:pPr algn="l"/>
            <a:r>
              <a:rPr sz="1800" b="1" i="0">
                <a:solidFill>
                  <a:srgbClr val="0F172A"/>
                </a:solidFill>
                <a:latin typeface="Calibri"/>
              </a:rPr>
              <a:t>4</a:t>
            </a:r>
          </a:p>
        </p:txBody>
      </p:sp>
      <p:sp>
        <p:nvSpPr>
          <p:cNvPr id="37" name="TextBox 36"/>
          <p:cNvSpPr txBox="1"/>
          <p:nvPr/>
        </p:nvSpPr>
        <p:spPr>
          <a:xfrm>
            <a:off x="7863840" y="1965960"/>
            <a:ext cx="1554480" cy="365760"/>
          </a:xfrm>
          <a:prstGeom prst="rect">
            <a:avLst/>
          </a:prstGeom>
          <a:noFill/>
        </p:spPr>
        <p:txBody>
          <a:bodyPr wrap="square">
            <a:spAutoFit/>
          </a:bodyPr>
          <a:lstStyle/>
          <a:p>
            <a:pPr algn="l"/>
            <a:r>
              <a:rPr sz="1100" b="1" i="0">
                <a:solidFill>
                  <a:srgbClr val="F59E0B"/>
                </a:solidFill>
                <a:latin typeface="Calibri"/>
              </a:rPr>
              <a:t>NUMERIC (30%)</a:t>
            </a:r>
          </a:p>
        </p:txBody>
      </p:sp>
      <p:sp>
        <p:nvSpPr>
          <p:cNvPr id="38" name="Rectangle 37"/>
          <p:cNvSpPr/>
          <p:nvPr/>
        </p:nvSpPr>
        <p:spPr>
          <a:xfrm>
            <a:off x="7863840" y="2331720"/>
            <a:ext cx="1554480" cy="2286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2331720"/>
            <a:ext cx="1554480" cy="228600"/>
          </a:xfrm>
          <a:prstGeom prst="rect">
            <a:avLst/>
          </a:prstGeom>
          <a:noFill/>
        </p:spPr>
        <p:txBody>
          <a:bodyPr wrap="square">
            <a:spAutoFit/>
          </a:bodyPr>
          <a:lstStyle/>
          <a:p>
            <a:pPr algn="ctr"/>
            <a:r>
              <a:rPr sz="1000" b="1" i="0">
                <a:solidFill>
                  <a:srgbClr val="F59E0B"/>
                </a:solidFill>
                <a:latin typeface="Calibri"/>
              </a:rPr>
              <a:t>30%</a:t>
            </a:r>
          </a:p>
        </p:txBody>
      </p:sp>
      <p:sp>
        <p:nvSpPr>
          <p:cNvPr id="40" name="TextBox 39"/>
          <p:cNvSpPr txBox="1"/>
          <p:nvPr/>
        </p:nvSpPr>
        <p:spPr>
          <a:xfrm>
            <a:off x="7452360" y="2606040"/>
            <a:ext cx="1920240" cy="1371600"/>
          </a:xfrm>
          <a:prstGeom prst="rect">
            <a:avLst/>
          </a:prstGeom>
          <a:noFill/>
        </p:spPr>
        <p:txBody>
          <a:bodyPr wrap="square">
            <a:spAutoFit/>
          </a:bodyPr>
          <a:lstStyle/>
          <a:p>
            <a:pPr algn="l"/>
            <a:r>
              <a:rPr sz="900" b="0" i="0">
                <a:solidFill>
                  <a:srgbClr val="94A3B8"/>
                </a:solidFill>
                <a:latin typeface="Calibri"/>
              </a:rPr>
              <a:t>Family, grade, dimension
UOM compatibility check
Physical attribute matching</a:t>
            </a:r>
          </a:p>
        </p:txBody>
      </p:sp>
      <p:sp>
        <p:nvSpPr>
          <p:cNvPr id="41" name="TextBox 40"/>
          <p:cNvSpPr txBox="1"/>
          <p:nvPr/>
        </p:nvSpPr>
        <p:spPr>
          <a:xfrm>
            <a:off x="9555480" y="2743200"/>
            <a:ext cx="137160" cy="365760"/>
          </a:xfrm>
          <a:prstGeom prst="rect">
            <a:avLst/>
          </a:prstGeom>
          <a:noFill/>
        </p:spPr>
        <p:txBody>
          <a:bodyPr wrap="square">
            <a:spAutoFit/>
          </a:bodyPr>
          <a:lstStyle/>
          <a:p>
            <a:pPr algn="ctr"/>
            <a:r>
              <a:rPr sz="2000" b="0" i="0">
                <a:solidFill>
                  <a:srgbClr val="475669"/>
                </a:solidFill>
                <a:latin typeface="Calibri"/>
              </a:rPr>
              <a:t>→</a:t>
            </a:r>
          </a:p>
        </p:txBody>
      </p:sp>
      <p:sp>
        <p:nvSpPr>
          <p:cNvPr id="42" name="Rectangle 41"/>
          <p:cNvSpPr/>
          <p:nvPr/>
        </p:nvSpPr>
        <p:spPr>
          <a:xfrm>
            <a:off x="9646920" y="1920240"/>
            <a:ext cx="2194560" cy="219456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646920" y="1920240"/>
            <a:ext cx="457200" cy="2194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01784" y="640080"/>
            <a:ext cx="365760" cy="365760"/>
          </a:xfrm>
          <a:prstGeom prst="rect">
            <a:avLst/>
          </a:prstGeom>
          <a:noFill/>
        </p:spPr>
        <p:txBody>
          <a:bodyPr wrap="square">
            <a:spAutoFit/>
          </a:bodyPr>
          <a:lstStyle/>
          <a:p>
            <a:pPr algn="l"/>
            <a:r>
              <a:rPr sz="1800" b="1" i="0">
                <a:solidFill>
                  <a:srgbClr val="0F172A"/>
                </a:solidFill>
                <a:latin typeface="Calibri"/>
              </a:rPr>
              <a:t>5</a:t>
            </a:r>
          </a:p>
        </p:txBody>
      </p:sp>
      <p:sp>
        <p:nvSpPr>
          <p:cNvPr id="45" name="TextBox 44"/>
          <p:cNvSpPr txBox="1"/>
          <p:nvPr/>
        </p:nvSpPr>
        <p:spPr>
          <a:xfrm>
            <a:off x="10195560" y="1965960"/>
            <a:ext cx="1554480" cy="365760"/>
          </a:xfrm>
          <a:prstGeom prst="rect">
            <a:avLst/>
          </a:prstGeom>
          <a:noFill/>
        </p:spPr>
        <p:txBody>
          <a:bodyPr wrap="square">
            <a:spAutoFit/>
          </a:bodyPr>
          <a:lstStyle/>
          <a:p>
            <a:pPr algn="l"/>
            <a:r>
              <a:rPr sz="1100" b="1" i="0">
                <a:solidFill>
                  <a:srgbClr val="10B981"/>
                </a:solidFill>
                <a:latin typeface="Calibri"/>
              </a:rPr>
              <a:t>RE-RANKING</a:t>
            </a:r>
          </a:p>
        </p:txBody>
      </p:sp>
      <p:sp>
        <p:nvSpPr>
          <p:cNvPr id="46" name="Rectangle 45"/>
          <p:cNvSpPr/>
          <p:nvPr/>
        </p:nvSpPr>
        <p:spPr>
          <a:xfrm>
            <a:off x="10195560" y="2331720"/>
            <a:ext cx="1554480" cy="2286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2331720"/>
            <a:ext cx="1554480" cy="228600"/>
          </a:xfrm>
          <a:prstGeom prst="rect">
            <a:avLst/>
          </a:prstGeom>
          <a:noFill/>
        </p:spPr>
        <p:txBody>
          <a:bodyPr wrap="square">
            <a:spAutoFit/>
          </a:bodyPr>
          <a:lstStyle/>
          <a:p>
            <a:pPr algn="ctr"/>
            <a:r>
              <a:rPr sz="1000" b="1" i="0">
                <a:solidFill>
                  <a:srgbClr val="10B981"/>
                </a:solidFill>
                <a:latin typeface="Calibri"/>
              </a:rPr>
              <a:t>Final</a:t>
            </a:r>
          </a:p>
        </p:txBody>
      </p:sp>
      <p:sp>
        <p:nvSpPr>
          <p:cNvPr id="48" name="TextBox 47"/>
          <p:cNvSpPr txBox="1"/>
          <p:nvPr/>
        </p:nvSpPr>
        <p:spPr>
          <a:xfrm>
            <a:off x="9784080" y="2606040"/>
            <a:ext cx="1920240" cy="1371600"/>
          </a:xfrm>
          <a:prstGeom prst="rect">
            <a:avLst/>
          </a:prstGeom>
          <a:noFill/>
        </p:spPr>
        <p:txBody>
          <a:bodyPr wrap="square">
            <a:spAutoFit/>
          </a:bodyPr>
          <a:lstStyle/>
          <a:p>
            <a:pPr algn="l"/>
            <a:r>
              <a:rPr sz="900" b="0" i="0">
                <a:solidFill>
                  <a:srgbClr val="94A3B8"/>
                </a:solidFill>
                <a:latin typeface="Calibri"/>
              </a:rPr>
              <a:t>Cross-Encoder: ms-marco-MiniLM
Precision scoring on top-K
Final match classification</a:t>
            </a:r>
          </a:p>
        </p:txBody>
      </p:sp>
      <p:sp>
        <p:nvSpPr>
          <p:cNvPr id="49" name="Rectangle 48"/>
          <p:cNvSpPr/>
          <p:nvPr/>
        </p:nvSpPr>
        <p:spPr>
          <a:xfrm>
            <a:off x="365760" y="4389120"/>
            <a:ext cx="3657600" cy="137160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4480560"/>
            <a:ext cx="3383280" cy="320040"/>
          </a:xfrm>
          <a:prstGeom prst="rect">
            <a:avLst/>
          </a:prstGeom>
          <a:noFill/>
        </p:spPr>
        <p:txBody>
          <a:bodyPr wrap="square">
            <a:spAutoFit/>
          </a:bodyPr>
          <a:lstStyle/>
          <a:p>
            <a:pPr algn="l"/>
            <a:r>
              <a:rPr sz="1300" b="1" i="0">
                <a:solidFill>
                  <a:srgbClr val="D946EF"/>
                </a:solidFill>
                <a:latin typeface="Calibri"/>
              </a:rPr>
              <a:t>✦  Speed</a:t>
            </a:r>
          </a:p>
        </p:txBody>
      </p:sp>
      <p:sp>
        <p:nvSpPr>
          <p:cNvPr id="51" name="TextBox 50"/>
          <p:cNvSpPr txBox="1"/>
          <p:nvPr/>
        </p:nvSpPr>
        <p:spPr>
          <a:xfrm>
            <a:off x="502920" y="4846320"/>
            <a:ext cx="3383280" cy="731520"/>
          </a:xfrm>
          <a:prstGeom prst="rect">
            <a:avLst/>
          </a:prstGeom>
          <a:noFill/>
        </p:spPr>
        <p:txBody>
          <a:bodyPr wrap="square">
            <a:spAutoFit/>
          </a:bodyPr>
          <a:lstStyle/>
          <a:p>
            <a:pPr algn="l"/>
            <a:r>
              <a:rPr sz="1100" b="0" i="0">
                <a:solidFill>
                  <a:srgbClr val="94A3B8"/>
                </a:solidFill>
                <a:latin typeface="Calibri"/>
              </a:rPr>
              <a:t>Bi-encoder for fast candidate selection (ms latency)</a:t>
            </a:r>
          </a:p>
        </p:txBody>
      </p:sp>
      <p:sp>
        <p:nvSpPr>
          <p:cNvPr id="52" name="Rectangle 51"/>
          <p:cNvSpPr/>
          <p:nvPr/>
        </p:nvSpPr>
        <p:spPr>
          <a:xfrm>
            <a:off x="4297680" y="4389120"/>
            <a:ext cx="3657600" cy="137160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34840" y="4480560"/>
            <a:ext cx="3383280" cy="320040"/>
          </a:xfrm>
          <a:prstGeom prst="rect">
            <a:avLst/>
          </a:prstGeom>
          <a:noFill/>
        </p:spPr>
        <p:txBody>
          <a:bodyPr wrap="square">
            <a:spAutoFit/>
          </a:bodyPr>
          <a:lstStyle/>
          <a:p>
            <a:pPr algn="l"/>
            <a:r>
              <a:rPr sz="1300" b="1" i="0">
                <a:solidFill>
                  <a:srgbClr val="D946EF"/>
                </a:solidFill>
                <a:latin typeface="Calibri"/>
              </a:rPr>
              <a:t>✦  Accuracy</a:t>
            </a:r>
          </a:p>
        </p:txBody>
      </p:sp>
      <p:sp>
        <p:nvSpPr>
          <p:cNvPr id="54" name="TextBox 53"/>
          <p:cNvSpPr txBox="1"/>
          <p:nvPr/>
        </p:nvSpPr>
        <p:spPr>
          <a:xfrm>
            <a:off x="4434840" y="4846320"/>
            <a:ext cx="3383280" cy="731520"/>
          </a:xfrm>
          <a:prstGeom prst="rect">
            <a:avLst/>
          </a:prstGeom>
          <a:noFill/>
        </p:spPr>
        <p:txBody>
          <a:bodyPr wrap="square">
            <a:spAutoFit/>
          </a:bodyPr>
          <a:lstStyle/>
          <a:p>
            <a:pPr algn="l"/>
            <a:r>
              <a:rPr sz="1100" b="0" i="0">
                <a:solidFill>
                  <a:srgbClr val="94A3B8"/>
                </a:solidFill>
                <a:latin typeface="Calibri"/>
              </a:rPr>
              <a:t>Cross-encoder for precise re-ranking (top-K only)</a:t>
            </a:r>
          </a:p>
        </p:txBody>
      </p:sp>
      <p:sp>
        <p:nvSpPr>
          <p:cNvPr id="55" name="Rectangle 54"/>
          <p:cNvSpPr/>
          <p:nvPr/>
        </p:nvSpPr>
        <p:spPr>
          <a:xfrm>
            <a:off x="8229600" y="4389120"/>
            <a:ext cx="3657600" cy="137160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66760" y="4480560"/>
            <a:ext cx="3383280" cy="320040"/>
          </a:xfrm>
          <a:prstGeom prst="rect">
            <a:avLst/>
          </a:prstGeom>
          <a:noFill/>
        </p:spPr>
        <p:txBody>
          <a:bodyPr wrap="square">
            <a:spAutoFit/>
          </a:bodyPr>
          <a:lstStyle/>
          <a:p>
            <a:pPr algn="l"/>
            <a:r>
              <a:rPr sz="1300" b="1" i="0">
                <a:solidFill>
                  <a:srgbClr val="D946EF"/>
                </a:solidFill>
                <a:latin typeface="Calibri"/>
              </a:rPr>
              <a:t>✦  Domain-aware</a:t>
            </a:r>
          </a:p>
        </p:txBody>
      </p:sp>
      <p:sp>
        <p:nvSpPr>
          <p:cNvPr id="57" name="TextBox 56"/>
          <p:cNvSpPr txBox="1"/>
          <p:nvPr/>
        </p:nvSpPr>
        <p:spPr>
          <a:xfrm>
            <a:off x="8366760" y="4846320"/>
            <a:ext cx="3383280" cy="731520"/>
          </a:xfrm>
          <a:prstGeom prst="rect">
            <a:avLst/>
          </a:prstGeom>
          <a:noFill/>
        </p:spPr>
        <p:txBody>
          <a:bodyPr wrap="square">
            <a:spAutoFit/>
          </a:bodyPr>
          <a:lstStyle/>
          <a:p>
            <a:pPr algn="l"/>
            <a:r>
              <a:rPr sz="1100" b="0" i="0">
                <a:solidFill>
                  <a:srgbClr val="94A3B8"/>
                </a:solidFill>
                <a:latin typeface="Calibri"/>
              </a:rPr>
              <a:t>Normalizer handles 100+ Indian industrial terms</a:t>
            </a:r>
          </a:p>
        </p:txBody>
      </p:sp>
      <p:sp>
        <p:nvSpPr>
          <p:cNvPr id="58" name="Rectangle 57"/>
          <p:cNvSpPr/>
          <p:nvPr/>
        </p:nvSpPr>
        <p:spPr>
          <a:xfrm>
            <a:off x="4389120" y="5943600"/>
            <a:ext cx="338328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89120" y="5971032"/>
            <a:ext cx="3383280" cy="365760"/>
          </a:xfrm>
          <a:prstGeom prst="rect">
            <a:avLst/>
          </a:prstGeom>
          <a:noFill/>
        </p:spPr>
        <p:txBody>
          <a:bodyPr wrap="square">
            <a:spAutoFit/>
          </a:bodyPr>
          <a:lstStyle/>
          <a:p>
            <a:pPr algn="ctr"/>
            <a:r>
              <a:rPr sz="1100" b="1" i="0">
                <a:solidFill>
                  <a:srgbClr val="0F172A"/>
                </a:solidFill>
                <a:latin typeface="Calibri"/>
              </a:rPr>
              <a:t>Threshold: ≥65% composite score → submit for human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Domain Intelligence</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Indian Industrial Material Knowledge</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5303520" cy="347472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828800"/>
            <a:ext cx="5303520" cy="34747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74519"/>
            <a:ext cx="5120640" cy="274320"/>
          </a:xfrm>
          <a:prstGeom prst="rect">
            <a:avLst/>
          </a:prstGeom>
          <a:noFill/>
        </p:spPr>
        <p:txBody>
          <a:bodyPr wrap="square">
            <a:spAutoFit/>
          </a:bodyPr>
          <a:lstStyle/>
          <a:p>
            <a:pPr algn="l"/>
            <a:r>
              <a:rPr sz="1300" b="1" i="0">
                <a:solidFill>
                  <a:srgbClr val="0F172A"/>
                </a:solidFill>
                <a:latin typeface="Calibri"/>
              </a:rPr>
              <a:t>Normalizer Features</a:t>
            </a:r>
          </a:p>
        </p:txBody>
      </p:sp>
      <p:sp>
        <p:nvSpPr>
          <p:cNvPr id="13" name="TextBox 12"/>
          <p:cNvSpPr txBox="1"/>
          <p:nvPr/>
        </p:nvSpPr>
        <p:spPr>
          <a:xfrm>
            <a:off x="457200" y="2240280"/>
            <a:ext cx="1645920" cy="274320"/>
          </a:xfrm>
          <a:prstGeom prst="rect">
            <a:avLst/>
          </a:prstGeom>
          <a:noFill/>
        </p:spPr>
        <p:txBody>
          <a:bodyPr wrap="square">
            <a:spAutoFit/>
          </a:bodyPr>
          <a:lstStyle/>
          <a:p>
            <a:pPr algn="l"/>
            <a:r>
              <a:rPr sz="1000" b="1" i="0">
                <a:solidFill>
                  <a:srgbClr val="94A3B8"/>
                </a:solidFill>
                <a:latin typeface="Calibri"/>
              </a:rPr>
              <a:t>Feature</a:t>
            </a:r>
          </a:p>
        </p:txBody>
      </p:sp>
      <p:sp>
        <p:nvSpPr>
          <p:cNvPr id="14" name="TextBox 13"/>
          <p:cNvSpPr txBox="1"/>
          <p:nvPr/>
        </p:nvSpPr>
        <p:spPr>
          <a:xfrm>
            <a:off x="2194560" y="2240280"/>
            <a:ext cx="1645920" cy="274320"/>
          </a:xfrm>
          <a:prstGeom prst="rect">
            <a:avLst/>
          </a:prstGeom>
          <a:noFill/>
        </p:spPr>
        <p:txBody>
          <a:bodyPr wrap="square">
            <a:spAutoFit/>
          </a:bodyPr>
          <a:lstStyle/>
          <a:p>
            <a:pPr algn="l"/>
            <a:r>
              <a:rPr sz="1000" b="1" i="0">
                <a:solidFill>
                  <a:srgbClr val="94A3B8"/>
                </a:solidFill>
                <a:latin typeface="Calibri"/>
              </a:rPr>
              <a:t>Example Input</a:t>
            </a:r>
          </a:p>
        </p:txBody>
      </p:sp>
      <p:sp>
        <p:nvSpPr>
          <p:cNvPr id="15" name="TextBox 14"/>
          <p:cNvSpPr txBox="1"/>
          <p:nvPr/>
        </p:nvSpPr>
        <p:spPr>
          <a:xfrm>
            <a:off x="3931920" y="2240280"/>
            <a:ext cx="1645920" cy="274320"/>
          </a:xfrm>
          <a:prstGeom prst="rect">
            <a:avLst/>
          </a:prstGeom>
          <a:noFill/>
        </p:spPr>
        <p:txBody>
          <a:bodyPr wrap="square">
            <a:spAutoFit/>
          </a:bodyPr>
          <a:lstStyle/>
          <a:p>
            <a:pPr algn="l"/>
            <a:r>
              <a:rPr sz="1000" b="1" i="0">
                <a:solidFill>
                  <a:srgbClr val="94A3B8"/>
                </a:solidFill>
                <a:latin typeface="Calibri"/>
              </a:rPr>
              <a:t>Normalized Output</a:t>
            </a:r>
          </a:p>
        </p:txBody>
      </p:sp>
      <p:sp>
        <p:nvSpPr>
          <p:cNvPr id="16" name="Rectangle 15"/>
          <p:cNvSpPr/>
          <p:nvPr/>
        </p:nvSpPr>
        <p:spPr>
          <a:xfrm>
            <a:off x="365760" y="2560320"/>
            <a:ext cx="5303520" cy="365760"/>
          </a:xfrm>
          <a:prstGeom prst="rect">
            <a:avLst/>
          </a:prstGeom>
          <a:solidFill>
            <a:srgbClr val="141C29"/>
          </a:solidFill>
          <a:ln w="381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606040"/>
            <a:ext cx="1691640" cy="274320"/>
          </a:xfrm>
          <a:prstGeom prst="rect">
            <a:avLst/>
          </a:prstGeom>
          <a:noFill/>
        </p:spPr>
        <p:txBody>
          <a:bodyPr wrap="square">
            <a:spAutoFit/>
          </a:bodyPr>
          <a:lstStyle/>
          <a:p>
            <a:pPr algn="l"/>
            <a:r>
              <a:rPr sz="900" b="0" i="0">
                <a:solidFill>
                  <a:srgbClr val="94A3B8"/>
                </a:solidFill>
                <a:latin typeface="Calibri"/>
              </a:rPr>
              <a:t>IS Code removal</a:t>
            </a:r>
          </a:p>
        </p:txBody>
      </p:sp>
      <p:sp>
        <p:nvSpPr>
          <p:cNvPr id="18" name="TextBox 17"/>
          <p:cNvSpPr txBox="1"/>
          <p:nvPr/>
        </p:nvSpPr>
        <p:spPr>
          <a:xfrm>
            <a:off x="2194560" y="2606040"/>
            <a:ext cx="1691640" cy="274320"/>
          </a:xfrm>
          <a:prstGeom prst="rect">
            <a:avLst/>
          </a:prstGeom>
          <a:noFill/>
        </p:spPr>
        <p:txBody>
          <a:bodyPr wrap="square">
            <a:spAutoFit/>
          </a:bodyPr>
          <a:lstStyle/>
          <a:p>
            <a:pPr algn="l"/>
            <a:r>
              <a:rPr sz="900" b="0" i="0">
                <a:solidFill>
                  <a:srgbClr val="F59E0B"/>
                </a:solidFill>
                <a:latin typeface="Calibri"/>
              </a:rPr>
              <a:t>"IS:1239 Pipe 50NB"</a:t>
            </a:r>
          </a:p>
        </p:txBody>
      </p:sp>
      <p:sp>
        <p:nvSpPr>
          <p:cNvPr id="19" name="TextBox 18"/>
          <p:cNvSpPr txBox="1"/>
          <p:nvPr/>
        </p:nvSpPr>
        <p:spPr>
          <a:xfrm>
            <a:off x="3931920" y="2606040"/>
            <a:ext cx="1691640" cy="274320"/>
          </a:xfrm>
          <a:prstGeom prst="rect">
            <a:avLst/>
          </a:prstGeom>
          <a:noFill/>
        </p:spPr>
        <p:txBody>
          <a:bodyPr wrap="square">
            <a:spAutoFit/>
          </a:bodyPr>
          <a:lstStyle/>
          <a:p>
            <a:pPr algn="l"/>
            <a:r>
              <a:rPr sz="900" b="0" i="0">
                <a:solidFill>
                  <a:srgbClr val="10B981"/>
                </a:solidFill>
                <a:latin typeface="Calibri"/>
              </a:rPr>
              <a:t>"pipe 50NB"</a:t>
            </a:r>
          </a:p>
        </p:txBody>
      </p:sp>
      <p:sp>
        <p:nvSpPr>
          <p:cNvPr id="20" name="Rectangle 19"/>
          <p:cNvSpPr/>
          <p:nvPr/>
        </p:nvSpPr>
        <p:spPr>
          <a:xfrm>
            <a:off x="365760" y="2944368"/>
            <a:ext cx="5303520" cy="365760"/>
          </a:xfrm>
          <a:prstGeom prst="rect">
            <a:avLst/>
          </a:prstGeom>
          <a:solidFill>
            <a:srgbClr val="182232"/>
          </a:solidFill>
          <a:ln w="381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990088"/>
            <a:ext cx="1691640" cy="274320"/>
          </a:xfrm>
          <a:prstGeom prst="rect">
            <a:avLst/>
          </a:prstGeom>
          <a:noFill/>
        </p:spPr>
        <p:txBody>
          <a:bodyPr wrap="square">
            <a:spAutoFit/>
          </a:bodyPr>
          <a:lstStyle/>
          <a:p>
            <a:pPr algn="l"/>
            <a:r>
              <a:rPr sz="900" b="0" i="0">
                <a:solidFill>
                  <a:srgbClr val="94A3B8"/>
                </a:solidFill>
                <a:latin typeface="Calibri"/>
              </a:rPr>
              <a:t>Grade normalization</a:t>
            </a:r>
          </a:p>
        </p:txBody>
      </p:sp>
      <p:sp>
        <p:nvSpPr>
          <p:cNvPr id="22" name="TextBox 21"/>
          <p:cNvSpPr txBox="1"/>
          <p:nvPr/>
        </p:nvSpPr>
        <p:spPr>
          <a:xfrm>
            <a:off x="2194560" y="2990088"/>
            <a:ext cx="1691640" cy="274320"/>
          </a:xfrm>
          <a:prstGeom prst="rect">
            <a:avLst/>
          </a:prstGeom>
          <a:noFill/>
        </p:spPr>
        <p:txBody>
          <a:bodyPr wrap="square">
            <a:spAutoFit/>
          </a:bodyPr>
          <a:lstStyle/>
          <a:p>
            <a:pPr algn="l"/>
            <a:r>
              <a:rPr sz="900" b="0" i="0">
                <a:solidFill>
                  <a:srgbClr val="F59E0B"/>
                </a:solidFill>
                <a:latin typeface="Calibri"/>
              </a:rPr>
              <a:t>"SS304, SS-304, 304SS"</a:t>
            </a:r>
          </a:p>
        </p:txBody>
      </p:sp>
      <p:sp>
        <p:nvSpPr>
          <p:cNvPr id="23" name="TextBox 22"/>
          <p:cNvSpPr txBox="1"/>
          <p:nvPr/>
        </p:nvSpPr>
        <p:spPr>
          <a:xfrm>
            <a:off x="3931920" y="2990088"/>
            <a:ext cx="1691640" cy="274320"/>
          </a:xfrm>
          <a:prstGeom prst="rect">
            <a:avLst/>
          </a:prstGeom>
          <a:noFill/>
        </p:spPr>
        <p:txBody>
          <a:bodyPr wrap="square">
            <a:spAutoFit/>
          </a:bodyPr>
          <a:lstStyle/>
          <a:p>
            <a:pPr algn="l"/>
            <a:r>
              <a:rPr sz="900" b="0" i="0">
                <a:solidFill>
                  <a:srgbClr val="10B981"/>
                </a:solidFill>
                <a:latin typeface="Calibri"/>
              </a:rPr>
              <a:t>"SS304"</a:t>
            </a:r>
          </a:p>
        </p:txBody>
      </p:sp>
      <p:sp>
        <p:nvSpPr>
          <p:cNvPr id="24" name="Rectangle 23"/>
          <p:cNvSpPr/>
          <p:nvPr/>
        </p:nvSpPr>
        <p:spPr>
          <a:xfrm>
            <a:off x="365760" y="3328416"/>
            <a:ext cx="5303520" cy="365760"/>
          </a:xfrm>
          <a:prstGeom prst="rect">
            <a:avLst/>
          </a:prstGeom>
          <a:solidFill>
            <a:srgbClr val="141C29"/>
          </a:solidFill>
          <a:ln w="381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374136"/>
            <a:ext cx="1691640" cy="274320"/>
          </a:xfrm>
          <a:prstGeom prst="rect">
            <a:avLst/>
          </a:prstGeom>
          <a:noFill/>
        </p:spPr>
        <p:txBody>
          <a:bodyPr wrap="square">
            <a:spAutoFit/>
          </a:bodyPr>
          <a:lstStyle/>
          <a:p>
            <a:pPr algn="l"/>
            <a:r>
              <a:rPr sz="900" b="0" i="0">
                <a:solidFill>
                  <a:srgbClr val="94A3B8"/>
                </a:solidFill>
                <a:latin typeface="Calibri"/>
              </a:rPr>
              <a:t>Dimension extraction</a:t>
            </a:r>
          </a:p>
        </p:txBody>
      </p:sp>
      <p:sp>
        <p:nvSpPr>
          <p:cNvPr id="26" name="TextBox 25"/>
          <p:cNvSpPr txBox="1"/>
          <p:nvPr/>
        </p:nvSpPr>
        <p:spPr>
          <a:xfrm>
            <a:off x="2194560" y="3374136"/>
            <a:ext cx="1691640" cy="274320"/>
          </a:xfrm>
          <a:prstGeom prst="rect">
            <a:avLst/>
          </a:prstGeom>
          <a:noFill/>
        </p:spPr>
        <p:txBody>
          <a:bodyPr wrap="square">
            <a:spAutoFit/>
          </a:bodyPr>
          <a:lstStyle/>
          <a:p>
            <a:pPr algn="l"/>
            <a:r>
              <a:rPr sz="900" b="0" i="0">
                <a:solidFill>
                  <a:srgbClr val="F59E0B"/>
                </a:solidFill>
                <a:latin typeface="Calibri"/>
              </a:rPr>
              <a:t>"M20x100"</a:t>
            </a:r>
          </a:p>
        </p:txBody>
      </p:sp>
      <p:sp>
        <p:nvSpPr>
          <p:cNvPr id="27" name="TextBox 26"/>
          <p:cNvSpPr txBox="1"/>
          <p:nvPr/>
        </p:nvSpPr>
        <p:spPr>
          <a:xfrm>
            <a:off x="3931920" y="3374136"/>
            <a:ext cx="1691640" cy="274320"/>
          </a:xfrm>
          <a:prstGeom prst="rect">
            <a:avLst/>
          </a:prstGeom>
          <a:noFill/>
        </p:spPr>
        <p:txBody>
          <a:bodyPr wrap="square">
            <a:spAutoFit/>
          </a:bodyPr>
          <a:lstStyle/>
          <a:p>
            <a:pPr algn="l"/>
            <a:r>
              <a:rPr sz="900" b="0" i="0">
                <a:solidFill>
                  <a:srgbClr val="10B981"/>
                </a:solidFill>
                <a:latin typeface="Calibri"/>
              </a:rPr>
              <a:t>{thread: 20, length: 100}</a:t>
            </a:r>
          </a:p>
        </p:txBody>
      </p:sp>
      <p:sp>
        <p:nvSpPr>
          <p:cNvPr id="28" name="Rectangle 27"/>
          <p:cNvSpPr/>
          <p:nvPr/>
        </p:nvSpPr>
        <p:spPr>
          <a:xfrm>
            <a:off x="365760" y="3712464"/>
            <a:ext cx="5303520" cy="365760"/>
          </a:xfrm>
          <a:prstGeom prst="rect">
            <a:avLst/>
          </a:prstGeom>
          <a:solidFill>
            <a:srgbClr val="182232"/>
          </a:solidFill>
          <a:ln w="381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758184"/>
            <a:ext cx="1691640" cy="274320"/>
          </a:xfrm>
          <a:prstGeom prst="rect">
            <a:avLst/>
          </a:prstGeom>
          <a:noFill/>
        </p:spPr>
        <p:txBody>
          <a:bodyPr wrap="square">
            <a:spAutoFit/>
          </a:bodyPr>
          <a:lstStyle/>
          <a:p>
            <a:pPr algn="l"/>
            <a:r>
              <a:rPr sz="900" b="0" i="0">
                <a:solidFill>
                  <a:srgbClr val="94A3B8"/>
                </a:solidFill>
                <a:latin typeface="Calibri"/>
              </a:rPr>
              <a:t>UOM suggestion</a:t>
            </a:r>
          </a:p>
        </p:txBody>
      </p:sp>
      <p:sp>
        <p:nvSpPr>
          <p:cNvPr id="30" name="TextBox 29"/>
          <p:cNvSpPr txBox="1"/>
          <p:nvPr/>
        </p:nvSpPr>
        <p:spPr>
          <a:xfrm>
            <a:off x="2194560" y="3758184"/>
            <a:ext cx="1691640" cy="274320"/>
          </a:xfrm>
          <a:prstGeom prst="rect">
            <a:avLst/>
          </a:prstGeom>
          <a:noFill/>
        </p:spPr>
        <p:txBody>
          <a:bodyPr wrap="square">
            <a:spAutoFit/>
          </a:bodyPr>
          <a:lstStyle/>
          <a:p>
            <a:pPr algn="l"/>
            <a:r>
              <a:rPr sz="900" b="0" i="0">
                <a:solidFill>
                  <a:srgbClr val="F59E0B"/>
                </a:solidFill>
                <a:latin typeface="Calibri"/>
              </a:rPr>
              <a:t>"Hydraulic Oil 200L"</a:t>
            </a:r>
          </a:p>
        </p:txBody>
      </p:sp>
      <p:sp>
        <p:nvSpPr>
          <p:cNvPr id="31" name="TextBox 30"/>
          <p:cNvSpPr txBox="1"/>
          <p:nvPr/>
        </p:nvSpPr>
        <p:spPr>
          <a:xfrm>
            <a:off x="3931920" y="3758184"/>
            <a:ext cx="1691640" cy="274320"/>
          </a:xfrm>
          <a:prstGeom prst="rect">
            <a:avLst/>
          </a:prstGeom>
          <a:noFill/>
        </p:spPr>
        <p:txBody>
          <a:bodyPr wrap="square">
            <a:spAutoFit/>
          </a:bodyPr>
          <a:lstStyle/>
          <a:p>
            <a:pPr algn="l"/>
            <a:r>
              <a:rPr sz="900" b="0" i="0">
                <a:solidFill>
                  <a:srgbClr val="10B981"/>
                </a:solidFill>
                <a:latin typeface="Calibri"/>
              </a:rPr>
              <a:t>"LTR"</a:t>
            </a:r>
          </a:p>
        </p:txBody>
      </p:sp>
      <p:sp>
        <p:nvSpPr>
          <p:cNvPr id="32" name="Rectangle 31"/>
          <p:cNvSpPr/>
          <p:nvPr/>
        </p:nvSpPr>
        <p:spPr>
          <a:xfrm>
            <a:off x="365760" y="4096512"/>
            <a:ext cx="5303520" cy="365760"/>
          </a:xfrm>
          <a:prstGeom prst="rect">
            <a:avLst/>
          </a:prstGeom>
          <a:solidFill>
            <a:srgbClr val="141C29"/>
          </a:solidFill>
          <a:ln w="381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142232"/>
            <a:ext cx="1691640" cy="274320"/>
          </a:xfrm>
          <a:prstGeom prst="rect">
            <a:avLst/>
          </a:prstGeom>
          <a:noFill/>
        </p:spPr>
        <p:txBody>
          <a:bodyPr wrap="square">
            <a:spAutoFit/>
          </a:bodyPr>
          <a:lstStyle/>
          <a:p>
            <a:pPr algn="l"/>
            <a:r>
              <a:rPr sz="900" b="0" i="0">
                <a:solidFill>
                  <a:srgbClr val="94A3B8"/>
                </a:solidFill>
                <a:latin typeface="Calibri"/>
              </a:rPr>
              <a:t>Variant mapping</a:t>
            </a:r>
          </a:p>
        </p:txBody>
      </p:sp>
      <p:sp>
        <p:nvSpPr>
          <p:cNvPr id="34" name="TextBox 33"/>
          <p:cNvSpPr txBox="1"/>
          <p:nvPr/>
        </p:nvSpPr>
        <p:spPr>
          <a:xfrm>
            <a:off x="2194560" y="4142232"/>
            <a:ext cx="1691640" cy="274320"/>
          </a:xfrm>
          <a:prstGeom prst="rect">
            <a:avLst/>
          </a:prstGeom>
          <a:noFill/>
        </p:spPr>
        <p:txBody>
          <a:bodyPr wrap="square">
            <a:spAutoFit/>
          </a:bodyPr>
          <a:lstStyle/>
          <a:p>
            <a:pPr algn="l"/>
            <a:r>
              <a:rPr sz="900" b="0" i="0">
                <a:solidFill>
                  <a:srgbClr val="F59E0B"/>
                </a:solidFill>
                <a:latin typeface="Calibri"/>
              </a:rPr>
              <a:t>"Flange, Flg., FLNG"</a:t>
            </a:r>
          </a:p>
        </p:txBody>
      </p:sp>
      <p:sp>
        <p:nvSpPr>
          <p:cNvPr id="35" name="TextBox 34"/>
          <p:cNvSpPr txBox="1"/>
          <p:nvPr/>
        </p:nvSpPr>
        <p:spPr>
          <a:xfrm>
            <a:off x="3931920" y="4142232"/>
            <a:ext cx="1691640" cy="274320"/>
          </a:xfrm>
          <a:prstGeom prst="rect">
            <a:avLst/>
          </a:prstGeom>
          <a:noFill/>
        </p:spPr>
        <p:txBody>
          <a:bodyPr wrap="square">
            <a:spAutoFit/>
          </a:bodyPr>
          <a:lstStyle/>
          <a:p>
            <a:pPr algn="l"/>
            <a:r>
              <a:rPr sz="900" b="0" i="0">
                <a:solidFill>
                  <a:srgbClr val="10B981"/>
                </a:solidFill>
                <a:latin typeface="Calibri"/>
              </a:rPr>
              <a:t>"flange"</a:t>
            </a:r>
          </a:p>
        </p:txBody>
      </p:sp>
      <p:sp>
        <p:nvSpPr>
          <p:cNvPr id="36" name="Rectangle 35"/>
          <p:cNvSpPr/>
          <p:nvPr/>
        </p:nvSpPr>
        <p:spPr>
          <a:xfrm>
            <a:off x="365760" y="4480560"/>
            <a:ext cx="5303520" cy="365760"/>
          </a:xfrm>
          <a:prstGeom prst="rect">
            <a:avLst/>
          </a:prstGeom>
          <a:solidFill>
            <a:srgbClr val="182232"/>
          </a:solidFill>
          <a:ln w="381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526280"/>
            <a:ext cx="1691640" cy="274320"/>
          </a:xfrm>
          <a:prstGeom prst="rect">
            <a:avLst/>
          </a:prstGeom>
          <a:noFill/>
        </p:spPr>
        <p:txBody>
          <a:bodyPr wrap="square">
            <a:spAutoFit/>
          </a:bodyPr>
          <a:lstStyle/>
          <a:p>
            <a:pPr algn="l"/>
            <a:r>
              <a:rPr sz="900" b="0" i="0">
                <a:solidFill>
                  <a:srgbClr val="94A3B8"/>
                </a:solidFill>
                <a:latin typeface="Calibri"/>
              </a:rPr>
              <a:t>Material family</a:t>
            </a:r>
          </a:p>
        </p:txBody>
      </p:sp>
      <p:sp>
        <p:nvSpPr>
          <p:cNvPr id="38" name="TextBox 37"/>
          <p:cNvSpPr txBox="1"/>
          <p:nvPr/>
        </p:nvSpPr>
        <p:spPr>
          <a:xfrm>
            <a:off x="2194560" y="4526280"/>
            <a:ext cx="1691640" cy="274320"/>
          </a:xfrm>
          <a:prstGeom prst="rect">
            <a:avLst/>
          </a:prstGeom>
          <a:noFill/>
        </p:spPr>
        <p:txBody>
          <a:bodyPr wrap="square">
            <a:spAutoFit/>
          </a:bodyPr>
          <a:lstStyle/>
          <a:p>
            <a:pPr algn="l"/>
            <a:r>
              <a:rPr sz="900" b="0" i="0">
                <a:solidFill>
                  <a:srgbClr val="F59E0B"/>
                </a:solidFill>
                <a:latin typeface="Calibri"/>
              </a:rPr>
              <a:t>"Hex Bolt" → FA segment lookup</a:t>
            </a:r>
          </a:p>
        </p:txBody>
      </p:sp>
      <p:sp>
        <p:nvSpPr>
          <p:cNvPr id="39" name="TextBox 38"/>
          <p:cNvSpPr txBox="1"/>
          <p:nvPr/>
        </p:nvSpPr>
        <p:spPr>
          <a:xfrm>
            <a:off x="3931920" y="4526280"/>
            <a:ext cx="1691640" cy="274320"/>
          </a:xfrm>
          <a:prstGeom prst="rect">
            <a:avLst/>
          </a:prstGeom>
          <a:noFill/>
        </p:spPr>
        <p:txBody>
          <a:bodyPr wrap="square">
            <a:spAutoFit/>
          </a:bodyPr>
          <a:lstStyle/>
          <a:p>
            <a:pPr algn="l"/>
            <a:r>
              <a:rPr sz="900" b="0" i="0">
                <a:solidFill>
                  <a:srgbClr val="10B981"/>
                </a:solidFill>
                <a:latin typeface="Calibri"/>
              </a:rPr>
              <a:t>Auto-classified</a:t>
            </a:r>
          </a:p>
        </p:txBody>
      </p:sp>
      <p:sp>
        <p:nvSpPr>
          <p:cNvPr id="40" name="Rectangle 39"/>
          <p:cNvSpPr/>
          <p:nvPr/>
        </p:nvSpPr>
        <p:spPr>
          <a:xfrm>
            <a:off x="5943600" y="1828800"/>
            <a:ext cx="5852160" cy="3474720"/>
          </a:xfrm>
          <a:prstGeom prst="rect">
            <a:avLst/>
          </a:prstGeom>
          <a:solidFill>
            <a:srgbClr val="1E3A5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43600" y="1828800"/>
            <a:ext cx="585216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1874519"/>
            <a:ext cx="5669280" cy="274320"/>
          </a:xfrm>
          <a:prstGeom prst="rect">
            <a:avLst/>
          </a:prstGeom>
          <a:noFill/>
        </p:spPr>
        <p:txBody>
          <a:bodyPr wrap="square">
            <a:spAutoFit/>
          </a:bodyPr>
          <a:lstStyle/>
          <a:p>
            <a:pPr algn="l"/>
            <a:r>
              <a:rPr sz="1300" b="1" i="0">
                <a:solidFill>
                  <a:srgbClr val="0F172A"/>
                </a:solidFill>
                <a:latin typeface="Calibri"/>
              </a:rPr>
              <a:t>14 Material Families (Segments)</a:t>
            </a:r>
          </a:p>
        </p:txBody>
      </p:sp>
      <p:sp>
        <p:nvSpPr>
          <p:cNvPr id="43" name="Rectangle 42"/>
          <p:cNvSpPr/>
          <p:nvPr/>
        </p:nvSpPr>
        <p:spPr>
          <a:xfrm>
            <a:off x="6035040" y="2286000"/>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035040" y="2286000"/>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89904" y="2322576"/>
            <a:ext cx="411480" cy="256032"/>
          </a:xfrm>
          <a:prstGeom prst="rect">
            <a:avLst/>
          </a:prstGeom>
          <a:noFill/>
        </p:spPr>
        <p:txBody>
          <a:bodyPr wrap="square">
            <a:spAutoFit/>
          </a:bodyPr>
          <a:lstStyle/>
          <a:p>
            <a:pPr algn="ctr"/>
            <a:r>
              <a:rPr sz="900" b="1" i="0">
                <a:solidFill>
                  <a:srgbClr val="0F172A"/>
                </a:solidFill>
                <a:latin typeface="Calibri"/>
              </a:rPr>
              <a:t>FA</a:t>
            </a:r>
          </a:p>
        </p:txBody>
      </p:sp>
      <p:sp>
        <p:nvSpPr>
          <p:cNvPr id="46" name="TextBox 45"/>
          <p:cNvSpPr txBox="1"/>
          <p:nvPr/>
        </p:nvSpPr>
        <p:spPr>
          <a:xfrm>
            <a:off x="6601968" y="2322576"/>
            <a:ext cx="2103120" cy="256032"/>
          </a:xfrm>
          <a:prstGeom prst="rect">
            <a:avLst/>
          </a:prstGeom>
          <a:noFill/>
        </p:spPr>
        <p:txBody>
          <a:bodyPr wrap="square">
            <a:spAutoFit/>
          </a:bodyPr>
          <a:lstStyle/>
          <a:p>
            <a:pPr algn="l"/>
            <a:r>
              <a:rPr sz="1000" b="0" i="0">
                <a:solidFill>
                  <a:srgbClr val="FFFFFF"/>
                </a:solidFill>
                <a:latin typeface="Calibri"/>
              </a:rPr>
              <a:t>Fasteners</a:t>
            </a:r>
          </a:p>
        </p:txBody>
      </p:sp>
      <p:sp>
        <p:nvSpPr>
          <p:cNvPr id="47" name="Rectangle 46"/>
          <p:cNvSpPr/>
          <p:nvPr/>
        </p:nvSpPr>
        <p:spPr>
          <a:xfrm>
            <a:off x="8869680" y="2286000"/>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869680" y="2286000"/>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24544" y="2322576"/>
            <a:ext cx="411480" cy="256032"/>
          </a:xfrm>
          <a:prstGeom prst="rect">
            <a:avLst/>
          </a:prstGeom>
          <a:noFill/>
        </p:spPr>
        <p:txBody>
          <a:bodyPr wrap="square">
            <a:spAutoFit/>
          </a:bodyPr>
          <a:lstStyle/>
          <a:p>
            <a:pPr algn="ctr"/>
            <a:r>
              <a:rPr sz="900" b="1" i="0">
                <a:solidFill>
                  <a:srgbClr val="0F172A"/>
                </a:solidFill>
                <a:latin typeface="Calibri"/>
              </a:rPr>
              <a:t>PT</a:t>
            </a:r>
          </a:p>
        </p:txBody>
      </p:sp>
      <p:sp>
        <p:nvSpPr>
          <p:cNvPr id="50" name="TextBox 49"/>
          <p:cNvSpPr txBox="1"/>
          <p:nvPr/>
        </p:nvSpPr>
        <p:spPr>
          <a:xfrm>
            <a:off x="9436608" y="2322576"/>
            <a:ext cx="2103120" cy="256032"/>
          </a:xfrm>
          <a:prstGeom prst="rect">
            <a:avLst/>
          </a:prstGeom>
          <a:noFill/>
        </p:spPr>
        <p:txBody>
          <a:bodyPr wrap="square">
            <a:spAutoFit/>
          </a:bodyPr>
          <a:lstStyle/>
          <a:p>
            <a:pPr algn="l"/>
            <a:r>
              <a:rPr sz="1000" b="0" i="0">
                <a:solidFill>
                  <a:srgbClr val="FFFFFF"/>
                </a:solidFill>
                <a:latin typeface="Calibri"/>
              </a:rPr>
              <a:t>Pipes &amp; Tubes</a:t>
            </a:r>
          </a:p>
        </p:txBody>
      </p:sp>
      <p:sp>
        <p:nvSpPr>
          <p:cNvPr id="51" name="Rectangle 50"/>
          <p:cNvSpPr/>
          <p:nvPr/>
        </p:nvSpPr>
        <p:spPr>
          <a:xfrm>
            <a:off x="6035040" y="2670048"/>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35040" y="2670048"/>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89904" y="2706624"/>
            <a:ext cx="411480" cy="256032"/>
          </a:xfrm>
          <a:prstGeom prst="rect">
            <a:avLst/>
          </a:prstGeom>
          <a:noFill/>
        </p:spPr>
        <p:txBody>
          <a:bodyPr wrap="square">
            <a:spAutoFit/>
          </a:bodyPr>
          <a:lstStyle/>
          <a:p>
            <a:pPr algn="ctr"/>
            <a:r>
              <a:rPr sz="900" b="1" i="0">
                <a:solidFill>
                  <a:srgbClr val="0F172A"/>
                </a:solidFill>
                <a:latin typeface="Calibri"/>
              </a:rPr>
              <a:t>VF</a:t>
            </a:r>
          </a:p>
        </p:txBody>
      </p:sp>
      <p:sp>
        <p:nvSpPr>
          <p:cNvPr id="54" name="TextBox 53"/>
          <p:cNvSpPr txBox="1"/>
          <p:nvPr/>
        </p:nvSpPr>
        <p:spPr>
          <a:xfrm>
            <a:off x="6601968" y="2706624"/>
            <a:ext cx="2103120" cy="256032"/>
          </a:xfrm>
          <a:prstGeom prst="rect">
            <a:avLst/>
          </a:prstGeom>
          <a:noFill/>
        </p:spPr>
        <p:txBody>
          <a:bodyPr wrap="square">
            <a:spAutoFit/>
          </a:bodyPr>
          <a:lstStyle/>
          <a:p>
            <a:pPr algn="l"/>
            <a:r>
              <a:rPr sz="1000" b="0" i="0">
                <a:solidFill>
                  <a:srgbClr val="FFFFFF"/>
                </a:solidFill>
                <a:latin typeface="Calibri"/>
              </a:rPr>
              <a:t>Valves &amp; Fittings</a:t>
            </a:r>
          </a:p>
        </p:txBody>
      </p:sp>
      <p:sp>
        <p:nvSpPr>
          <p:cNvPr id="55" name="Rectangle 54"/>
          <p:cNvSpPr/>
          <p:nvPr/>
        </p:nvSpPr>
        <p:spPr>
          <a:xfrm>
            <a:off x="8869680" y="2670048"/>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869680" y="2670048"/>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924544" y="2706624"/>
            <a:ext cx="411480" cy="256032"/>
          </a:xfrm>
          <a:prstGeom prst="rect">
            <a:avLst/>
          </a:prstGeom>
          <a:noFill/>
        </p:spPr>
        <p:txBody>
          <a:bodyPr wrap="square">
            <a:spAutoFit/>
          </a:bodyPr>
          <a:lstStyle/>
          <a:p>
            <a:pPr algn="ctr"/>
            <a:r>
              <a:rPr sz="900" b="1" i="0">
                <a:solidFill>
                  <a:srgbClr val="0F172A"/>
                </a:solidFill>
                <a:latin typeface="Calibri"/>
              </a:rPr>
              <a:t>EL</a:t>
            </a:r>
          </a:p>
        </p:txBody>
      </p:sp>
      <p:sp>
        <p:nvSpPr>
          <p:cNvPr id="58" name="TextBox 57"/>
          <p:cNvSpPr txBox="1"/>
          <p:nvPr/>
        </p:nvSpPr>
        <p:spPr>
          <a:xfrm>
            <a:off x="9436608" y="2706624"/>
            <a:ext cx="2103120" cy="256032"/>
          </a:xfrm>
          <a:prstGeom prst="rect">
            <a:avLst/>
          </a:prstGeom>
          <a:noFill/>
        </p:spPr>
        <p:txBody>
          <a:bodyPr wrap="square">
            <a:spAutoFit/>
          </a:bodyPr>
          <a:lstStyle/>
          <a:p>
            <a:pPr algn="l"/>
            <a:r>
              <a:rPr sz="1000" b="0" i="0">
                <a:solidFill>
                  <a:srgbClr val="FFFFFF"/>
                </a:solidFill>
                <a:latin typeface="Calibri"/>
              </a:rPr>
              <a:t>Electrical</a:t>
            </a:r>
          </a:p>
        </p:txBody>
      </p:sp>
      <p:sp>
        <p:nvSpPr>
          <p:cNvPr id="59" name="Rectangle 58"/>
          <p:cNvSpPr/>
          <p:nvPr/>
        </p:nvSpPr>
        <p:spPr>
          <a:xfrm>
            <a:off x="6035040" y="3054096"/>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035040" y="3054096"/>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89904" y="3090672"/>
            <a:ext cx="411480" cy="256032"/>
          </a:xfrm>
          <a:prstGeom prst="rect">
            <a:avLst/>
          </a:prstGeom>
          <a:noFill/>
        </p:spPr>
        <p:txBody>
          <a:bodyPr wrap="square">
            <a:spAutoFit/>
          </a:bodyPr>
          <a:lstStyle/>
          <a:p>
            <a:pPr algn="ctr"/>
            <a:r>
              <a:rPr sz="900" b="1" i="0">
                <a:solidFill>
                  <a:srgbClr val="0F172A"/>
                </a:solidFill>
                <a:latin typeface="Calibri"/>
              </a:rPr>
              <a:t>BE</a:t>
            </a:r>
          </a:p>
        </p:txBody>
      </p:sp>
      <p:sp>
        <p:nvSpPr>
          <p:cNvPr id="62" name="TextBox 61"/>
          <p:cNvSpPr txBox="1"/>
          <p:nvPr/>
        </p:nvSpPr>
        <p:spPr>
          <a:xfrm>
            <a:off x="6601968" y="3090672"/>
            <a:ext cx="2103120" cy="256032"/>
          </a:xfrm>
          <a:prstGeom prst="rect">
            <a:avLst/>
          </a:prstGeom>
          <a:noFill/>
        </p:spPr>
        <p:txBody>
          <a:bodyPr wrap="square">
            <a:spAutoFit/>
          </a:bodyPr>
          <a:lstStyle/>
          <a:p>
            <a:pPr algn="l"/>
            <a:r>
              <a:rPr sz="1000" b="0" i="0">
                <a:solidFill>
                  <a:srgbClr val="FFFFFF"/>
                </a:solidFill>
                <a:latin typeface="Calibri"/>
              </a:rPr>
              <a:t>Bearings</a:t>
            </a:r>
          </a:p>
        </p:txBody>
      </p:sp>
      <p:sp>
        <p:nvSpPr>
          <p:cNvPr id="63" name="Rectangle 62"/>
          <p:cNvSpPr/>
          <p:nvPr/>
        </p:nvSpPr>
        <p:spPr>
          <a:xfrm>
            <a:off x="8869680" y="3054096"/>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869680" y="3054096"/>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924544" y="3090672"/>
            <a:ext cx="411480" cy="256032"/>
          </a:xfrm>
          <a:prstGeom prst="rect">
            <a:avLst/>
          </a:prstGeom>
          <a:noFill/>
        </p:spPr>
        <p:txBody>
          <a:bodyPr wrap="square">
            <a:spAutoFit/>
          </a:bodyPr>
          <a:lstStyle/>
          <a:p>
            <a:pPr algn="ctr"/>
            <a:r>
              <a:rPr sz="900" b="1" i="0">
                <a:solidFill>
                  <a:srgbClr val="0F172A"/>
                </a:solidFill>
                <a:latin typeface="Calibri"/>
              </a:rPr>
              <a:t>HL</a:t>
            </a:r>
          </a:p>
        </p:txBody>
      </p:sp>
      <p:sp>
        <p:nvSpPr>
          <p:cNvPr id="66" name="TextBox 65"/>
          <p:cNvSpPr txBox="1"/>
          <p:nvPr/>
        </p:nvSpPr>
        <p:spPr>
          <a:xfrm>
            <a:off x="9436608" y="3090672"/>
            <a:ext cx="2103120" cy="256032"/>
          </a:xfrm>
          <a:prstGeom prst="rect">
            <a:avLst/>
          </a:prstGeom>
          <a:noFill/>
        </p:spPr>
        <p:txBody>
          <a:bodyPr wrap="square">
            <a:spAutoFit/>
          </a:bodyPr>
          <a:lstStyle/>
          <a:p>
            <a:pPr algn="l"/>
            <a:r>
              <a:rPr sz="1000" b="0" i="0">
                <a:solidFill>
                  <a:srgbClr val="FFFFFF"/>
                </a:solidFill>
                <a:latin typeface="Calibri"/>
              </a:rPr>
              <a:t>Hydraulics &amp; Pneumatics</a:t>
            </a:r>
          </a:p>
        </p:txBody>
      </p:sp>
      <p:sp>
        <p:nvSpPr>
          <p:cNvPr id="67" name="Rectangle 66"/>
          <p:cNvSpPr/>
          <p:nvPr/>
        </p:nvSpPr>
        <p:spPr>
          <a:xfrm>
            <a:off x="6035040" y="3438144"/>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035040" y="3438144"/>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089904" y="3474720"/>
            <a:ext cx="411480" cy="256032"/>
          </a:xfrm>
          <a:prstGeom prst="rect">
            <a:avLst/>
          </a:prstGeom>
          <a:noFill/>
        </p:spPr>
        <p:txBody>
          <a:bodyPr wrap="square">
            <a:spAutoFit/>
          </a:bodyPr>
          <a:lstStyle/>
          <a:p>
            <a:pPr algn="ctr"/>
            <a:r>
              <a:rPr sz="900" b="1" i="0">
                <a:solidFill>
                  <a:srgbClr val="0F172A"/>
                </a:solidFill>
                <a:latin typeface="Calibri"/>
              </a:rPr>
              <a:t>IN</a:t>
            </a:r>
          </a:p>
        </p:txBody>
      </p:sp>
      <p:sp>
        <p:nvSpPr>
          <p:cNvPr id="70" name="TextBox 69"/>
          <p:cNvSpPr txBox="1"/>
          <p:nvPr/>
        </p:nvSpPr>
        <p:spPr>
          <a:xfrm>
            <a:off x="6601968" y="3474720"/>
            <a:ext cx="2103120" cy="256032"/>
          </a:xfrm>
          <a:prstGeom prst="rect">
            <a:avLst/>
          </a:prstGeom>
          <a:noFill/>
        </p:spPr>
        <p:txBody>
          <a:bodyPr wrap="square">
            <a:spAutoFit/>
          </a:bodyPr>
          <a:lstStyle/>
          <a:p>
            <a:pPr algn="l"/>
            <a:r>
              <a:rPr sz="1000" b="0" i="0">
                <a:solidFill>
                  <a:srgbClr val="FFFFFF"/>
                </a:solidFill>
                <a:latin typeface="Calibri"/>
              </a:rPr>
              <a:t>Instruments</a:t>
            </a:r>
          </a:p>
        </p:txBody>
      </p:sp>
      <p:sp>
        <p:nvSpPr>
          <p:cNvPr id="71" name="Rectangle 70"/>
          <p:cNvSpPr/>
          <p:nvPr/>
        </p:nvSpPr>
        <p:spPr>
          <a:xfrm>
            <a:off x="8869680" y="3438144"/>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869680" y="3438144"/>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924544" y="3474720"/>
            <a:ext cx="411480" cy="256032"/>
          </a:xfrm>
          <a:prstGeom prst="rect">
            <a:avLst/>
          </a:prstGeom>
          <a:noFill/>
        </p:spPr>
        <p:txBody>
          <a:bodyPr wrap="square">
            <a:spAutoFit/>
          </a:bodyPr>
          <a:lstStyle/>
          <a:p>
            <a:pPr algn="ctr"/>
            <a:r>
              <a:rPr sz="900" b="1" i="0">
                <a:solidFill>
                  <a:srgbClr val="0F172A"/>
                </a:solidFill>
                <a:latin typeface="Calibri"/>
              </a:rPr>
              <a:t>SS</a:t>
            </a:r>
          </a:p>
        </p:txBody>
      </p:sp>
      <p:sp>
        <p:nvSpPr>
          <p:cNvPr id="74" name="TextBox 73"/>
          <p:cNvSpPr txBox="1"/>
          <p:nvPr/>
        </p:nvSpPr>
        <p:spPr>
          <a:xfrm>
            <a:off x="9436608" y="3474720"/>
            <a:ext cx="2103120" cy="256032"/>
          </a:xfrm>
          <a:prstGeom prst="rect">
            <a:avLst/>
          </a:prstGeom>
          <a:noFill/>
        </p:spPr>
        <p:txBody>
          <a:bodyPr wrap="square">
            <a:spAutoFit/>
          </a:bodyPr>
          <a:lstStyle/>
          <a:p>
            <a:pPr algn="l"/>
            <a:r>
              <a:rPr sz="1000" b="0" i="0">
                <a:solidFill>
                  <a:srgbClr val="FFFFFF"/>
                </a:solidFill>
                <a:latin typeface="Calibri"/>
              </a:rPr>
              <a:t>Structural Steel</a:t>
            </a:r>
          </a:p>
        </p:txBody>
      </p:sp>
      <p:sp>
        <p:nvSpPr>
          <p:cNvPr id="75" name="Rectangle 74"/>
          <p:cNvSpPr/>
          <p:nvPr/>
        </p:nvSpPr>
        <p:spPr>
          <a:xfrm>
            <a:off x="6035040" y="3822192"/>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035040" y="3822192"/>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089904" y="3858768"/>
            <a:ext cx="411480" cy="256032"/>
          </a:xfrm>
          <a:prstGeom prst="rect">
            <a:avLst/>
          </a:prstGeom>
          <a:noFill/>
        </p:spPr>
        <p:txBody>
          <a:bodyPr wrap="square">
            <a:spAutoFit/>
          </a:bodyPr>
          <a:lstStyle/>
          <a:p>
            <a:pPr algn="ctr"/>
            <a:r>
              <a:rPr sz="900" b="1" i="0">
                <a:solidFill>
                  <a:srgbClr val="0F172A"/>
                </a:solidFill>
                <a:latin typeface="Calibri"/>
              </a:rPr>
              <a:t>WE</a:t>
            </a:r>
          </a:p>
        </p:txBody>
      </p:sp>
      <p:sp>
        <p:nvSpPr>
          <p:cNvPr id="78" name="TextBox 77"/>
          <p:cNvSpPr txBox="1"/>
          <p:nvPr/>
        </p:nvSpPr>
        <p:spPr>
          <a:xfrm>
            <a:off x="6601968" y="3858768"/>
            <a:ext cx="2103120" cy="256032"/>
          </a:xfrm>
          <a:prstGeom prst="rect">
            <a:avLst/>
          </a:prstGeom>
          <a:noFill/>
        </p:spPr>
        <p:txBody>
          <a:bodyPr wrap="square">
            <a:spAutoFit/>
          </a:bodyPr>
          <a:lstStyle/>
          <a:p>
            <a:pPr algn="l"/>
            <a:r>
              <a:rPr sz="1000" b="0" i="0">
                <a:solidFill>
                  <a:srgbClr val="FFFFFF"/>
                </a:solidFill>
                <a:latin typeface="Calibri"/>
              </a:rPr>
              <a:t>Welding</a:t>
            </a:r>
          </a:p>
        </p:txBody>
      </p:sp>
      <p:sp>
        <p:nvSpPr>
          <p:cNvPr id="79" name="Rectangle 78"/>
          <p:cNvSpPr/>
          <p:nvPr/>
        </p:nvSpPr>
        <p:spPr>
          <a:xfrm>
            <a:off x="8869680" y="3822192"/>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869680" y="3822192"/>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924544" y="3858768"/>
            <a:ext cx="411480" cy="256032"/>
          </a:xfrm>
          <a:prstGeom prst="rect">
            <a:avLst/>
          </a:prstGeom>
          <a:noFill/>
        </p:spPr>
        <p:txBody>
          <a:bodyPr wrap="square">
            <a:spAutoFit/>
          </a:bodyPr>
          <a:lstStyle/>
          <a:p>
            <a:pPr algn="ctr"/>
            <a:r>
              <a:rPr sz="900" b="1" i="0">
                <a:solidFill>
                  <a:srgbClr val="0F172A"/>
                </a:solidFill>
                <a:latin typeface="Calibri"/>
              </a:rPr>
              <a:t>SP</a:t>
            </a:r>
          </a:p>
        </p:txBody>
      </p:sp>
      <p:sp>
        <p:nvSpPr>
          <p:cNvPr id="82" name="TextBox 81"/>
          <p:cNvSpPr txBox="1"/>
          <p:nvPr/>
        </p:nvSpPr>
        <p:spPr>
          <a:xfrm>
            <a:off x="9436608" y="3858768"/>
            <a:ext cx="2103120" cy="256032"/>
          </a:xfrm>
          <a:prstGeom prst="rect">
            <a:avLst/>
          </a:prstGeom>
          <a:noFill/>
        </p:spPr>
        <p:txBody>
          <a:bodyPr wrap="square">
            <a:spAutoFit/>
          </a:bodyPr>
          <a:lstStyle/>
          <a:p>
            <a:pPr algn="l"/>
            <a:r>
              <a:rPr sz="1000" b="0" i="0">
                <a:solidFill>
                  <a:srgbClr val="FFFFFF"/>
                </a:solidFill>
                <a:latin typeface="Calibri"/>
              </a:rPr>
              <a:t>Safety &amp; PPE</a:t>
            </a:r>
          </a:p>
        </p:txBody>
      </p:sp>
      <p:sp>
        <p:nvSpPr>
          <p:cNvPr id="83" name="Rectangle 82"/>
          <p:cNvSpPr/>
          <p:nvPr/>
        </p:nvSpPr>
        <p:spPr>
          <a:xfrm>
            <a:off x="6035040" y="4206240"/>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035040" y="4206240"/>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089904" y="4242816"/>
            <a:ext cx="411480" cy="256032"/>
          </a:xfrm>
          <a:prstGeom prst="rect">
            <a:avLst/>
          </a:prstGeom>
          <a:noFill/>
        </p:spPr>
        <p:txBody>
          <a:bodyPr wrap="square">
            <a:spAutoFit/>
          </a:bodyPr>
          <a:lstStyle/>
          <a:p>
            <a:pPr algn="ctr"/>
            <a:r>
              <a:rPr sz="900" b="1" i="0">
                <a:solidFill>
                  <a:srgbClr val="0F172A"/>
                </a:solidFill>
                <a:latin typeface="Calibri"/>
              </a:rPr>
              <a:t>PC</a:t>
            </a:r>
          </a:p>
        </p:txBody>
      </p:sp>
      <p:sp>
        <p:nvSpPr>
          <p:cNvPr id="86" name="TextBox 85"/>
          <p:cNvSpPr txBox="1"/>
          <p:nvPr/>
        </p:nvSpPr>
        <p:spPr>
          <a:xfrm>
            <a:off x="6601968" y="4242816"/>
            <a:ext cx="2103120" cy="256032"/>
          </a:xfrm>
          <a:prstGeom prst="rect">
            <a:avLst/>
          </a:prstGeom>
          <a:noFill/>
        </p:spPr>
        <p:txBody>
          <a:bodyPr wrap="square">
            <a:spAutoFit/>
          </a:bodyPr>
          <a:lstStyle/>
          <a:p>
            <a:pPr algn="l"/>
            <a:r>
              <a:rPr sz="1000" b="0" i="0">
                <a:solidFill>
                  <a:srgbClr val="FFFFFF"/>
                </a:solidFill>
                <a:latin typeface="Calibri"/>
              </a:rPr>
              <a:t>Pumps &amp; Compressors</a:t>
            </a:r>
          </a:p>
        </p:txBody>
      </p:sp>
      <p:sp>
        <p:nvSpPr>
          <p:cNvPr id="87" name="Rectangle 86"/>
          <p:cNvSpPr/>
          <p:nvPr/>
        </p:nvSpPr>
        <p:spPr>
          <a:xfrm>
            <a:off x="8869680" y="4206240"/>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869680" y="4206240"/>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924544" y="4242816"/>
            <a:ext cx="411480" cy="256032"/>
          </a:xfrm>
          <a:prstGeom prst="rect">
            <a:avLst/>
          </a:prstGeom>
          <a:noFill/>
        </p:spPr>
        <p:txBody>
          <a:bodyPr wrap="square">
            <a:spAutoFit/>
          </a:bodyPr>
          <a:lstStyle/>
          <a:p>
            <a:pPr algn="ctr"/>
            <a:r>
              <a:rPr sz="900" b="1" i="0">
                <a:solidFill>
                  <a:srgbClr val="0F172A"/>
                </a:solidFill>
                <a:latin typeface="Calibri"/>
              </a:rPr>
              <a:t>CH</a:t>
            </a:r>
          </a:p>
        </p:txBody>
      </p:sp>
      <p:sp>
        <p:nvSpPr>
          <p:cNvPr id="90" name="TextBox 89"/>
          <p:cNvSpPr txBox="1"/>
          <p:nvPr/>
        </p:nvSpPr>
        <p:spPr>
          <a:xfrm>
            <a:off x="9436608" y="4242816"/>
            <a:ext cx="2103120" cy="256032"/>
          </a:xfrm>
          <a:prstGeom prst="rect">
            <a:avLst/>
          </a:prstGeom>
          <a:noFill/>
        </p:spPr>
        <p:txBody>
          <a:bodyPr wrap="square">
            <a:spAutoFit/>
          </a:bodyPr>
          <a:lstStyle/>
          <a:p>
            <a:pPr algn="l"/>
            <a:r>
              <a:rPr sz="1000" b="0" i="0">
                <a:solidFill>
                  <a:srgbClr val="FFFFFF"/>
                </a:solidFill>
                <a:latin typeface="Calibri"/>
              </a:rPr>
              <a:t>Chemicals</a:t>
            </a:r>
          </a:p>
        </p:txBody>
      </p:sp>
      <p:sp>
        <p:nvSpPr>
          <p:cNvPr id="91" name="Rectangle 90"/>
          <p:cNvSpPr/>
          <p:nvPr/>
        </p:nvSpPr>
        <p:spPr>
          <a:xfrm>
            <a:off x="6035040" y="4590288"/>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035040" y="4590288"/>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089904" y="4626864"/>
            <a:ext cx="411480" cy="256032"/>
          </a:xfrm>
          <a:prstGeom prst="rect">
            <a:avLst/>
          </a:prstGeom>
          <a:noFill/>
        </p:spPr>
        <p:txBody>
          <a:bodyPr wrap="square">
            <a:spAutoFit/>
          </a:bodyPr>
          <a:lstStyle/>
          <a:p>
            <a:pPr algn="ctr"/>
            <a:r>
              <a:rPr sz="900" b="1" i="0">
                <a:solidFill>
                  <a:srgbClr val="0F172A"/>
                </a:solidFill>
                <a:latin typeface="Calibri"/>
              </a:rPr>
              <a:t>PK</a:t>
            </a:r>
          </a:p>
        </p:txBody>
      </p:sp>
      <p:sp>
        <p:nvSpPr>
          <p:cNvPr id="94" name="TextBox 93"/>
          <p:cNvSpPr txBox="1"/>
          <p:nvPr/>
        </p:nvSpPr>
        <p:spPr>
          <a:xfrm>
            <a:off x="6601968" y="4626864"/>
            <a:ext cx="2103120" cy="256032"/>
          </a:xfrm>
          <a:prstGeom prst="rect">
            <a:avLst/>
          </a:prstGeom>
          <a:noFill/>
        </p:spPr>
        <p:txBody>
          <a:bodyPr wrap="square">
            <a:spAutoFit/>
          </a:bodyPr>
          <a:lstStyle/>
          <a:p>
            <a:pPr algn="l"/>
            <a:r>
              <a:rPr sz="1000" b="0" i="0">
                <a:solidFill>
                  <a:srgbClr val="FFFFFF"/>
                </a:solidFill>
                <a:latin typeface="Calibri"/>
              </a:rPr>
              <a:t>Packaging</a:t>
            </a:r>
          </a:p>
        </p:txBody>
      </p:sp>
      <p:sp>
        <p:nvSpPr>
          <p:cNvPr id="95" name="Rectangle 94"/>
          <p:cNvSpPr/>
          <p:nvPr/>
        </p:nvSpPr>
        <p:spPr>
          <a:xfrm>
            <a:off x="8869680" y="4590288"/>
            <a:ext cx="2743200" cy="329184"/>
          </a:xfrm>
          <a:prstGeom prst="rect">
            <a:avLst/>
          </a:prstGeom>
          <a:solidFill>
            <a:srgbClr val="141C29"/>
          </a:solidFill>
          <a:ln w="508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869680" y="4590288"/>
            <a:ext cx="502920" cy="329184"/>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924544" y="4626864"/>
            <a:ext cx="411480" cy="256032"/>
          </a:xfrm>
          <a:prstGeom prst="rect">
            <a:avLst/>
          </a:prstGeom>
          <a:noFill/>
        </p:spPr>
        <p:txBody>
          <a:bodyPr wrap="square">
            <a:spAutoFit/>
          </a:bodyPr>
          <a:lstStyle/>
          <a:p>
            <a:pPr algn="ctr"/>
            <a:r>
              <a:rPr sz="900" b="1" i="0">
                <a:solidFill>
                  <a:srgbClr val="0F172A"/>
                </a:solidFill>
                <a:latin typeface="Calibri"/>
              </a:rPr>
              <a:t>MX</a:t>
            </a:r>
          </a:p>
        </p:txBody>
      </p:sp>
      <p:sp>
        <p:nvSpPr>
          <p:cNvPr id="98" name="TextBox 97"/>
          <p:cNvSpPr txBox="1"/>
          <p:nvPr/>
        </p:nvSpPr>
        <p:spPr>
          <a:xfrm>
            <a:off x="9436608" y="4626864"/>
            <a:ext cx="2103120" cy="256032"/>
          </a:xfrm>
          <a:prstGeom prst="rect">
            <a:avLst/>
          </a:prstGeom>
          <a:noFill/>
        </p:spPr>
        <p:txBody>
          <a:bodyPr wrap="square">
            <a:spAutoFit/>
          </a:bodyPr>
          <a:lstStyle/>
          <a:p>
            <a:pPr algn="l"/>
            <a:r>
              <a:rPr sz="1000" b="0" i="0">
                <a:solidFill>
                  <a:srgbClr val="FFFFFF"/>
                </a:solidFill>
                <a:latin typeface="Calibri"/>
              </a:rPr>
              <a:t>Miscellaneous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CNMC Code Generation</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Common National Material Code (CNMC)</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417320"/>
            <a:ext cx="10972800" cy="320040"/>
          </a:xfrm>
          <a:prstGeom prst="rect">
            <a:avLst/>
          </a:prstGeom>
          <a:noFill/>
        </p:spPr>
        <p:txBody>
          <a:bodyPr wrap="square">
            <a:spAutoFit/>
          </a:bodyPr>
          <a:lstStyle/>
          <a:p>
            <a:pPr algn="l"/>
            <a:r>
              <a:rPr sz="1300" b="0" i="0">
                <a:solidFill>
                  <a:srgbClr val="94A3B8"/>
                </a:solidFill>
                <a:latin typeface="Calibri"/>
              </a:rPr>
              <a:t>Format:  CNMC-{SEGMENT}-{HASH}     |     Stable · Unique · Human-readable · Traceable</a:t>
            </a:r>
          </a:p>
        </p:txBody>
      </p:sp>
      <p:sp>
        <p:nvSpPr>
          <p:cNvPr id="11" name="Rectangle 10"/>
          <p:cNvSpPr/>
          <p:nvPr/>
        </p:nvSpPr>
        <p:spPr>
          <a:xfrm>
            <a:off x="365760" y="2011680"/>
            <a:ext cx="2651760" cy="137160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011680"/>
            <a:ext cx="265176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057400"/>
            <a:ext cx="2468880" cy="274320"/>
          </a:xfrm>
          <a:prstGeom prst="rect">
            <a:avLst/>
          </a:prstGeom>
          <a:noFill/>
        </p:spPr>
        <p:txBody>
          <a:bodyPr wrap="square">
            <a:spAutoFit/>
          </a:bodyPr>
          <a:lstStyle/>
          <a:p>
            <a:pPr algn="l"/>
            <a:r>
              <a:rPr sz="1100" b="1" i="0">
                <a:solidFill>
                  <a:srgbClr val="0F172A"/>
                </a:solidFill>
                <a:latin typeface="Calibri"/>
              </a:rPr>
              <a:t>Input Material</a:t>
            </a:r>
          </a:p>
        </p:txBody>
      </p:sp>
      <p:sp>
        <p:nvSpPr>
          <p:cNvPr id="14" name="TextBox 13"/>
          <p:cNvSpPr txBox="1"/>
          <p:nvPr/>
        </p:nvSpPr>
        <p:spPr>
          <a:xfrm>
            <a:off x="502920" y="2450592"/>
            <a:ext cx="2377440" cy="822960"/>
          </a:xfrm>
          <a:prstGeom prst="rect">
            <a:avLst/>
          </a:prstGeom>
          <a:noFill/>
        </p:spPr>
        <p:txBody>
          <a:bodyPr wrap="square">
            <a:spAutoFit/>
          </a:bodyPr>
          <a:lstStyle/>
          <a:p>
            <a:pPr algn="l"/>
            <a:r>
              <a:rPr sz="1100" b="0" i="0">
                <a:solidFill>
                  <a:srgbClr val="FFFFFF"/>
                </a:solidFill>
                <a:latin typeface="Calibri"/>
              </a:rPr>
              <a:t>"Hex Bolt M20x100
SS304 Grade 8.8"</a:t>
            </a:r>
          </a:p>
        </p:txBody>
      </p:sp>
      <p:sp>
        <p:nvSpPr>
          <p:cNvPr id="15" name="TextBox 14"/>
          <p:cNvSpPr txBox="1"/>
          <p:nvPr/>
        </p:nvSpPr>
        <p:spPr>
          <a:xfrm>
            <a:off x="3108960" y="2423160"/>
            <a:ext cx="182880" cy="365760"/>
          </a:xfrm>
          <a:prstGeom prst="rect">
            <a:avLst/>
          </a:prstGeom>
          <a:noFill/>
        </p:spPr>
        <p:txBody>
          <a:bodyPr wrap="square">
            <a:spAutoFit/>
          </a:bodyPr>
          <a:lstStyle/>
          <a:p>
            <a:pPr algn="ctr"/>
            <a:r>
              <a:rPr sz="2200" b="0" i="0">
                <a:solidFill>
                  <a:srgbClr val="475669"/>
                </a:solidFill>
                <a:latin typeface="Calibri"/>
              </a:rPr>
              <a:t>→</a:t>
            </a:r>
          </a:p>
        </p:txBody>
      </p:sp>
      <p:sp>
        <p:nvSpPr>
          <p:cNvPr id="16" name="Rectangle 15"/>
          <p:cNvSpPr/>
          <p:nvPr/>
        </p:nvSpPr>
        <p:spPr>
          <a:xfrm>
            <a:off x="3246120" y="2011680"/>
            <a:ext cx="2651760" cy="137160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6120" y="2011680"/>
            <a:ext cx="2651760" cy="34747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55848" y="2057400"/>
            <a:ext cx="2468880" cy="274320"/>
          </a:xfrm>
          <a:prstGeom prst="rect">
            <a:avLst/>
          </a:prstGeom>
          <a:noFill/>
        </p:spPr>
        <p:txBody>
          <a:bodyPr wrap="square">
            <a:spAutoFit/>
          </a:bodyPr>
          <a:lstStyle/>
          <a:p>
            <a:pPr algn="l"/>
            <a:r>
              <a:rPr sz="1100" b="1" i="0">
                <a:solidFill>
                  <a:srgbClr val="0F172A"/>
                </a:solidFill>
                <a:latin typeface="Calibri"/>
              </a:rPr>
              <a:t>Segment Lookup</a:t>
            </a:r>
          </a:p>
        </p:txBody>
      </p:sp>
      <p:sp>
        <p:nvSpPr>
          <p:cNvPr id="19" name="TextBox 18"/>
          <p:cNvSpPr txBox="1"/>
          <p:nvPr/>
        </p:nvSpPr>
        <p:spPr>
          <a:xfrm>
            <a:off x="3383280" y="2450592"/>
            <a:ext cx="2377440" cy="822960"/>
          </a:xfrm>
          <a:prstGeom prst="rect">
            <a:avLst/>
          </a:prstGeom>
          <a:noFill/>
        </p:spPr>
        <p:txBody>
          <a:bodyPr wrap="square">
            <a:spAutoFit/>
          </a:bodyPr>
          <a:lstStyle/>
          <a:p>
            <a:pPr algn="l"/>
            <a:r>
              <a:rPr sz="1100" b="0" i="0">
                <a:solidFill>
                  <a:srgbClr val="FFFFFF"/>
                </a:solidFill>
                <a:latin typeface="Calibri"/>
              </a:rPr>
              <a:t>Segment: FA
(Fasteners)</a:t>
            </a:r>
          </a:p>
        </p:txBody>
      </p:sp>
      <p:sp>
        <p:nvSpPr>
          <p:cNvPr id="20" name="TextBox 19"/>
          <p:cNvSpPr txBox="1"/>
          <p:nvPr/>
        </p:nvSpPr>
        <p:spPr>
          <a:xfrm>
            <a:off x="5989320" y="2423160"/>
            <a:ext cx="182880" cy="365760"/>
          </a:xfrm>
          <a:prstGeom prst="rect">
            <a:avLst/>
          </a:prstGeom>
          <a:noFill/>
        </p:spPr>
        <p:txBody>
          <a:bodyPr wrap="square">
            <a:spAutoFit/>
          </a:bodyPr>
          <a:lstStyle/>
          <a:p>
            <a:pPr algn="ctr"/>
            <a:r>
              <a:rPr sz="2200" b="0" i="0">
                <a:solidFill>
                  <a:srgbClr val="475669"/>
                </a:solidFill>
                <a:latin typeface="Calibri"/>
              </a:rPr>
              <a:t>→</a:t>
            </a:r>
          </a:p>
        </p:txBody>
      </p:sp>
      <p:sp>
        <p:nvSpPr>
          <p:cNvPr id="21" name="Rectangle 20"/>
          <p:cNvSpPr/>
          <p:nvPr/>
        </p:nvSpPr>
        <p:spPr>
          <a:xfrm>
            <a:off x="6126480" y="2011680"/>
            <a:ext cx="2651760" cy="137160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2011680"/>
            <a:ext cx="2651760"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6208" y="2057400"/>
            <a:ext cx="2468880" cy="274320"/>
          </a:xfrm>
          <a:prstGeom prst="rect">
            <a:avLst/>
          </a:prstGeom>
          <a:noFill/>
        </p:spPr>
        <p:txBody>
          <a:bodyPr wrap="square">
            <a:spAutoFit/>
          </a:bodyPr>
          <a:lstStyle/>
          <a:p>
            <a:pPr algn="l"/>
            <a:r>
              <a:rPr sz="1100" b="1" i="0">
                <a:solidFill>
                  <a:srgbClr val="0F172A"/>
                </a:solidFill>
                <a:latin typeface="Calibri"/>
              </a:rPr>
              <a:t>Semantic Hash</a:t>
            </a:r>
          </a:p>
        </p:txBody>
      </p:sp>
      <p:sp>
        <p:nvSpPr>
          <p:cNvPr id="24" name="TextBox 23"/>
          <p:cNvSpPr txBox="1"/>
          <p:nvPr/>
        </p:nvSpPr>
        <p:spPr>
          <a:xfrm>
            <a:off x="6263640" y="2450592"/>
            <a:ext cx="2377440" cy="822960"/>
          </a:xfrm>
          <a:prstGeom prst="rect">
            <a:avLst/>
          </a:prstGeom>
          <a:noFill/>
        </p:spPr>
        <p:txBody>
          <a:bodyPr wrap="square">
            <a:spAutoFit/>
          </a:bodyPr>
          <a:lstStyle/>
          <a:p>
            <a:pPr algn="l"/>
            <a:r>
              <a:rPr sz="1100" b="0" i="0">
                <a:solidFill>
                  <a:srgbClr val="FFFFFF"/>
                </a:solidFill>
                <a:latin typeface="Calibri"/>
              </a:rPr>
              <a:t>MD5("hex bolt M20x100
SS304")[:6] = "4A2B9C"</a:t>
            </a:r>
          </a:p>
        </p:txBody>
      </p:sp>
      <p:sp>
        <p:nvSpPr>
          <p:cNvPr id="25" name="TextBox 24"/>
          <p:cNvSpPr txBox="1"/>
          <p:nvPr/>
        </p:nvSpPr>
        <p:spPr>
          <a:xfrm>
            <a:off x="8869680" y="2423160"/>
            <a:ext cx="182880" cy="365760"/>
          </a:xfrm>
          <a:prstGeom prst="rect">
            <a:avLst/>
          </a:prstGeom>
          <a:noFill/>
        </p:spPr>
        <p:txBody>
          <a:bodyPr wrap="square">
            <a:spAutoFit/>
          </a:bodyPr>
          <a:lstStyle/>
          <a:p>
            <a:pPr algn="ctr"/>
            <a:r>
              <a:rPr sz="2200" b="0" i="0">
                <a:solidFill>
                  <a:srgbClr val="475669"/>
                </a:solidFill>
                <a:latin typeface="Calibri"/>
              </a:rPr>
              <a:t>→</a:t>
            </a:r>
          </a:p>
        </p:txBody>
      </p:sp>
      <p:sp>
        <p:nvSpPr>
          <p:cNvPr id="26" name="Rectangle 25"/>
          <p:cNvSpPr/>
          <p:nvPr/>
        </p:nvSpPr>
        <p:spPr>
          <a:xfrm>
            <a:off x="9006840" y="2011680"/>
            <a:ext cx="2651760" cy="137160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06840" y="2011680"/>
            <a:ext cx="265176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16568" y="2057400"/>
            <a:ext cx="2468880" cy="274320"/>
          </a:xfrm>
          <a:prstGeom prst="rect">
            <a:avLst/>
          </a:prstGeom>
          <a:noFill/>
        </p:spPr>
        <p:txBody>
          <a:bodyPr wrap="square">
            <a:spAutoFit/>
          </a:bodyPr>
          <a:lstStyle/>
          <a:p>
            <a:pPr algn="l"/>
            <a:r>
              <a:rPr sz="1100" b="1" i="0">
                <a:solidFill>
                  <a:srgbClr val="0F172A"/>
                </a:solidFill>
                <a:latin typeface="Calibri"/>
              </a:rPr>
              <a:t>CNMC Code</a:t>
            </a:r>
          </a:p>
        </p:txBody>
      </p:sp>
      <p:sp>
        <p:nvSpPr>
          <p:cNvPr id="29" name="TextBox 28"/>
          <p:cNvSpPr txBox="1"/>
          <p:nvPr/>
        </p:nvSpPr>
        <p:spPr>
          <a:xfrm>
            <a:off x="9144000" y="2450592"/>
            <a:ext cx="2377440" cy="822960"/>
          </a:xfrm>
          <a:prstGeom prst="rect">
            <a:avLst/>
          </a:prstGeom>
          <a:noFill/>
        </p:spPr>
        <p:txBody>
          <a:bodyPr wrap="square">
            <a:spAutoFit/>
          </a:bodyPr>
          <a:lstStyle/>
          <a:p>
            <a:pPr algn="l"/>
            <a:r>
              <a:rPr sz="1100" b="0" i="0">
                <a:solidFill>
                  <a:srgbClr val="FFFFFF"/>
                </a:solidFill>
                <a:latin typeface="Calibri"/>
              </a:rPr>
              <a:t>CNMC-FA-4A2B9C</a:t>
            </a:r>
          </a:p>
        </p:txBody>
      </p:sp>
      <p:sp>
        <p:nvSpPr>
          <p:cNvPr id="30" name="Rectangle 29"/>
          <p:cNvSpPr/>
          <p:nvPr/>
        </p:nvSpPr>
        <p:spPr>
          <a:xfrm>
            <a:off x="365760" y="3657600"/>
            <a:ext cx="274320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749039"/>
            <a:ext cx="2468880" cy="320040"/>
          </a:xfrm>
          <a:prstGeom prst="rect">
            <a:avLst/>
          </a:prstGeom>
          <a:noFill/>
        </p:spPr>
        <p:txBody>
          <a:bodyPr wrap="square">
            <a:spAutoFit/>
          </a:bodyPr>
          <a:lstStyle/>
          <a:p>
            <a:pPr algn="l"/>
            <a:r>
              <a:rPr sz="1300" b="1" i="0">
                <a:solidFill>
                  <a:srgbClr val="10B981"/>
                </a:solidFill>
                <a:latin typeface="Calibri"/>
              </a:rPr>
              <a:t>✦  Stable</a:t>
            </a:r>
          </a:p>
        </p:txBody>
      </p:sp>
      <p:sp>
        <p:nvSpPr>
          <p:cNvPr id="32" name="TextBox 31"/>
          <p:cNvSpPr txBox="1"/>
          <p:nvPr/>
        </p:nvSpPr>
        <p:spPr>
          <a:xfrm>
            <a:off x="502920" y="4114800"/>
            <a:ext cx="2468880" cy="731520"/>
          </a:xfrm>
          <a:prstGeom prst="rect">
            <a:avLst/>
          </a:prstGeom>
          <a:noFill/>
        </p:spPr>
        <p:txBody>
          <a:bodyPr wrap="square">
            <a:spAutoFit/>
          </a:bodyPr>
          <a:lstStyle/>
          <a:p>
            <a:pPr algn="l"/>
            <a:r>
              <a:rPr sz="1000" b="0" i="0">
                <a:solidFill>
                  <a:srgbClr val="94A3B8"/>
                </a:solidFill>
                <a:latin typeface="Calibri"/>
              </a:rPr>
              <a:t>Same material → same code, always reproducible</a:t>
            </a:r>
          </a:p>
        </p:txBody>
      </p:sp>
      <p:sp>
        <p:nvSpPr>
          <p:cNvPr id="33" name="Rectangle 32"/>
          <p:cNvSpPr/>
          <p:nvPr/>
        </p:nvSpPr>
        <p:spPr>
          <a:xfrm>
            <a:off x="3291840" y="3657600"/>
            <a:ext cx="274320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29000" y="3749039"/>
            <a:ext cx="2468880" cy="320040"/>
          </a:xfrm>
          <a:prstGeom prst="rect">
            <a:avLst/>
          </a:prstGeom>
          <a:noFill/>
        </p:spPr>
        <p:txBody>
          <a:bodyPr wrap="square">
            <a:spAutoFit/>
          </a:bodyPr>
          <a:lstStyle/>
          <a:p>
            <a:pPr algn="l"/>
            <a:r>
              <a:rPr sz="1300" b="1" i="0">
                <a:solidFill>
                  <a:srgbClr val="10B981"/>
                </a:solidFill>
                <a:latin typeface="Calibri"/>
              </a:rPr>
              <a:t>✦  Unique</a:t>
            </a:r>
          </a:p>
        </p:txBody>
      </p:sp>
      <p:sp>
        <p:nvSpPr>
          <p:cNvPr id="35" name="TextBox 34"/>
          <p:cNvSpPr txBox="1"/>
          <p:nvPr/>
        </p:nvSpPr>
        <p:spPr>
          <a:xfrm>
            <a:off x="3429000" y="4114800"/>
            <a:ext cx="2468880" cy="731520"/>
          </a:xfrm>
          <a:prstGeom prst="rect">
            <a:avLst/>
          </a:prstGeom>
          <a:noFill/>
        </p:spPr>
        <p:txBody>
          <a:bodyPr wrap="square">
            <a:spAutoFit/>
          </a:bodyPr>
          <a:lstStyle/>
          <a:p>
            <a:pPr algn="l"/>
            <a:r>
              <a:rPr sz="1000" b="0" i="0">
                <a:solidFill>
                  <a:srgbClr val="94A3B8"/>
                </a:solidFill>
                <a:latin typeface="Calibri"/>
              </a:rPr>
              <a:t>MD5 hash prevents collisions across millions of materials</a:t>
            </a:r>
          </a:p>
        </p:txBody>
      </p:sp>
      <p:sp>
        <p:nvSpPr>
          <p:cNvPr id="36" name="Rectangle 35"/>
          <p:cNvSpPr/>
          <p:nvPr/>
        </p:nvSpPr>
        <p:spPr>
          <a:xfrm>
            <a:off x="6217920" y="3657600"/>
            <a:ext cx="274320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749039"/>
            <a:ext cx="2468880" cy="320040"/>
          </a:xfrm>
          <a:prstGeom prst="rect">
            <a:avLst/>
          </a:prstGeom>
          <a:noFill/>
        </p:spPr>
        <p:txBody>
          <a:bodyPr wrap="square">
            <a:spAutoFit/>
          </a:bodyPr>
          <a:lstStyle/>
          <a:p>
            <a:pPr algn="l"/>
            <a:r>
              <a:rPr sz="1300" b="1" i="0">
                <a:solidFill>
                  <a:srgbClr val="10B981"/>
                </a:solidFill>
                <a:latin typeface="Calibri"/>
              </a:rPr>
              <a:t>✦  Readable</a:t>
            </a:r>
          </a:p>
        </p:txBody>
      </p:sp>
      <p:sp>
        <p:nvSpPr>
          <p:cNvPr id="38" name="TextBox 37"/>
          <p:cNvSpPr txBox="1"/>
          <p:nvPr/>
        </p:nvSpPr>
        <p:spPr>
          <a:xfrm>
            <a:off x="6355080" y="4114800"/>
            <a:ext cx="2468880" cy="731520"/>
          </a:xfrm>
          <a:prstGeom prst="rect">
            <a:avLst/>
          </a:prstGeom>
          <a:noFill/>
        </p:spPr>
        <p:txBody>
          <a:bodyPr wrap="square">
            <a:spAutoFit/>
          </a:bodyPr>
          <a:lstStyle/>
          <a:p>
            <a:pPr algn="l"/>
            <a:r>
              <a:rPr sz="1000" b="0" i="0">
                <a:solidFill>
                  <a:srgbClr val="94A3B8"/>
                </a:solidFill>
                <a:latin typeface="Calibri"/>
              </a:rPr>
              <a:t>FA prefix instantly tells you it's a fastener</a:t>
            </a:r>
          </a:p>
        </p:txBody>
      </p:sp>
      <p:sp>
        <p:nvSpPr>
          <p:cNvPr id="39" name="Rectangle 38"/>
          <p:cNvSpPr/>
          <p:nvPr/>
        </p:nvSpPr>
        <p:spPr>
          <a:xfrm>
            <a:off x="9144000" y="3657600"/>
            <a:ext cx="274320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81160" y="3749039"/>
            <a:ext cx="2468880" cy="320040"/>
          </a:xfrm>
          <a:prstGeom prst="rect">
            <a:avLst/>
          </a:prstGeom>
          <a:noFill/>
        </p:spPr>
        <p:txBody>
          <a:bodyPr wrap="square">
            <a:spAutoFit/>
          </a:bodyPr>
          <a:lstStyle/>
          <a:p>
            <a:pPr algn="l"/>
            <a:r>
              <a:rPr sz="1300" b="1" i="0">
                <a:solidFill>
                  <a:srgbClr val="10B981"/>
                </a:solidFill>
                <a:latin typeface="Calibri"/>
              </a:rPr>
              <a:t>✦  Traceable</a:t>
            </a:r>
          </a:p>
        </p:txBody>
      </p:sp>
      <p:sp>
        <p:nvSpPr>
          <p:cNvPr id="41" name="TextBox 40"/>
          <p:cNvSpPr txBox="1"/>
          <p:nvPr/>
        </p:nvSpPr>
        <p:spPr>
          <a:xfrm>
            <a:off x="9281160" y="4114800"/>
            <a:ext cx="2468880" cy="731520"/>
          </a:xfrm>
          <a:prstGeom prst="rect">
            <a:avLst/>
          </a:prstGeom>
          <a:noFill/>
        </p:spPr>
        <p:txBody>
          <a:bodyPr wrap="square">
            <a:spAutoFit/>
          </a:bodyPr>
          <a:lstStyle/>
          <a:p>
            <a:pPr algn="l"/>
            <a:r>
              <a:rPr sz="1000" b="0" i="0">
                <a:solidFill>
                  <a:srgbClr val="94A3B8"/>
                </a:solidFill>
                <a:latin typeface="Calibri"/>
              </a:rPr>
              <a:t>Links back to original CPSE codes in audit log</a:t>
            </a:r>
          </a:p>
        </p:txBody>
      </p:sp>
      <p:sp>
        <p:nvSpPr>
          <p:cNvPr id="42" name="Rectangle 41"/>
          <p:cNvSpPr/>
          <p:nvPr/>
        </p:nvSpPr>
        <p:spPr>
          <a:xfrm>
            <a:off x="365760" y="5257800"/>
            <a:ext cx="11430000" cy="109728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5303520"/>
            <a:ext cx="11247120" cy="274320"/>
          </a:xfrm>
          <a:prstGeom prst="rect">
            <a:avLst/>
          </a:prstGeom>
          <a:noFill/>
        </p:spPr>
        <p:txBody>
          <a:bodyPr wrap="square">
            <a:spAutoFit/>
          </a:bodyPr>
          <a:lstStyle/>
          <a:p>
            <a:pPr algn="l"/>
            <a:r>
              <a:rPr sz="1100" b="1" i="0">
                <a:solidFill>
                  <a:srgbClr val="D946EF"/>
                </a:solidFill>
                <a:latin typeface="Calibri"/>
              </a:rPr>
              <a:t>Bidirectional Mapping:  IOCL-HEX-001234  ↔  NT-BOLT-5678  ↔  SA-FA-9012  →  CNMC-FA-4A2B9C</a:t>
            </a:r>
          </a:p>
        </p:txBody>
      </p:sp>
      <p:sp>
        <p:nvSpPr>
          <p:cNvPr id="44" name="TextBox 43"/>
          <p:cNvSpPr txBox="1"/>
          <p:nvPr/>
        </p:nvSpPr>
        <p:spPr>
          <a:xfrm>
            <a:off x="457200" y="5623560"/>
            <a:ext cx="11247120" cy="548640"/>
          </a:xfrm>
          <a:prstGeom prst="rect">
            <a:avLst/>
          </a:prstGeom>
          <a:noFill/>
        </p:spPr>
        <p:txBody>
          <a:bodyPr wrap="square">
            <a:spAutoFit/>
          </a:bodyPr>
          <a:lstStyle/>
          <a:p>
            <a:pPr algn="l"/>
            <a:r>
              <a:rPr sz="1000" b="0" i="0">
                <a:solidFill>
                  <a:srgbClr val="94A3B8"/>
                </a:solidFill>
                <a:latin typeface="Calibri"/>
              </a:rPr>
              <a:t>Every CPSE code is permanently linked to its CNMC. Change source data? Mapping auto-updates. Full history in audit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Dashboard &amp; Features</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Complete Platform Features</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828800"/>
            <a:ext cx="2788920" cy="2057400"/>
          </a:xfrm>
          <a:prstGeom prst="rect">
            <a:avLst/>
          </a:prstGeom>
          <a:solidFill>
            <a:srgbClr val="1E3A5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920240"/>
            <a:ext cx="2560320" cy="411480"/>
          </a:xfrm>
          <a:prstGeom prst="rect">
            <a:avLst/>
          </a:prstGeom>
          <a:noFill/>
        </p:spPr>
        <p:txBody>
          <a:bodyPr wrap="square">
            <a:spAutoFit/>
          </a:bodyPr>
          <a:lstStyle/>
          <a:p>
            <a:pPr algn="l"/>
            <a:r>
              <a:rPr sz="1300" b="1" i="0">
                <a:solidFill>
                  <a:srgbClr val="FFFFFF"/>
                </a:solidFill>
                <a:latin typeface="Calibri"/>
              </a:rPr>
              <a:t>📊  Dashboard</a:t>
            </a:r>
          </a:p>
        </p:txBody>
      </p:sp>
      <p:sp>
        <p:nvSpPr>
          <p:cNvPr id="12" name="TextBox 11"/>
          <p:cNvSpPr txBox="1"/>
          <p:nvPr/>
        </p:nvSpPr>
        <p:spPr>
          <a:xfrm>
            <a:off x="429768" y="2377440"/>
            <a:ext cx="2560320" cy="1280160"/>
          </a:xfrm>
          <a:prstGeom prst="rect">
            <a:avLst/>
          </a:prstGeom>
          <a:noFill/>
        </p:spPr>
        <p:txBody>
          <a:bodyPr wrap="square">
            <a:spAutoFit/>
          </a:bodyPr>
          <a:lstStyle/>
          <a:p>
            <a:pPr algn="l"/>
            <a:r>
              <a:rPr sz="1000" b="0" i="0">
                <a:solidFill>
                  <a:srgbClr val="94A3B8"/>
                </a:solidFill>
                <a:latin typeface="Calibri"/>
              </a:rPr>
              <a:t>Real-time KPIs, charts, CPSE breakdown
Duplicate distribution, quality metrics</a:t>
            </a:r>
          </a:p>
        </p:txBody>
      </p:sp>
      <p:sp>
        <p:nvSpPr>
          <p:cNvPr id="13" name="Rectangle 12"/>
          <p:cNvSpPr/>
          <p:nvPr/>
        </p:nvSpPr>
        <p:spPr>
          <a:xfrm>
            <a:off x="3246120" y="1828800"/>
            <a:ext cx="2788920" cy="205740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5848" y="1920240"/>
            <a:ext cx="2560320" cy="411480"/>
          </a:xfrm>
          <a:prstGeom prst="rect">
            <a:avLst/>
          </a:prstGeom>
          <a:noFill/>
        </p:spPr>
        <p:txBody>
          <a:bodyPr wrap="square">
            <a:spAutoFit/>
          </a:bodyPr>
          <a:lstStyle/>
          <a:p>
            <a:pPr algn="l"/>
            <a:r>
              <a:rPr sz="1300" b="1" i="0">
                <a:solidFill>
                  <a:srgbClr val="FFFFFF"/>
                </a:solidFill>
                <a:latin typeface="Calibri"/>
              </a:rPr>
              <a:t>🔍  AI Matching</a:t>
            </a:r>
          </a:p>
        </p:txBody>
      </p:sp>
      <p:sp>
        <p:nvSpPr>
          <p:cNvPr id="15" name="TextBox 14"/>
          <p:cNvSpPr txBox="1"/>
          <p:nvPr/>
        </p:nvSpPr>
        <p:spPr>
          <a:xfrm>
            <a:off x="3355848" y="2377440"/>
            <a:ext cx="2560320" cy="1280160"/>
          </a:xfrm>
          <a:prstGeom prst="rect">
            <a:avLst/>
          </a:prstGeom>
          <a:noFill/>
        </p:spPr>
        <p:txBody>
          <a:bodyPr wrap="square">
            <a:spAutoFit/>
          </a:bodyPr>
          <a:lstStyle/>
          <a:p>
            <a:pPr algn="l"/>
            <a:r>
              <a:rPr sz="1000" b="0" i="0">
                <a:solidFill>
                  <a:srgbClr val="94A3B8"/>
                </a:solidFill>
                <a:latin typeface="Calibri"/>
              </a:rPr>
              <a:t>4-stage pipeline execution
Cross-CPSE &amp; intra-CPSE matching</a:t>
            </a:r>
          </a:p>
        </p:txBody>
      </p:sp>
      <p:sp>
        <p:nvSpPr>
          <p:cNvPr id="16" name="Rectangle 15"/>
          <p:cNvSpPr/>
          <p:nvPr/>
        </p:nvSpPr>
        <p:spPr>
          <a:xfrm>
            <a:off x="6172200" y="1828800"/>
            <a:ext cx="2788920" cy="20574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81928" y="1920240"/>
            <a:ext cx="2560320" cy="411480"/>
          </a:xfrm>
          <a:prstGeom prst="rect">
            <a:avLst/>
          </a:prstGeom>
          <a:noFill/>
        </p:spPr>
        <p:txBody>
          <a:bodyPr wrap="square">
            <a:spAutoFit/>
          </a:bodyPr>
          <a:lstStyle/>
          <a:p>
            <a:pPr algn="l"/>
            <a:r>
              <a:rPr sz="1300" b="1" i="0">
                <a:solidFill>
                  <a:srgbClr val="FFFFFF"/>
                </a:solidFill>
                <a:latin typeface="Calibri"/>
              </a:rPr>
              <a:t>📦  Materials</a:t>
            </a:r>
          </a:p>
        </p:txBody>
      </p:sp>
      <p:sp>
        <p:nvSpPr>
          <p:cNvPr id="18" name="TextBox 17"/>
          <p:cNvSpPr txBox="1"/>
          <p:nvPr/>
        </p:nvSpPr>
        <p:spPr>
          <a:xfrm>
            <a:off x="6281928" y="2377440"/>
            <a:ext cx="2560320" cy="1280160"/>
          </a:xfrm>
          <a:prstGeom prst="rect">
            <a:avLst/>
          </a:prstGeom>
          <a:noFill/>
        </p:spPr>
        <p:txBody>
          <a:bodyPr wrap="square">
            <a:spAutoFit/>
          </a:bodyPr>
          <a:lstStyle/>
          <a:p>
            <a:pPr algn="l"/>
            <a:r>
              <a:rPr sz="1000" b="0" i="0">
                <a:solidFill>
                  <a:srgbClr val="94A3B8"/>
                </a:solidFill>
                <a:latin typeface="Calibri"/>
              </a:rPr>
              <a:t>Search, filter, browse all materials
Family &amp; sub-family grouping</a:t>
            </a:r>
          </a:p>
        </p:txBody>
      </p:sp>
      <p:sp>
        <p:nvSpPr>
          <p:cNvPr id="19" name="Rectangle 18"/>
          <p:cNvSpPr/>
          <p:nvPr/>
        </p:nvSpPr>
        <p:spPr>
          <a:xfrm>
            <a:off x="9098280" y="1828800"/>
            <a:ext cx="2788920" cy="2057400"/>
          </a:xfrm>
          <a:prstGeom prst="rect">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920240"/>
            <a:ext cx="2560320" cy="411480"/>
          </a:xfrm>
          <a:prstGeom prst="rect">
            <a:avLst/>
          </a:prstGeom>
          <a:noFill/>
        </p:spPr>
        <p:txBody>
          <a:bodyPr wrap="square">
            <a:spAutoFit/>
          </a:bodyPr>
          <a:lstStyle/>
          <a:p>
            <a:pPr algn="l"/>
            <a:r>
              <a:rPr sz="1300" b="1" i="0">
                <a:solidFill>
                  <a:srgbClr val="FFFFFF"/>
                </a:solidFill>
                <a:latin typeface="Calibri"/>
              </a:rPr>
              <a:t>✓  Review Queue</a:t>
            </a:r>
          </a:p>
        </p:txBody>
      </p:sp>
      <p:sp>
        <p:nvSpPr>
          <p:cNvPr id="21" name="TextBox 20"/>
          <p:cNvSpPr txBox="1"/>
          <p:nvPr/>
        </p:nvSpPr>
        <p:spPr>
          <a:xfrm>
            <a:off x="9208008" y="2377440"/>
            <a:ext cx="2560320" cy="1280160"/>
          </a:xfrm>
          <a:prstGeom prst="rect">
            <a:avLst/>
          </a:prstGeom>
          <a:noFill/>
        </p:spPr>
        <p:txBody>
          <a:bodyPr wrap="square">
            <a:spAutoFit/>
          </a:bodyPr>
          <a:lstStyle/>
          <a:p>
            <a:pPr algn="l"/>
            <a:r>
              <a:rPr sz="1000" b="0" i="0">
                <a:solidFill>
                  <a:srgbClr val="94A3B8"/>
                </a:solidFill>
                <a:latin typeface="Calibri"/>
              </a:rPr>
              <a:t>Approve/reject AI suggestions
Bulk actions, confidence filters</a:t>
            </a:r>
          </a:p>
        </p:txBody>
      </p:sp>
      <p:sp>
        <p:nvSpPr>
          <p:cNvPr id="22" name="Rectangle 21"/>
          <p:cNvSpPr/>
          <p:nvPr/>
        </p:nvSpPr>
        <p:spPr>
          <a:xfrm>
            <a:off x="320040" y="4114800"/>
            <a:ext cx="2788920" cy="2057400"/>
          </a:xfrm>
          <a:prstGeom prst="rect">
            <a:avLst/>
          </a:prstGeom>
          <a:solidFill>
            <a:srgbClr val="1E3A5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4206240"/>
            <a:ext cx="2560320" cy="411480"/>
          </a:xfrm>
          <a:prstGeom prst="rect">
            <a:avLst/>
          </a:prstGeom>
          <a:noFill/>
        </p:spPr>
        <p:txBody>
          <a:bodyPr wrap="square">
            <a:spAutoFit/>
          </a:bodyPr>
          <a:lstStyle/>
          <a:p>
            <a:pPr algn="l"/>
            <a:r>
              <a:rPr sz="1300" b="1" i="0">
                <a:solidFill>
                  <a:srgbClr val="FFFFFF"/>
                </a:solidFill>
                <a:latin typeface="Calibri"/>
              </a:rPr>
              <a:t>🏷️  CNMC Codes</a:t>
            </a:r>
          </a:p>
        </p:txBody>
      </p:sp>
      <p:sp>
        <p:nvSpPr>
          <p:cNvPr id="24" name="TextBox 23"/>
          <p:cNvSpPr txBox="1"/>
          <p:nvPr/>
        </p:nvSpPr>
        <p:spPr>
          <a:xfrm>
            <a:off x="429768" y="4663440"/>
            <a:ext cx="2560320" cy="1280160"/>
          </a:xfrm>
          <a:prstGeom prst="rect">
            <a:avLst/>
          </a:prstGeom>
          <a:noFill/>
        </p:spPr>
        <p:txBody>
          <a:bodyPr wrap="square">
            <a:spAutoFit/>
          </a:bodyPr>
          <a:lstStyle/>
          <a:p>
            <a:pPr algn="l"/>
            <a:r>
              <a:rPr sz="1000" b="0" i="0">
                <a:solidFill>
                  <a:srgbClr val="94A3B8"/>
                </a:solidFill>
                <a:latin typeface="Calibri"/>
              </a:rPr>
              <a:t>Auto-assign unified codes
Batch generation, validation</a:t>
            </a:r>
          </a:p>
        </p:txBody>
      </p:sp>
      <p:sp>
        <p:nvSpPr>
          <p:cNvPr id="25" name="Rectangle 24"/>
          <p:cNvSpPr/>
          <p:nvPr/>
        </p:nvSpPr>
        <p:spPr>
          <a:xfrm>
            <a:off x="3246120" y="4114800"/>
            <a:ext cx="2788920" cy="205740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5848" y="4206240"/>
            <a:ext cx="2560320" cy="411480"/>
          </a:xfrm>
          <a:prstGeom prst="rect">
            <a:avLst/>
          </a:prstGeom>
          <a:noFill/>
        </p:spPr>
        <p:txBody>
          <a:bodyPr wrap="square">
            <a:spAutoFit/>
          </a:bodyPr>
          <a:lstStyle/>
          <a:p>
            <a:pPr algn="l"/>
            <a:r>
              <a:rPr sz="1300" b="1" i="0">
                <a:solidFill>
                  <a:srgbClr val="FFFFFF"/>
                </a:solidFill>
                <a:latin typeface="Calibri"/>
              </a:rPr>
              <a:t>📈  Analytics</a:t>
            </a:r>
          </a:p>
        </p:txBody>
      </p:sp>
      <p:sp>
        <p:nvSpPr>
          <p:cNvPr id="27" name="TextBox 26"/>
          <p:cNvSpPr txBox="1"/>
          <p:nvPr/>
        </p:nvSpPr>
        <p:spPr>
          <a:xfrm>
            <a:off x="3355848" y="4663440"/>
            <a:ext cx="2560320" cy="1280160"/>
          </a:xfrm>
          <a:prstGeom prst="rect">
            <a:avLst/>
          </a:prstGeom>
          <a:noFill/>
        </p:spPr>
        <p:txBody>
          <a:bodyPr wrap="square">
            <a:spAutoFit/>
          </a:bodyPr>
          <a:lstStyle/>
          <a:p>
            <a:pPr algn="l"/>
            <a:r>
              <a:rPr sz="1000" b="0" i="0">
                <a:solidFill>
                  <a:srgbClr val="94A3B8"/>
                </a:solidFill>
                <a:latin typeface="Calibri"/>
              </a:rPr>
              <a:t>Quality scores, procurement savings
Trend analysis, export reports</a:t>
            </a:r>
          </a:p>
        </p:txBody>
      </p:sp>
      <p:sp>
        <p:nvSpPr>
          <p:cNvPr id="28" name="Rectangle 27"/>
          <p:cNvSpPr/>
          <p:nvPr/>
        </p:nvSpPr>
        <p:spPr>
          <a:xfrm>
            <a:off x="6172200" y="4114800"/>
            <a:ext cx="2788920" cy="20574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81928" y="4206240"/>
            <a:ext cx="2560320" cy="411480"/>
          </a:xfrm>
          <a:prstGeom prst="rect">
            <a:avLst/>
          </a:prstGeom>
          <a:noFill/>
        </p:spPr>
        <p:txBody>
          <a:bodyPr wrap="square">
            <a:spAutoFit/>
          </a:bodyPr>
          <a:lstStyle/>
          <a:p>
            <a:pPr algn="l"/>
            <a:r>
              <a:rPr sz="1300" b="1" i="0">
                <a:solidFill>
                  <a:srgbClr val="FFFFFF"/>
                </a:solidFill>
                <a:latin typeface="Calibri"/>
              </a:rPr>
              <a:t>⚙️  Admin</a:t>
            </a:r>
          </a:p>
        </p:txBody>
      </p:sp>
      <p:sp>
        <p:nvSpPr>
          <p:cNvPr id="30" name="TextBox 29"/>
          <p:cNvSpPr txBox="1"/>
          <p:nvPr/>
        </p:nvSpPr>
        <p:spPr>
          <a:xfrm>
            <a:off x="6281928" y="4663440"/>
            <a:ext cx="2560320" cy="1280160"/>
          </a:xfrm>
          <a:prstGeom prst="rect">
            <a:avLst/>
          </a:prstGeom>
          <a:noFill/>
        </p:spPr>
        <p:txBody>
          <a:bodyPr wrap="square">
            <a:spAutoFit/>
          </a:bodyPr>
          <a:lstStyle/>
          <a:p>
            <a:pPr algn="l"/>
            <a:r>
              <a:rPr sz="1000" b="0" i="0">
                <a:solidFill>
                  <a:srgbClr val="94A3B8"/>
                </a:solidFill>
                <a:latin typeface="Calibri"/>
              </a:rPr>
              <a:t>CPSE management, demo data seeding
User management, audit trail</a:t>
            </a:r>
          </a:p>
        </p:txBody>
      </p:sp>
      <p:sp>
        <p:nvSpPr>
          <p:cNvPr id="31" name="Rectangle 30"/>
          <p:cNvSpPr/>
          <p:nvPr/>
        </p:nvSpPr>
        <p:spPr>
          <a:xfrm>
            <a:off x="9098280" y="4114800"/>
            <a:ext cx="2788920" cy="2057400"/>
          </a:xfrm>
          <a:prstGeom prst="rect">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08008" y="4206240"/>
            <a:ext cx="2560320" cy="411480"/>
          </a:xfrm>
          <a:prstGeom prst="rect">
            <a:avLst/>
          </a:prstGeom>
          <a:noFill/>
        </p:spPr>
        <p:txBody>
          <a:bodyPr wrap="square">
            <a:spAutoFit/>
          </a:bodyPr>
          <a:lstStyle/>
          <a:p>
            <a:pPr algn="l"/>
            <a:r>
              <a:rPr sz="1300" b="1" i="0">
                <a:solidFill>
                  <a:srgbClr val="FFFFFF"/>
                </a:solidFill>
                <a:latin typeface="Calibri"/>
              </a:rPr>
              <a:t>🔒  Audit Log</a:t>
            </a:r>
          </a:p>
        </p:txBody>
      </p:sp>
      <p:sp>
        <p:nvSpPr>
          <p:cNvPr id="33" name="TextBox 32"/>
          <p:cNvSpPr txBox="1"/>
          <p:nvPr/>
        </p:nvSpPr>
        <p:spPr>
          <a:xfrm>
            <a:off x="9208008" y="4663440"/>
            <a:ext cx="2560320" cy="1280160"/>
          </a:xfrm>
          <a:prstGeom prst="rect">
            <a:avLst/>
          </a:prstGeom>
          <a:noFill/>
        </p:spPr>
        <p:txBody>
          <a:bodyPr wrap="square">
            <a:spAutoFit/>
          </a:bodyPr>
          <a:lstStyle/>
          <a:p>
            <a:pPr algn="l"/>
            <a:r>
              <a:rPr sz="1000" b="0" i="0">
                <a:solidFill>
                  <a:srgbClr val="94A3B8"/>
                </a:solidFill>
                <a:latin typeface="Calibri"/>
              </a:rPr>
              <a:t>Full governance trail
Who changed what, when, why</a:t>
            </a:r>
          </a:p>
        </p:txBody>
      </p:sp>
      <p:sp>
        <p:nvSpPr>
          <p:cNvPr id="34" name="Rectangle 33"/>
          <p:cNvSpPr/>
          <p:nvPr/>
        </p:nvSpPr>
        <p:spPr>
          <a:xfrm>
            <a:off x="320040" y="6172200"/>
            <a:ext cx="278892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6199632"/>
            <a:ext cx="1280160" cy="365760"/>
          </a:xfrm>
          <a:prstGeom prst="rect">
            <a:avLst/>
          </a:prstGeom>
          <a:noFill/>
        </p:spPr>
        <p:txBody>
          <a:bodyPr wrap="square">
            <a:spAutoFit/>
          </a:bodyPr>
          <a:lstStyle/>
          <a:p>
            <a:pPr algn="l"/>
            <a:r>
              <a:rPr sz="1400" b="1" i="0">
                <a:solidFill>
                  <a:srgbClr val="0F172A"/>
                </a:solidFill>
                <a:latin typeface="Calibri"/>
              </a:rPr>
              <a:t>326K+</a:t>
            </a:r>
          </a:p>
        </p:txBody>
      </p:sp>
      <p:sp>
        <p:nvSpPr>
          <p:cNvPr id="36" name="TextBox 35"/>
          <p:cNvSpPr txBox="1"/>
          <p:nvPr/>
        </p:nvSpPr>
        <p:spPr>
          <a:xfrm>
            <a:off x="1691640" y="6217920"/>
            <a:ext cx="1371600" cy="320040"/>
          </a:xfrm>
          <a:prstGeom prst="rect">
            <a:avLst/>
          </a:prstGeom>
          <a:noFill/>
        </p:spPr>
        <p:txBody>
          <a:bodyPr wrap="square">
            <a:spAutoFit/>
          </a:bodyPr>
          <a:lstStyle/>
          <a:p>
            <a:pPr algn="l"/>
            <a:r>
              <a:rPr sz="900" b="0" i="0">
                <a:solidFill>
                  <a:srgbClr val="0F172A"/>
                </a:solidFill>
                <a:latin typeface="Calibri"/>
              </a:rPr>
              <a:t>Total Rows</a:t>
            </a:r>
          </a:p>
        </p:txBody>
      </p:sp>
      <p:sp>
        <p:nvSpPr>
          <p:cNvPr id="37" name="Rectangle 36"/>
          <p:cNvSpPr/>
          <p:nvPr/>
        </p:nvSpPr>
        <p:spPr>
          <a:xfrm>
            <a:off x="3246120" y="6172200"/>
            <a:ext cx="278892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6199632"/>
            <a:ext cx="1280160" cy="365760"/>
          </a:xfrm>
          <a:prstGeom prst="rect">
            <a:avLst/>
          </a:prstGeom>
          <a:noFill/>
        </p:spPr>
        <p:txBody>
          <a:bodyPr wrap="square">
            <a:spAutoFit/>
          </a:bodyPr>
          <a:lstStyle/>
          <a:p>
            <a:pPr algn="l"/>
            <a:r>
              <a:rPr sz="1400" b="1" i="0">
                <a:solidFill>
                  <a:srgbClr val="0F172A"/>
                </a:solidFill>
                <a:latin typeface="Calibri"/>
              </a:rPr>
              <a:t>51K+</a:t>
            </a:r>
          </a:p>
        </p:txBody>
      </p:sp>
      <p:sp>
        <p:nvSpPr>
          <p:cNvPr id="39" name="TextBox 38"/>
          <p:cNvSpPr txBox="1"/>
          <p:nvPr/>
        </p:nvSpPr>
        <p:spPr>
          <a:xfrm>
            <a:off x="4617720" y="6217920"/>
            <a:ext cx="1371600" cy="320040"/>
          </a:xfrm>
          <a:prstGeom prst="rect">
            <a:avLst/>
          </a:prstGeom>
          <a:noFill/>
        </p:spPr>
        <p:txBody>
          <a:bodyPr wrap="square">
            <a:spAutoFit/>
          </a:bodyPr>
          <a:lstStyle/>
          <a:p>
            <a:pPr algn="l"/>
            <a:r>
              <a:rPr sz="900" b="0" i="0">
                <a:solidFill>
                  <a:srgbClr val="0F172A"/>
                </a:solidFill>
                <a:latin typeface="Calibri"/>
              </a:rPr>
              <a:t>Duplicates</a:t>
            </a:r>
          </a:p>
        </p:txBody>
      </p:sp>
      <p:sp>
        <p:nvSpPr>
          <p:cNvPr id="40" name="Rectangle 39"/>
          <p:cNvSpPr/>
          <p:nvPr/>
        </p:nvSpPr>
        <p:spPr>
          <a:xfrm>
            <a:off x="6172200" y="6172200"/>
            <a:ext cx="278892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6199632"/>
            <a:ext cx="1280160" cy="365760"/>
          </a:xfrm>
          <a:prstGeom prst="rect">
            <a:avLst/>
          </a:prstGeom>
          <a:noFill/>
        </p:spPr>
        <p:txBody>
          <a:bodyPr wrap="square">
            <a:spAutoFit/>
          </a:bodyPr>
          <a:lstStyle/>
          <a:p>
            <a:pPr algn="l"/>
            <a:r>
              <a:rPr sz="1400" b="1" i="0">
                <a:solidFill>
                  <a:srgbClr val="0F172A"/>
                </a:solidFill>
                <a:latin typeface="Calibri"/>
              </a:rPr>
              <a:t>90+</a:t>
            </a:r>
          </a:p>
        </p:txBody>
      </p:sp>
      <p:sp>
        <p:nvSpPr>
          <p:cNvPr id="42" name="TextBox 41"/>
          <p:cNvSpPr txBox="1"/>
          <p:nvPr/>
        </p:nvSpPr>
        <p:spPr>
          <a:xfrm>
            <a:off x="7543800" y="6217920"/>
            <a:ext cx="1371600" cy="320040"/>
          </a:xfrm>
          <a:prstGeom prst="rect">
            <a:avLst/>
          </a:prstGeom>
          <a:noFill/>
        </p:spPr>
        <p:txBody>
          <a:bodyPr wrap="square">
            <a:spAutoFit/>
          </a:bodyPr>
          <a:lstStyle/>
          <a:p>
            <a:pPr algn="l"/>
            <a:r>
              <a:rPr sz="900" b="0" i="0">
                <a:solidFill>
                  <a:srgbClr val="0F172A"/>
                </a:solidFill>
                <a:latin typeface="Calibri"/>
              </a:rPr>
              <a:t>Cross Matches</a:t>
            </a:r>
          </a:p>
        </p:txBody>
      </p:sp>
      <p:sp>
        <p:nvSpPr>
          <p:cNvPr id="43" name="Rectangle 42"/>
          <p:cNvSpPr/>
          <p:nvPr/>
        </p:nvSpPr>
        <p:spPr>
          <a:xfrm>
            <a:off x="9098280" y="6172200"/>
            <a:ext cx="278892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89720" y="6199632"/>
            <a:ext cx="1280160" cy="365760"/>
          </a:xfrm>
          <a:prstGeom prst="rect">
            <a:avLst/>
          </a:prstGeom>
          <a:noFill/>
        </p:spPr>
        <p:txBody>
          <a:bodyPr wrap="square">
            <a:spAutoFit/>
          </a:bodyPr>
          <a:lstStyle/>
          <a:p>
            <a:pPr algn="l"/>
            <a:r>
              <a:rPr sz="1400" b="1" i="0">
                <a:solidFill>
                  <a:srgbClr val="0F172A"/>
                </a:solidFill>
                <a:latin typeface="Calibri"/>
              </a:rPr>
              <a:t>48</a:t>
            </a:r>
          </a:p>
        </p:txBody>
      </p:sp>
      <p:sp>
        <p:nvSpPr>
          <p:cNvPr id="45" name="TextBox 44"/>
          <p:cNvSpPr txBox="1"/>
          <p:nvPr/>
        </p:nvSpPr>
        <p:spPr>
          <a:xfrm>
            <a:off x="10469880" y="6217920"/>
            <a:ext cx="1371600" cy="320040"/>
          </a:xfrm>
          <a:prstGeom prst="rect">
            <a:avLst/>
          </a:prstGeom>
          <a:noFill/>
        </p:spPr>
        <p:txBody>
          <a:bodyPr wrap="square">
            <a:spAutoFit/>
          </a:bodyPr>
          <a:lstStyle/>
          <a:p>
            <a:pPr algn="l"/>
            <a:r>
              <a:rPr sz="900" b="0" i="0">
                <a:solidFill>
                  <a:srgbClr val="0F172A"/>
                </a:solidFill>
                <a:latin typeface="Calibri"/>
              </a:rPr>
              <a:t>CNMC Codes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How It Works</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End-to-End User Journey</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2697480" cy="192024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828800"/>
            <a:ext cx="457200" cy="1920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1847088"/>
            <a:ext cx="347472" cy="365760"/>
          </a:xfrm>
          <a:prstGeom prst="rect">
            <a:avLst/>
          </a:prstGeom>
          <a:noFill/>
        </p:spPr>
        <p:txBody>
          <a:bodyPr wrap="square">
            <a:spAutoFit/>
          </a:bodyPr>
          <a:lstStyle/>
          <a:p>
            <a:pPr algn="l"/>
            <a:r>
              <a:rPr sz="1800" b="1" i="0">
                <a:solidFill>
                  <a:srgbClr val="0F172A"/>
                </a:solidFill>
                <a:latin typeface="Calibri"/>
              </a:rPr>
              <a:t>1</a:t>
            </a:r>
          </a:p>
        </p:txBody>
      </p:sp>
      <p:sp>
        <p:nvSpPr>
          <p:cNvPr id="13" name="TextBox 12"/>
          <p:cNvSpPr txBox="1"/>
          <p:nvPr/>
        </p:nvSpPr>
        <p:spPr>
          <a:xfrm>
            <a:off x="914400" y="1920240"/>
            <a:ext cx="2011680" cy="548640"/>
          </a:xfrm>
          <a:prstGeom prst="rect">
            <a:avLst/>
          </a:prstGeom>
          <a:noFill/>
        </p:spPr>
        <p:txBody>
          <a:bodyPr wrap="square">
            <a:spAutoFit/>
          </a:bodyPr>
          <a:lstStyle/>
          <a:p>
            <a:pPr algn="l"/>
            <a:r>
              <a:rPr sz="1100" b="1" i="0">
                <a:solidFill>
                  <a:srgbClr val="FFFFFF"/>
                </a:solidFill>
                <a:latin typeface="Calibri"/>
              </a:rPr>
              <a:t>CPSE Admin uploads
material data</a:t>
            </a:r>
          </a:p>
        </p:txBody>
      </p:sp>
      <p:sp>
        <p:nvSpPr>
          <p:cNvPr id="14" name="TextBox 13"/>
          <p:cNvSpPr txBox="1"/>
          <p:nvPr/>
        </p:nvSpPr>
        <p:spPr>
          <a:xfrm>
            <a:off x="914400" y="2514600"/>
            <a:ext cx="2011680" cy="457200"/>
          </a:xfrm>
          <a:prstGeom prst="rect">
            <a:avLst/>
          </a:prstGeom>
          <a:noFill/>
        </p:spPr>
        <p:txBody>
          <a:bodyPr wrap="square">
            <a:spAutoFit/>
          </a:bodyPr>
          <a:lstStyle/>
          <a:p>
            <a:pPr algn="l"/>
            <a:r>
              <a:rPr sz="900" b="0" i="0">
                <a:solidFill>
                  <a:srgbClr val="94A3B8"/>
                </a:solidFill>
                <a:latin typeface="Calibri"/>
              </a:rPr>
              <a:t>CSV / Excel / SAP IDoc</a:t>
            </a:r>
          </a:p>
        </p:txBody>
      </p:sp>
      <p:sp>
        <p:nvSpPr>
          <p:cNvPr id="15" name="TextBox 14"/>
          <p:cNvSpPr txBox="1"/>
          <p:nvPr/>
        </p:nvSpPr>
        <p:spPr>
          <a:xfrm>
            <a:off x="3108960" y="2651760"/>
            <a:ext cx="182880" cy="365760"/>
          </a:xfrm>
          <a:prstGeom prst="rect">
            <a:avLst/>
          </a:prstGeom>
          <a:noFill/>
        </p:spPr>
        <p:txBody>
          <a:bodyPr wrap="square">
            <a:spAutoFit/>
          </a:bodyPr>
          <a:lstStyle/>
          <a:p>
            <a:pPr algn="ctr"/>
            <a:r>
              <a:rPr sz="1800" b="0" i="0">
                <a:solidFill>
                  <a:srgbClr val="475669"/>
                </a:solidFill>
                <a:latin typeface="Calibri"/>
              </a:rPr>
              <a:t>→</a:t>
            </a:r>
          </a:p>
        </p:txBody>
      </p:sp>
      <p:sp>
        <p:nvSpPr>
          <p:cNvPr id="16" name="Rectangle 15"/>
          <p:cNvSpPr/>
          <p:nvPr/>
        </p:nvSpPr>
        <p:spPr>
          <a:xfrm>
            <a:off x="3246120" y="1828800"/>
            <a:ext cx="2697480" cy="192024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6120" y="1828800"/>
            <a:ext cx="457200" cy="192024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10128" y="1847088"/>
            <a:ext cx="347472" cy="365760"/>
          </a:xfrm>
          <a:prstGeom prst="rect">
            <a:avLst/>
          </a:prstGeom>
          <a:noFill/>
        </p:spPr>
        <p:txBody>
          <a:bodyPr wrap="square">
            <a:spAutoFit/>
          </a:bodyPr>
          <a:lstStyle/>
          <a:p>
            <a:pPr algn="l"/>
            <a:r>
              <a:rPr sz="1800" b="1" i="0">
                <a:solidFill>
                  <a:srgbClr val="0F172A"/>
                </a:solidFill>
                <a:latin typeface="Calibri"/>
              </a:rPr>
              <a:t>2</a:t>
            </a:r>
          </a:p>
        </p:txBody>
      </p:sp>
      <p:sp>
        <p:nvSpPr>
          <p:cNvPr id="19" name="TextBox 18"/>
          <p:cNvSpPr txBox="1"/>
          <p:nvPr/>
        </p:nvSpPr>
        <p:spPr>
          <a:xfrm>
            <a:off x="3794760" y="1920240"/>
            <a:ext cx="2011680" cy="548640"/>
          </a:xfrm>
          <a:prstGeom prst="rect">
            <a:avLst/>
          </a:prstGeom>
          <a:noFill/>
        </p:spPr>
        <p:txBody>
          <a:bodyPr wrap="square">
            <a:spAutoFit/>
          </a:bodyPr>
          <a:lstStyle/>
          <a:p>
            <a:pPr algn="l"/>
            <a:r>
              <a:rPr sz="1100" b="1" i="0">
                <a:solidFill>
                  <a:srgbClr val="FFFFFF"/>
                </a:solidFill>
                <a:latin typeface="Calibri"/>
              </a:rPr>
              <a:t>System normalizes
descriptions</a:t>
            </a:r>
          </a:p>
        </p:txBody>
      </p:sp>
      <p:sp>
        <p:nvSpPr>
          <p:cNvPr id="20" name="TextBox 19"/>
          <p:cNvSpPr txBox="1"/>
          <p:nvPr/>
        </p:nvSpPr>
        <p:spPr>
          <a:xfrm>
            <a:off x="3794760" y="2514600"/>
            <a:ext cx="2011680" cy="457200"/>
          </a:xfrm>
          <a:prstGeom prst="rect">
            <a:avLst/>
          </a:prstGeom>
          <a:noFill/>
        </p:spPr>
        <p:txBody>
          <a:bodyPr wrap="square">
            <a:spAutoFit/>
          </a:bodyPr>
          <a:lstStyle/>
          <a:p>
            <a:pPr algn="l"/>
            <a:r>
              <a:rPr sz="900" b="0" i="0">
                <a:solidFill>
                  <a:srgbClr val="94A3B8"/>
                </a:solidFill>
                <a:latin typeface="Calibri"/>
              </a:rPr>
              <a:t>Domain normalizer active</a:t>
            </a:r>
          </a:p>
        </p:txBody>
      </p:sp>
      <p:sp>
        <p:nvSpPr>
          <p:cNvPr id="21" name="TextBox 20"/>
          <p:cNvSpPr txBox="1"/>
          <p:nvPr/>
        </p:nvSpPr>
        <p:spPr>
          <a:xfrm>
            <a:off x="5989320" y="2651760"/>
            <a:ext cx="182880" cy="365760"/>
          </a:xfrm>
          <a:prstGeom prst="rect">
            <a:avLst/>
          </a:prstGeom>
          <a:noFill/>
        </p:spPr>
        <p:txBody>
          <a:bodyPr wrap="square">
            <a:spAutoFit/>
          </a:bodyPr>
          <a:lstStyle/>
          <a:p>
            <a:pPr algn="ctr"/>
            <a:r>
              <a:rPr sz="1800" b="0" i="0">
                <a:solidFill>
                  <a:srgbClr val="475669"/>
                </a:solidFill>
                <a:latin typeface="Calibri"/>
              </a:rPr>
              <a:t>→</a:t>
            </a:r>
          </a:p>
        </p:txBody>
      </p:sp>
      <p:sp>
        <p:nvSpPr>
          <p:cNvPr id="22" name="Rectangle 21"/>
          <p:cNvSpPr/>
          <p:nvPr/>
        </p:nvSpPr>
        <p:spPr>
          <a:xfrm>
            <a:off x="6126480" y="1828800"/>
            <a:ext cx="2697480" cy="192024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1828800"/>
            <a:ext cx="457200" cy="1920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0488" y="1847088"/>
            <a:ext cx="347472" cy="365760"/>
          </a:xfrm>
          <a:prstGeom prst="rect">
            <a:avLst/>
          </a:prstGeom>
          <a:noFill/>
        </p:spPr>
        <p:txBody>
          <a:bodyPr wrap="square">
            <a:spAutoFit/>
          </a:bodyPr>
          <a:lstStyle/>
          <a:p>
            <a:pPr algn="l"/>
            <a:r>
              <a:rPr sz="1800" b="1" i="0">
                <a:solidFill>
                  <a:srgbClr val="0F172A"/>
                </a:solidFill>
                <a:latin typeface="Calibri"/>
              </a:rPr>
              <a:t>3</a:t>
            </a:r>
          </a:p>
        </p:txBody>
      </p:sp>
      <p:sp>
        <p:nvSpPr>
          <p:cNvPr id="25" name="TextBox 24"/>
          <p:cNvSpPr txBox="1"/>
          <p:nvPr/>
        </p:nvSpPr>
        <p:spPr>
          <a:xfrm>
            <a:off x="6675120" y="1920240"/>
            <a:ext cx="2011680" cy="548640"/>
          </a:xfrm>
          <a:prstGeom prst="rect">
            <a:avLst/>
          </a:prstGeom>
          <a:noFill/>
        </p:spPr>
        <p:txBody>
          <a:bodyPr wrap="square">
            <a:spAutoFit/>
          </a:bodyPr>
          <a:lstStyle/>
          <a:p>
            <a:pPr algn="l"/>
            <a:r>
              <a:rPr sz="1100" b="1" i="0">
                <a:solidFill>
                  <a:srgbClr val="FFFFFF"/>
                </a:solidFill>
                <a:latin typeface="Calibri"/>
              </a:rPr>
              <a:t>AI runs matching
pipeline across CPSEs</a:t>
            </a:r>
          </a:p>
        </p:txBody>
      </p:sp>
      <p:sp>
        <p:nvSpPr>
          <p:cNvPr id="26" name="TextBox 25"/>
          <p:cNvSpPr txBox="1"/>
          <p:nvPr/>
        </p:nvSpPr>
        <p:spPr>
          <a:xfrm>
            <a:off x="6675120" y="2514600"/>
            <a:ext cx="2011680" cy="457200"/>
          </a:xfrm>
          <a:prstGeom prst="rect">
            <a:avLst/>
          </a:prstGeom>
          <a:noFill/>
        </p:spPr>
        <p:txBody>
          <a:bodyPr wrap="square">
            <a:spAutoFit/>
          </a:bodyPr>
          <a:lstStyle/>
          <a:p>
            <a:pPr algn="l"/>
            <a:r>
              <a:rPr sz="900" b="0" i="0">
                <a:solidFill>
                  <a:srgbClr val="94A3B8"/>
                </a:solidFill>
                <a:latin typeface="Calibri"/>
              </a:rPr>
              <a:t>4-stage: lexical + semantic + numeric</a:t>
            </a:r>
          </a:p>
        </p:txBody>
      </p:sp>
      <p:sp>
        <p:nvSpPr>
          <p:cNvPr id="27" name="TextBox 26"/>
          <p:cNvSpPr txBox="1"/>
          <p:nvPr/>
        </p:nvSpPr>
        <p:spPr>
          <a:xfrm>
            <a:off x="8869680" y="2651760"/>
            <a:ext cx="182880" cy="365760"/>
          </a:xfrm>
          <a:prstGeom prst="rect">
            <a:avLst/>
          </a:prstGeom>
          <a:noFill/>
        </p:spPr>
        <p:txBody>
          <a:bodyPr wrap="square">
            <a:spAutoFit/>
          </a:bodyPr>
          <a:lstStyle/>
          <a:p>
            <a:pPr algn="ctr"/>
            <a:r>
              <a:rPr sz="1800" b="0" i="0">
                <a:solidFill>
                  <a:srgbClr val="475669"/>
                </a:solidFill>
                <a:latin typeface="Calibri"/>
              </a:rPr>
              <a:t>→</a:t>
            </a:r>
          </a:p>
        </p:txBody>
      </p:sp>
      <p:sp>
        <p:nvSpPr>
          <p:cNvPr id="28" name="Rectangle 27"/>
          <p:cNvSpPr/>
          <p:nvPr/>
        </p:nvSpPr>
        <p:spPr>
          <a:xfrm>
            <a:off x="9006840" y="1828800"/>
            <a:ext cx="2697480" cy="192024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06840" y="1828800"/>
            <a:ext cx="457200"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0848" y="1847088"/>
            <a:ext cx="347472" cy="365760"/>
          </a:xfrm>
          <a:prstGeom prst="rect">
            <a:avLst/>
          </a:prstGeom>
          <a:noFill/>
        </p:spPr>
        <p:txBody>
          <a:bodyPr wrap="square">
            <a:spAutoFit/>
          </a:bodyPr>
          <a:lstStyle/>
          <a:p>
            <a:pPr algn="l"/>
            <a:r>
              <a:rPr sz="1800" b="1" i="0">
                <a:solidFill>
                  <a:srgbClr val="0F172A"/>
                </a:solidFill>
                <a:latin typeface="Calibri"/>
              </a:rPr>
              <a:t>4</a:t>
            </a:r>
          </a:p>
        </p:txBody>
      </p:sp>
      <p:sp>
        <p:nvSpPr>
          <p:cNvPr id="31" name="TextBox 30"/>
          <p:cNvSpPr txBox="1"/>
          <p:nvPr/>
        </p:nvSpPr>
        <p:spPr>
          <a:xfrm>
            <a:off x="9555480" y="1920240"/>
            <a:ext cx="2011680" cy="548640"/>
          </a:xfrm>
          <a:prstGeom prst="rect">
            <a:avLst/>
          </a:prstGeom>
          <a:noFill/>
        </p:spPr>
        <p:txBody>
          <a:bodyPr wrap="square">
            <a:spAutoFit/>
          </a:bodyPr>
          <a:lstStyle/>
          <a:p>
            <a:pPr algn="l"/>
            <a:r>
              <a:rPr sz="1100" b="1" i="0">
                <a:solidFill>
                  <a:srgbClr val="FFFFFF"/>
                </a:solidFill>
                <a:latin typeface="Calibri"/>
              </a:rPr>
              <a:t>Proposals generated
(score ≥ 65%)</a:t>
            </a:r>
          </a:p>
        </p:txBody>
      </p:sp>
      <p:sp>
        <p:nvSpPr>
          <p:cNvPr id="32" name="TextBox 31"/>
          <p:cNvSpPr txBox="1"/>
          <p:nvPr/>
        </p:nvSpPr>
        <p:spPr>
          <a:xfrm>
            <a:off x="9555480" y="2514600"/>
            <a:ext cx="2011680" cy="457200"/>
          </a:xfrm>
          <a:prstGeom prst="rect">
            <a:avLst/>
          </a:prstGeom>
          <a:noFill/>
        </p:spPr>
        <p:txBody>
          <a:bodyPr wrap="square">
            <a:spAutoFit/>
          </a:bodyPr>
          <a:lstStyle/>
          <a:p>
            <a:pPr algn="l"/>
            <a:r>
              <a:rPr sz="900" b="0" i="0">
                <a:solidFill>
                  <a:srgbClr val="94A3B8"/>
                </a:solidFill>
                <a:latin typeface="Calibri"/>
              </a:rPr>
              <a:t>Match proposals with confidence</a:t>
            </a:r>
          </a:p>
        </p:txBody>
      </p:sp>
      <p:sp>
        <p:nvSpPr>
          <p:cNvPr id="33" name="Rectangle 32"/>
          <p:cNvSpPr/>
          <p:nvPr/>
        </p:nvSpPr>
        <p:spPr>
          <a:xfrm>
            <a:off x="365760" y="4023360"/>
            <a:ext cx="2697480" cy="192024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4023360"/>
            <a:ext cx="457200" cy="1920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768" y="4041648"/>
            <a:ext cx="347472" cy="365760"/>
          </a:xfrm>
          <a:prstGeom prst="rect">
            <a:avLst/>
          </a:prstGeom>
          <a:noFill/>
        </p:spPr>
        <p:txBody>
          <a:bodyPr wrap="square">
            <a:spAutoFit/>
          </a:bodyPr>
          <a:lstStyle/>
          <a:p>
            <a:pPr algn="l"/>
            <a:r>
              <a:rPr sz="1800" b="1" i="0">
                <a:solidFill>
                  <a:srgbClr val="0F172A"/>
                </a:solidFill>
                <a:latin typeface="Calibri"/>
              </a:rPr>
              <a:t>5</a:t>
            </a:r>
          </a:p>
        </p:txBody>
      </p:sp>
      <p:sp>
        <p:nvSpPr>
          <p:cNvPr id="36" name="TextBox 35"/>
          <p:cNvSpPr txBox="1"/>
          <p:nvPr/>
        </p:nvSpPr>
        <p:spPr>
          <a:xfrm>
            <a:off x="914400" y="4114800"/>
            <a:ext cx="2011680" cy="548640"/>
          </a:xfrm>
          <a:prstGeom prst="rect">
            <a:avLst/>
          </a:prstGeom>
          <a:noFill/>
        </p:spPr>
        <p:txBody>
          <a:bodyPr wrap="square">
            <a:spAutoFit/>
          </a:bodyPr>
          <a:lstStyle/>
          <a:p>
            <a:pPr algn="l"/>
            <a:r>
              <a:rPr sz="1100" b="1" i="0">
                <a:solidFill>
                  <a:srgbClr val="FFFFFF"/>
                </a:solidFill>
                <a:latin typeface="Calibri"/>
              </a:rPr>
              <a:t>User reviews
proposals in queue</a:t>
            </a:r>
          </a:p>
        </p:txBody>
      </p:sp>
      <p:sp>
        <p:nvSpPr>
          <p:cNvPr id="37" name="TextBox 36"/>
          <p:cNvSpPr txBox="1"/>
          <p:nvPr/>
        </p:nvSpPr>
        <p:spPr>
          <a:xfrm>
            <a:off x="914400" y="4709160"/>
            <a:ext cx="2011680" cy="457200"/>
          </a:xfrm>
          <a:prstGeom prst="rect">
            <a:avLst/>
          </a:prstGeom>
          <a:noFill/>
        </p:spPr>
        <p:txBody>
          <a:bodyPr wrap="square">
            <a:spAutoFit/>
          </a:bodyPr>
          <a:lstStyle/>
          <a:p>
            <a:pPr algn="l"/>
            <a:r>
              <a:rPr sz="900" b="0" i="0">
                <a:solidFill>
                  <a:srgbClr val="94A3B8"/>
                </a:solidFill>
                <a:latin typeface="Calibri"/>
              </a:rPr>
              <a:t>Approve / Reject / Modify</a:t>
            </a:r>
          </a:p>
        </p:txBody>
      </p:sp>
      <p:sp>
        <p:nvSpPr>
          <p:cNvPr id="38" name="TextBox 37"/>
          <p:cNvSpPr txBox="1"/>
          <p:nvPr/>
        </p:nvSpPr>
        <p:spPr>
          <a:xfrm>
            <a:off x="3108960" y="4846320"/>
            <a:ext cx="182880" cy="365760"/>
          </a:xfrm>
          <a:prstGeom prst="rect">
            <a:avLst/>
          </a:prstGeom>
          <a:noFill/>
        </p:spPr>
        <p:txBody>
          <a:bodyPr wrap="square">
            <a:spAutoFit/>
          </a:bodyPr>
          <a:lstStyle/>
          <a:p>
            <a:pPr algn="ctr"/>
            <a:r>
              <a:rPr sz="1800" b="0" i="0">
                <a:solidFill>
                  <a:srgbClr val="475669"/>
                </a:solidFill>
                <a:latin typeface="Calibri"/>
              </a:rPr>
              <a:t>→</a:t>
            </a:r>
          </a:p>
        </p:txBody>
      </p:sp>
      <p:sp>
        <p:nvSpPr>
          <p:cNvPr id="39" name="Rectangle 38"/>
          <p:cNvSpPr/>
          <p:nvPr/>
        </p:nvSpPr>
        <p:spPr>
          <a:xfrm>
            <a:off x="3246120" y="4023360"/>
            <a:ext cx="2697480" cy="192024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46120" y="4023360"/>
            <a:ext cx="457200" cy="192024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10128" y="4041648"/>
            <a:ext cx="347472" cy="365760"/>
          </a:xfrm>
          <a:prstGeom prst="rect">
            <a:avLst/>
          </a:prstGeom>
          <a:noFill/>
        </p:spPr>
        <p:txBody>
          <a:bodyPr wrap="square">
            <a:spAutoFit/>
          </a:bodyPr>
          <a:lstStyle/>
          <a:p>
            <a:pPr algn="l"/>
            <a:r>
              <a:rPr sz="1800" b="1" i="0">
                <a:solidFill>
                  <a:srgbClr val="0F172A"/>
                </a:solidFill>
                <a:latin typeface="Calibri"/>
              </a:rPr>
              <a:t>6</a:t>
            </a:r>
          </a:p>
        </p:txBody>
      </p:sp>
      <p:sp>
        <p:nvSpPr>
          <p:cNvPr id="42" name="TextBox 41"/>
          <p:cNvSpPr txBox="1"/>
          <p:nvPr/>
        </p:nvSpPr>
        <p:spPr>
          <a:xfrm>
            <a:off x="3794760" y="4114800"/>
            <a:ext cx="2011680" cy="548640"/>
          </a:xfrm>
          <a:prstGeom prst="rect">
            <a:avLst/>
          </a:prstGeom>
          <a:noFill/>
        </p:spPr>
        <p:txBody>
          <a:bodyPr wrap="square">
            <a:spAutoFit/>
          </a:bodyPr>
          <a:lstStyle/>
          <a:p>
            <a:pPr algn="l"/>
            <a:r>
              <a:rPr sz="1100" b="1" i="0">
                <a:solidFill>
                  <a:srgbClr val="FFFFFF"/>
                </a:solidFill>
                <a:latin typeface="Calibri"/>
              </a:rPr>
              <a:t>CNMC assigned
automatically</a:t>
            </a:r>
          </a:p>
        </p:txBody>
      </p:sp>
      <p:sp>
        <p:nvSpPr>
          <p:cNvPr id="43" name="TextBox 42"/>
          <p:cNvSpPr txBox="1"/>
          <p:nvPr/>
        </p:nvSpPr>
        <p:spPr>
          <a:xfrm>
            <a:off x="3794760" y="4709160"/>
            <a:ext cx="2011680" cy="457200"/>
          </a:xfrm>
          <a:prstGeom prst="rect">
            <a:avLst/>
          </a:prstGeom>
          <a:noFill/>
        </p:spPr>
        <p:txBody>
          <a:bodyPr wrap="square">
            <a:spAutoFit/>
          </a:bodyPr>
          <a:lstStyle/>
          <a:p>
            <a:pPr algn="l"/>
            <a:r>
              <a:rPr sz="900" b="0" i="0">
                <a:solidFill>
                  <a:srgbClr val="94A3B8"/>
                </a:solidFill>
                <a:latin typeface="Calibri"/>
              </a:rPr>
              <a:t>Stable code generated</a:t>
            </a:r>
          </a:p>
        </p:txBody>
      </p:sp>
      <p:sp>
        <p:nvSpPr>
          <p:cNvPr id="44" name="TextBox 43"/>
          <p:cNvSpPr txBox="1"/>
          <p:nvPr/>
        </p:nvSpPr>
        <p:spPr>
          <a:xfrm>
            <a:off x="5989320" y="4846320"/>
            <a:ext cx="182880" cy="365760"/>
          </a:xfrm>
          <a:prstGeom prst="rect">
            <a:avLst/>
          </a:prstGeom>
          <a:noFill/>
        </p:spPr>
        <p:txBody>
          <a:bodyPr wrap="square">
            <a:spAutoFit/>
          </a:bodyPr>
          <a:lstStyle/>
          <a:p>
            <a:pPr algn="ctr"/>
            <a:r>
              <a:rPr sz="1800" b="0" i="0">
                <a:solidFill>
                  <a:srgbClr val="475669"/>
                </a:solidFill>
                <a:latin typeface="Calibri"/>
              </a:rPr>
              <a:t>→</a:t>
            </a:r>
          </a:p>
        </p:txBody>
      </p:sp>
      <p:sp>
        <p:nvSpPr>
          <p:cNvPr id="45" name="Rectangle 44"/>
          <p:cNvSpPr/>
          <p:nvPr/>
        </p:nvSpPr>
        <p:spPr>
          <a:xfrm>
            <a:off x="6126480" y="4023360"/>
            <a:ext cx="2697480" cy="192024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26480" y="4023360"/>
            <a:ext cx="457200" cy="1920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0488" y="4041648"/>
            <a:ext cx="347472" cy="365760"/>
          </a:xfrm>
          <a:prstGeom prst="rect">
            <a:avLst/>
          </a:prstGeom>
          <a:noFill/>
        </p:spPr>
        <p:txBody>
          <a:bodyPr wrap="square">
            <a:spAutoFit/>
          </a:bodyPr>
          <a:lstStyle/>
          <a:p>
            <a:pPr algn="l"/>
            <a:r>
              <a:rPr sz="1800" b="1" i="0">
                <a:solidFill>
                  <a:srgbClr val="0F172A"/>
                </a:solidFill>
                <a:latin typeface="Calibri"/>
              </a:rPr>
              <a:t>7</a:t>
            </a:r>
          </a:p>
        </p:txBody>
      </p:sp>
      <p:sp>
        <p:nvSpPr>
          <p:cNvPr id="48" name="TextBox 47"/>
          <p:cNvSpPr txBox="1"/>
          <p:nvPr/>
        </p:nvSpPr>
        <p:spPr>
          <a:xfrm>
            <a:off x="6675120" y="4114800"/>
            <a:ext cx="2011680" cy="548640"/>
          </a:xfrm>
          <a:prstGeom prst="rect">
            <a:avLst/>
          </a:prstGeom>
          <a:noFill/>
        </p:spPr>
        <p:txBody>
          <a:bodyPr wrap="square">
            <a:spAutoFit/>
          </a:bodyPr>
          <a:lstStyle/>
          <a:p>
            <a:pPr algn="l"/>
            <a:r>
              <a:rPr sz="1100" b="1" i="0">
                <a:solidFill>
                  <a:srgbClr val="FFFFFF"/>
                </a:solidFill>
                <a:latin typeface="Calibri"/>
              </a:rPr>
              <a:t>All CPSEs mapped
to same CNMC</a:t>
            </a:r>
          </a:p>
        </p:txBody>
      </p:sp>
      <p:sp>
        <p:nvSpPr>
          <p:cNvPr id="49" name="TextBox 48"/>
          <p:cNvSpPr txBox="1"/>
          <p:nvPr/>
        </p:nvSpPr>
        <p:spPr>
          <a:xfrm>
            <a:off x="6675120" y="4709160"/>
            <a:ext cx="2011680" cy="457200"/>
          </a:xfrm>
          <a:prstGeom prst="rect">
            <a:avLst/>
          </a:prstGeom>
          <a:noFill/>
        </p:spPr>
        <p:txBody>
          <a:bodyPr wrap="square">
            <a:spAutoFit/>
          </a:bodyPr>
          <a:lstStyle/>
          <a:p>
            <a:pPr algn="l"/>
            <a:r>
              <a:rPr sz="900" b="0" i="0">
                <a:solidFill>
                  <a:srgbClr val="94A3B8"/>
                </a:solidFill>
                <a:latin typeface="Calibri"/>
              </a:rPr>
              <a:t>Unified master record</a:t>
            </a:r>
          </a:p>
        </p:txBody>
      </p:sp>
      <p:sp>
        <p:nvSpPr>
          <p:cNvPr id="50" name="TextBox 49"/>
          <p:cNvSpPr txBox="1"/>
          <p:nvPr/>
        </p:nvSpPr>
        <p:spPr>
          <a:xfrm>
            <a:off x="8869680" y="4846320"/>
            <a:ext cx="182880" cy="365760"/>
          </a:xfrm>
          <a:prstGeom prst="rect">
            <a:avLst/>
          </a:prstGeom>
          <a:noFill/>
        </p:spPr>
        <p:txBody>
          <a:bodyPr wrap="square">
            <a:spAutoFit/>
          </a:bodyPr>
          <a:lstStyle/>
          <a:p>
            <a:pPr algn="ctr"/>
            <a:r>
              <a:rPr sz="1800" b="0" i="0">
                <a:solidFill>
                  <a:srgbClr val="475669"/>
                </a:solidFill>
                <a:latin typeface="Calibri"/>
              </a:rPr>
              <a:t>→</a:t>
            </a:r>
          </a:p>
        </p:txBody>
      </p:sp>
      <p:sp>
        <p:nvSpPr>
          <p:cNvPr id="51" name="Rectangle 50"/>
          <p:cNvSpPr/>
          <p:nvPr/>
        </p:nvSpPr>
        <p:spPr>
          <a:xfrm>
            <a:off x="9006840" y="4023360"/>
            <a:ext cx="2697480" cy="192024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06840" y="4023360"/>
            <a:ext cx="457200"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70848" y="4041648"/>
            <a:ext cx="347472" cy="365760"/>
          </a:xfrm>
          <a:prstGeom prst="rect">
            <a:avLst/>
          </a:prstGeom>
          <a:noFill/>
        </p:spPr>
        <p:txBody>
          <a:bodyPr wrap="square">
            <a:spAutoFit/>
          </a:bodyPr>
          <a:lstStyle/>
          <a:p>
            <a:pPr algn="l"/>
            <a:r>
              <a:rPr sz="1800" b="1" i="0">
                <a:solidFill>
                  <a:srgbClr val="0F172A"/>
                </a:solidFill>
                <a:latin typeface="Calibri"/>
              </a:rPr>
              <a:t>8</a:t>
            </a:r>
          </a:p>
        </p:txBody>
      </p:sp>
      <p:sp>
        <p:nvSpPr>
          <p:cNvPr id="54" name="TextBox 53"/>
          <p:cNvSpPr txBox="1"/>
          <p:nvPr/>
        </p:nvSpPr>
        <p:spPr>
          <a:xfrm>
            <a:off x="9555480" y="4114800"/>
            <a:ext cx="2011680" cy="548640"/>
          </a:xfrm>
          <a:prstGeom prst="rect">
            <a:avLst/>
          </a:prstGeom>
          <a:noFill/>
        </p:spPr>
        <p:txBody>
          <a:bodyPr wrap="square">
            <a:spAutoFit/>
          </a:bodyPr>
          <a:lstStyle/>
          <a:p>
            <a:pPr algn="l"/>
            <a:r>
              <a:rPr sz="1100" b="1" i="0">
                <a:solidFill>
                  <a:srgbClr val="FFFFFF"/>
                </a:solidFill>
                <a:latin typeface="Calibri"/>
              </a:rPr>
              <a:t>Analytics updated
in real-time</a:t>
            </a:r>
          </a:p>
        </p:txBody>
      </p:sp>
      <p:sp>
        <p:nvSpPr>
          <p:cNvPr id="55" name="TextBox 54"/>
          <p:cNvSpPr txBox="1"/>
          <p:nvPr/>
        </p:nvSpPr>
        <p:spPr>
          <a:xfrm>
            <a:off x="9555480" y="4709160"/>
            <a:ext cx="2011680" cy="457200"/>
          </a:xfrm>
          <a:prstGeom prst="rect">
            <a:avLst/>
          </a:prstGeom>
          <a:noFill/>
        </p:spPr>
        <p:txBody>
          <a:bodyPr wrap="square">
            <a:spAutoFit/>
          </a:bodyPr>
          <a:lstStyle/>
          <a:p>
            <a:pPr algn="l"/>
            <a:r>
              <a:rPr sz="900" b="0" i="0">
                <a:solidFill>
                  <a:srgbClr val="94A3B8"/>
                </a:solidFill>
                <a:latin typeface="Calibri"/>
              </a:rPr>
              <a:t>Dashboards, reports, KPIs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Innovation &amp; Differentiation</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What Makes NUMMF Unique</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2743200" cy="411480"/>
          </a:xfrm>
          <a:prstGeom prst="rect">
            <a:avLst/>
          </a:prstGeom>
          <a:solidFill>
            <a:srgbClr val="1E3A5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74519"/>
            <a:ext cx="2560320" cy="320040"/>
          </a:xfrm>
          <a:prstGeom prst="rect">
            <a:avLst/>
          </a:prstGeom>
          <a:noFill/>
        </p:spPr>
        <p:txBody>
          <a:bodyPr wrap="square">
            <a:spAutoFit/>
          </a:bodyPr>
          <a:lstStyle/>
          <a:p>
            <a:pPr algn="ctr"/>
            <a:r>
              <a:rPr sz="1200" b="1" i="0">
                <a:solidFill>
                  <a:srgbClr val="FFFFFF"/>
                </a:solidFill>
                <a:latin typeface="Calibri"/>
              </a:rPr>
              <a:t>Aspect</a:t>
            </a:r>
          </a:p>
        </p:txBody>
      </p:sp>
      <p:sp>
        <p:nvSpPr>
          <p:cNvPr id="12" name="Rectangle 11"/>
          <p:cNvSpPr/>
          <p:nvPr/>
        </p:nvSpPr>
        <p:spPr>
          <a:xfrm>
            <a:off x="3108960" y="1828800"/>
            <a:ext cx="3657600" cy="411480"/>
          </a:xfrm>
          <a:prstGeom prst="rect">
            <a:avLst/>
          </a:prstGeom>
          <a:solidFill>
            <a:srgbClr val="1E3A5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1874519"/>
            <a:ext cx="3474720" cy="320040"/>
          </a:xfrm>
          <a:prstGeom prst="rect">
            <a:avLst/>
          </a:prstGeom>
          <a:noFill/>
        </p:spPr>
        <p:txBody>
          <a:bodyPr wrap="square">
            <a:spAutoFit/>
          </a:bodyPr>
          <a:lstStyle/>
          <a:p>
            <a:pPr algn="ctr"/>
            <a:r>
              <a:rPr sz="1200" b="1" i="0">
                <a:solidFill>
                  <a:srgbClr val="FFFFFF"/>
                </a:solidFill>
                <a:latin typeface="Calibri"/>
              </a:rPr>
              <a:t>Typical Solutions</a:t>
            </a:r>
          </a:p>
        </p:txBody>
      </p:sp>
      <p:sp>
        <p:nvSpPr>
          <p:cNvPr id="14" name="Rectangle 13"/>
          <p:cNvSpPr/>
          <p:nvPr/>
        </p:nvSpPr>
        <p:spPr>
          <a:xfrm>
            <a:off x="6766560" y="1828800"/>
            <a:ext cx="4389120" cy="411480"/>
          </a:xfrm>
          <a:prstGeom prst="rect">
            <a:avLst/>
          </a:prstGeom>
          <a:solidFill>
            <a:srgbClr val="1E3A5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1874519"/>
            <a:ext cx="4206240" cy="320040"/>
          </a:xfrm>
          <a:prstGeom prst="rect">
            <a:avLst/>
          </a:prstGeom>
          <a:noFill/>
        </p:spPr>
        <p:txBody>
          <a:bodyPr wrap="square">
            <a:spAutoFit/>
          </a:bodyPr>
          <a:lstStyle/>
          <a:p>
            <a:pPr algn="ctr"/>
            <a:r>
              <a:rPr sz="1200" b="1" i="0">
                <a:solidFill>
                  <a:srgbClr val="FFFFFF"/>
                </a:solidFill>
                <a:latin typeface="Calibri"/>
              </a:rPr>
              <a:t>NUMMF</a:t>
            </a:r>
          </a:p>
        </p:txBody>
      </p:sp>
      <p:sp>
        <p:nvSpPr>
          <p:cNvPr id="16" name="Rectangle 15"/>
          <p:cNvSpPr/>
          <p:nvPr/>
        </p:nvSpPr>
        <p:spPr>
          <a:xfrm>
            <a:off x="365760" y="2286000"/>
            <a:ext cx="27432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359152"/>
            <a:ext cx="2560320" cy="320040"/>
          </a:xfrm>
          <a:prstGeom prst="rect">
            <a:avLst/>
          </a:prstGeom>
          <a:noFill/>
        </p:spPr>
        <p:txBody>
          <a:bodyPr wrap="square">
            <a:spAutoFit/>
          </a:bodyPr>
          <a:lstStyle/>
          <a:p>
            <a:pPr algn="l"/>
            <a:r>
              <a:rPr sz="1000" b="0" i="0">
                <a:solidFill>
                  <a:srgbClr val="D946EF"/>
                </a:solidFill>
                <a:latin typeface="Calibri"/>
              </a:rPr>
              <a:t>Matching Method</a:t>
            </a:r>
          </a:p>
        </p:txBody>
      </p:sp>
      <p:sp>
        <p:nvSpPr>
          <p:cNvPr id="18" name="Rectangle 17"/>
          <p:cNvSpPr/>
          <p:nvPr/>
        </p:nvSpPr>
        <p:spPr>
          <a:xfrm>
            <a:off x="3108960" y="2286000"/>
            <a:ext cx="36576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2359152"/>
            <a:ext cx="3474720" cy="320040"/>
          </a:xfrm>
          <a:prstGeom prst="rect">
            <a:avLst/>
          </a:prstGeom>
          <a:noFill/>
        </p:spPr>
        <p:txBody>
          <a:bodyPr wrap="square">
            <a:spAutoFit/>
          </a:bodyPr>
          <a:lstStyle/>
          <a:p>
            <a:pPr algn="l"/>
            <a:r>
              <a:rPr sz="1000" b="0" i="0">
                <a:solidFill>
                  <a:srgbClr val="475669"/>
                </a:solidFill>
                <a:latin typeface="Calibri"/>
              </a:rPr>
              <a:t>Fuzzy string only</a:t>
            </a:r>
          </a:p>
        </p:txBody>
      </p:sp>
      <p:sp>
        <p:nvSpPr>
          <p:cNvPr id="20" name="Rectangle 19"/>
          <p:cNvSpPr/>
          <p:nvPr/>
        </p:nvSpPr>
        <p:spPr>
          <a:xfrm>
            <a:off x="6766560" y="2286000"/>
            <a:ext cx="438912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2359152"/>
            <a:ext cx="4206240" cy="320040"/>
          </a:xfrm>
          <a:prstGeom prst="rect">
            <a:avLst/>
          </a:prstGeom>
          <a:noFill/>
        </p:spPr>
        <p:txBody>
          <a:bodyPr wrap="square">
            <a:spAutoFit/>
          </a:bodyPr>
          <a:lstStyle/>
          <a:p>
            <a:pPr algn="l"/>
            <a:r>
              <a:rPr sz="1000" b="1" i="0">
                <a:solidFill>
                  <a:srgbClr val="10B981"/>
                </a:solidFill>
                <a:latin typeface="Calibri"/>
              </a:rPr>
              <a:t>4-stage AI pipeline</a:t>
            </a:r>
          </a:p>
        </p:txBody>
      </p:sp>
      <p:sp>
        <p:nvSpPr>
          <p:cNvPr id="22" name="Rectangle 21"/>
          <p:cNvSpPr/>
          <p:nvPr/>
        </p:nvSpPr>
        <p:spPr>
          <a:xfrm>
            <a:off x="365760" y="2743200"/>
            <a:ext cx="27432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816352"/>
            <a:ext cx="2560320" cy="320040"/>
          </a:xfrm>
          <a:prstGeom prst="rect">
            <a:avLst/>
          </a:prstGeom>
          <a:noFill/>
        </p:spPr>
        <p:txBody>
          <a:bodyPr wrap="square">
            <a:spAutoFit/>
          </a:bodyPr>
          <a:lstStyle/>
          <a:p>
            <a:pPr algn="l"/>
            <a:r>
              <a:rPr sz="1000" b="0" i="0">
                <a:solidFill>
                  <a:srgbClr val="D946EF"/>
                </a:solidFill>
                <a:latin typeface="Calibri"/>
              </a:rPr>
              <a:t>Normalization</a:t>
            </a:r>
          </a:p>
        </p:txBody>
      </p:sp>
      <p:sp>
        <p:nvSpPr>
          <p:cNvPr id="24" name="Rectangle 23"/>
          <p:cNvSpPr/>
          <p:nvPr/>
        </p:nvSpPr>
        <p:spPr>
          <a:xfrm>
            <a:off x="3108960" y="2743200"/>
            <a:ext cx="36576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0" y="2816352"/>
            <a:ext cx="3474720" cy="320040"/>
          </a:xfrm>
          <a:prstGeom prst="rect">
            <a:avLst/>
          </a:prstGeom>
          <a:noFill/>
        </p:spPr>
        <p:txBody>
          <a:bodyPr wrap="square">
            <a:spAutoFit/>
          </a:bodyPr>
          <a:lstStyle/>
          <a:p>
            <a:pPr algn="l"/>
            <a:r>
              <a:rPr sz="1000" b="0" i="0">
                <a:solidFill>
                  <a:srgbClr val="475669"/>
                </a:solidFill>
                <a:latin typeface="Calibri"/>
              </a:rPr>
              <a:t>Basic lowercase / trim</a:t>
            </a:r>
          </a:p>
        </p:txBody>
      </p:sp>
      <p:sp>
        <p:nvSpPr>
          <p:cNvPr id="26" name="Rectangle 25"/>
          <p:cNvSpPr/>
          <p:nvPr/>
        </p:nvSpPr>
        <p:spPr>
          <a:xfrm>
            <a:off x="6766560" y="2743200"/>
            <a:ext cx="438912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2816352"/>
            <a:ext cx="4206240" cy="320040"/>
          </a:xfrm>
          <a:prstGeom prst="rect">
            <a:avLst/>
          </a:prstGeom>
          <a:noFill/>
        </p:spPr>
        <p:txBody>
          <a:bodyPr wrap="square">
            <a:spAutoFit/>
          </a:bodyPr>
          <a:lstStyle/>
          <a:p>
            <a:pPr algn="l"/>
            <a:r>
              <a:rPr sz="1000" b="1" i="0">
                <a:solidFill>
                  <a:srgbClr val="10B981"/>
                </a:solidFill>
                <a:latin typeface="Calibri"/>
              </a:rPr>
              <a:t>100+ Indian industrial terms</a:t>
            </a:r>
          </a:p>
        </p:txBody>
      </p:sp>
      <p:sp>
        <p:nvSpPr>
          <p:cNvPr id="28" name="Rectangle 27"/>
          <p:cNvSpPr/>
          <p:nvPr/>
        </p:nvSpPr>
        <p:spPr>
          <a:xfrm>
            <a:off x="365760" y="3200400"/>
            <a:ext cx="27432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273552"/>
            <a:ext cx="2560320" cy="320040"/>
          </a:xfrm>
          <a:prstGeom prst="rect">
            <a:avLst/>
          </a:prstGeom>
          <a:noFill/>
        </p:spPr>
        <p:txBody>
          <a:bodyPr wrap="square">
            <a:spAutoFit/>
          </a:bodyPr>
          <a:lstStyle/>
          <a:p>
            <a:pPr algn="l"/>
            <a:r>
              <a:rPr sz="1000" b="0" i="0">
                <a:solidFill>
                  <a:srgbClr val="D946EF"/>
                </a:solidFill>
                <a:latin typeface="Calibri"/>
              </a:rPr>
              <a:t>Code Generation</a:t>
            </a:r>
          </a:p>
        </p:txBody>
      </p:sp>
      <p:sp>
        <p:nvSpPr>
          <p:cNvPr id="30" name="Rectangle 29"/>
          <p:cNvSpPr/>
          <p:nvPr/>
        </p:nvSpPr>
        <p:spPr>
          <a:xfrm>
            <a:off x="3108960" y="3200400"/>
            <a:ext cx="36576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3273552"/>
            <a:ext cx="3474720" cy="320040"/>
          </a:xfrm>
          <a:prstGeom prst="rect">
            <a:avLst/>
          </a:prstGeom>
          <a:noFill/>
        </p:spPr>
        <p:txBody>
          <a:bodyPr wrap="square">
            <a:spAutoFit/>
          </a:bodyPr>
          <a:lstStyle/>
          <a:p>
            <a:pPr algn="l"/>
            <a:r>
              <a:rPr sz="1000" b="0" i="0">
                <a:solidFill>
                  <a:srgbClr val="475669"/>
                </a:solidFill>
                <a:latin typeface="Calibri"/>
              </a:rPr>
              <a:t>Random / UUID</a:t>
            </a:r>
          </a:p>
        </p:txBody>
      </p:sp>
      <p:sp>
        <p:nvSpPr>
          <p:cNvPr id="32" name="Rectangle 31"/>
          <p:cNvSpPr/>
          <p:nvPr/>
        </p:nvSpPr>
        <p:spPr>
          <a:xfrm>
            <a:off x="6766560" y="3200400"/>
            <a:ext cx="438912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3273552"/>
            <a:ext cx="4206240" cy="320040"/>
          </a:xfrm>
          <a:prstGeom prst="rect">
            <a:avLst/>
          </a:prstGeom>
          <a:noFill/>
        </p:spPr>
        <p:txBody>
          <a:bodyPr wrap="square">
            <a:spAutoFit/>
          </a:bodyPr>
          <a:lstStyle/>
          <a:p>
            <a:pPr algn="l"/>
            <a:r>
              <a:rPr sz="1000" b="1" i="0">
                <a:solidFill>
                  <a:srgbClr val="10B981"/>
                </a:solidFill>
                <a:latin typeface="Calibri"/>
              </a:rPr>
              <a:t>Semantic hash + segment prefix</a:t>
            </a:r>
          </a:p>
        </p:txBody>
      </p:sp>
      <p:sp>
        <p:nvSpPr>
          <p:cNvPr id="34" name="Rectangle 33"/>
          <p:cNvSpPr/>
          <p:nvPr/>
        </p:nvSpPr>
        <p:spPr>
          <a:xfrm>
            <a:off x="365760" y="3657600"/>
            <a:ext cx="27432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730752"/>
            <a:ext cx="2560320" cy="320040"/>
          </a:xfrm>
          <a:prstGeom prst="rect">
            <a:avLst/>
          </a:prstGeom>
          <a:noFill/>
        </p:spPr>
        <p:txBody>
          <a:bodyPr wrap="square">
            <a:spAutoFit/>
          </a:bodyPr>
          <a:lstStyle/>
          <a:p>
            <a:pPr algn="l"/>
            <a:r>
              <a:rPr sz="1000" b="0" i="0">
                <a:solidFill>
                  <a:srgbClr val="D946EF"/>
                </a:solidFill>
                <a:latin typeface="Calibri"/>
              </a:rPr>
              <a:t>Cross-CPSE Matching</a:t>
            </a:r>
          </a:p>
        </p:txBody>
      </p:sp>
      <p:sp>
        <p:nvSpPr>
          <p:cNvPr id="36" name="Rectangle 35"/>
          <p:cNvSpPr/>
          <p:nvPr/>
        </p:nvSpPr>
        <p:spPr>
          <a:xfrm>
            <a:off x="3108960" y="3657600"/>
            <a:ext cx="36576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0" y="3730752"/>
            <a:ext cx="3474720" cy="320040"/>
          </a:xfrm>
          <a:prstGeom prst="rect">
            <a:avLst/>
          </a:prstGeom>
          <a:noFill/>
        </p:spPr>
        <p:txBody>
          <a:bodyPr wrap="square">
            <a:spAutoFit/>
          </a:bodyPr>
          <a:lstStyle/>
          <a:p>
            <a:pPr algn="l"/>
            <a:r>
              <a:rPr sz="1000" b="0" i="0">
                <a:solidFill>
                  <a:srgbClr val="475669"/>
                </a:solidFill>
                <a:latin typeface="Calibri"/>
              </a:rPr>
              <a:t>No inter-org matching</a:t>
            </a:r>
          </a:p>
        </p:txBody>
      </p:sp>
      <p:sp>
        <p:nvSpPr>
          <p:cNvPr id="38" name="Rectangle 37"/>
          <p:cNvSpPr/>
          <p:nvPr/>
        </p:nvSpPr>
        <p:spPr>
          <a:xfrm>
            <a:off x="6766560" y="3657600"/>
            <a:ext cx="438912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3730752"/>
            <a:ext cx="4206240" cy="320040"/>
          </a:xfrm>
          <a:prstGeom prst="rect">
            <a:avLst/>
          </a:prstGeom>
          <a:noFill/>
        </p:spPr>
        <p:txBody>
          <a:bodyPr wrap="square">
            <a:spAutoFit/>
          </a:bodyPr>
          <a:lstStyle/>
          <a:p>
            <a:pPr algn="l"/>
            <a:r>
              <a:rPr sz="1000" b="1" i="0">
                <a:solidFill>
                  <a:srgbClr val="10B981"/>
                </a:solidFill>
                <a:latin typeface="Calibri"/>
              </a:rPr>
              <a:t>Full multi-org matching</a:t>
            </a:r>
          </a:p>
        </p:txBody>
      </p:sp>
      <p:sp>
        <p:nvSpPr>
          <p:cNvPr id="40" name="Rectangle 39"/>
          <p:cNvSpPr/>
          <p:nvPr/>
        </p:nvSpPr>
        <p:spPr>
          <a:xfrm>
            <a:off x="365760" y="4114800"/>
            <a:ext cx="27432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187952"/>
            <a:ext cx="2560320" cy="320040"/>
          </a:xfrm>
          <a:prstGeom prst="rect">
            <a:avLst/>
          </a:prstGeom>
          <a:noFill/>
        </p:spPr>
        <p:txBody>
          <a:bodyPr wrap="square">
            <a:spAutoFit/>
          </a:bodyPr>
          <a:lstStyle/>
          <a:p>
            <a:pPr algn="l"/>
            <a:r>
              <a:rPr sz="1000" b="0" i="0">
                <a:solidFill>
                  <a:srgbClr val="D946EF"/>
                </a:solidFill>
                <a:latin typeface="Calibri"/>
              </a:rPr>
              <a:t>Re-ranking</a:t>
            </a:r>
          </a:p>
        </p:txBody>
      </p:sp>
      <p:sp>
        <p:nvSpPr>
          <p:cNvPr id="42" name="Rectangle 41"/>
          <p:cNvSpPr/>
          <p:nvPr/>
        </p:nvSpPr>
        <p:spPr>
          <a:xfrm>
            <a:off x="3108960" y="4114800"/>
            <a:ext cx="36576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0" y="4187952"/>
            <a:ext cx="3474720" cy="320040"/>
          </a:xfrm>
          <a:prstGeom prst="rect">
            <a:avLst/>
          </a:prstGeom>
          <a:noFill/>
        </p:spPr>
        <p:txBody>
          <a:bodyPr wrap="square">
            <a:spAutoFit/>
          </a:bodyPr>
          <a:lstStyle/>
          <a:p>
            <a:pPr algn="l"/>
            <a:r>
              <a:rPr sz="1000" b="0" i="0">
                <a:solidFill>
                  <a:srgbClr val="475669"/>
                </a:solidFill>
                <a:latin typeface="Calibri"/>
              </a:rPr>
              <a:t>None</a:t>
            </a:r>
          </a:p>
        </p:txBody>
      </p:sp>
      <p:sp>
        <p:nvSpPr>
          <p:cNvPr id="44" name="Rectangle 43"/>
          <p:cNvSpPr/>
          <p:nvPr/>
        </p:nvSpPr>
        <p:spPr>
          <a:xfrm>
            <a:off x="6766560" y="4114800"/>
            <a:ext cx="438912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0" y="4187952"/>
            <a:ext cx="4206240" cy="320040"/>
          </a:xfrm>
          <a:prstGeom prst="rect">
            <a:avLst/>
          </a:prstGeom>
          <a:noFill/>
        </p:spPr>
        <p:txBody>
          <a:bodyPr wrap="square">
            <a:spAutoFit/>
          </a:bodyPr>
          <a:lstStyle/>
          <a:p>
            <a:pPr algn="l"/>
            <a:r>
              <a:rPr sz="1000" b="1" i="0">
                <a:solidFill>
                  <a:srgbClr val="10B981"/>
                </a:solidFill>
                <a:latin typeface="Calibri"/>
              </a:rPr>
              <a:t>Cross-encoder precision scoring</a:t>
            </a:r>
          </a:p>
        </p:txBody>
      </p:sp>
      <p:sp>
        <p:nvSpPr>
          <p:cNvPr id="46" name="Rectangle 45"/>
          <p:cNvSpPr/>
          <p:nvPr/>
        </p:nvSpPr>
        <p:spPr>
          <a:xfrm>
            <a:off x="365760" y="4572000"/>
            <a:ext cx="27432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645152"/>
            <a:ext cx="2560320" cy="320040"/>
          </a:xfrm>
          <a:prstGeom prst="rect">
            <a:avLst/>
          </a:prstGeom>
          <a:noFill/>
        </p:spPr>
        <p:txBody>
          <a:bodyPr wrap="square">
            <a:spAutoFit/>
          </a:bodyPr>
          <a:lstStyle/>
          <a:p>
            <a:pPr algn="l"/>
            <a:r>
              <a:rPr sz="1000" b="0" i="0">
                <a:solidFill>
                  <a:srgbClr val="D946EF"/>
                </a:solidFill>
                <a:latin typeface="Calibri"/>
              </a:rPr>
              <a:t>Tech Dependencies</a:t>
            </a:r>
          </a:p>
        </p:txBody>
      </p:sp>
      <p:sp>
        <p:nvSpPr>
          <p:cNvPr id="48" name="Rectangle 47"/>
          <p:cNvSpPr/>
          <p:nvPr/>
        </p:nvSpPr>
        <p:spPr>
          <a:xfrm>
            <a:off x="3108960" y="4572000"/>
            <a:ext cx="36576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0" y="4645152"/>
            <a:ext cx="3474720" cy="320040"/>
          </a:xfrm>
          <a:prstGeom prst="rect">
            <a:avLst/>
          </a:prstGeom>
          <a:noFill/>
        </p:spPr>
        <p:txBody>
          <a:bodyPr wrap="square">
            <a:spAutoFit/>
          </a:bodyPr>
          <a:lstStyle/>
          <a:p>
            <a:pPr algn="l"/>
            <a:r>
              <a:rPr sz="1000" b="0" i="0">
                <a:solidFill>
                  <a:srgbClr val="475669"/>
                </a:solidFill>
                <a:latin typeface="Calibri"/>
              </a:rPr>
              <a:t>Proprietary AI APIs</a:t>
            </a:r>
          </a:p>
        </p:txBody>
      </p:sp>
      <p:sp>
        <p:nvSpPr>
          <p:cNvPr id="50" name="Rectangle 49"/>
          <p:cNvSpPr/>
          <p:nvPr/>
        </p:nvSpPr>
        <p:spPr>
          <a:xfrm>
            <a:off x="6766560" y="4572000"/>
            <a:ext cx="438912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0" y="4645152"/>
            <a:ext cx="4206240" cy="320040"/>
          </a:xfrm>
          <a:prstGeom prst="rect">
            <a:avLst/>
          </a:prstGeom>
          <a:noFill/>
        </p:spPr>
        <p:txBody>
          <a:bodyPr wrap="square">
            <a:spAutoFit/>
          </a:bodyPr>
          <a:lstStyle/>
          <a:p>
            <a:pPr algn="l"/>
            <a:r>
              <a:rPr sz="1000" b="1" i="0">
                <a:solidFill>
                  <a:srgbClr val="10B981"/>
                </a:solidFill>
                <a:latin typeface="Calibri"/>
              </a:rPr>
              <a:t>100% open-source libraries</a:t>
            </a:r>
          </a:p>
        </p:txBody>
      </p:sp>
      <p:sp>
        <p:nvSpPr>
          <p:cNvPr id="52" name="Rectangle 51"/>
          <p:cNvSpPr/>
          <p:nvPr/>
        </p:nvSpPr>
        <p:spPr>
          <a:xfrm>
            <a:off x="365760" y="5029200"/>
            <a:ext cx="27432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5102352"/>
            <a:ext cx="2560320" cy="320040"/>
          </a:xfrm>
          <a:prstGeom prst="rect">
            <a:avLst/>
          </a:prstGeom>
          <a:noFill/>
        </p:spPr>
        <p:txBody>
          <a:bodyPr wrap="square">
            <a:spAutoFit/>
          </a:bodyPr>
          <a:lstStyle/>
          <a:p>
            <a:pPr algn="l"/>
            <a:r>
              <a:rPr sz="1000" b="0" i="0">
                <a:solidFill>
                  <a:srgbClr val="D946EF"/>
                </a:solidFill>
                <a:latin typeface="Calibri"/>
              </a:rPr>
              <a:t>Language Support</a:t>
            </a:r>
          </a:p>
        </p:txBody>
      </p:sp>
      <p:sp>
        <p:nvSpPr>
          <p:cNvPr id="54" name="Rectangle 53"/>
          <p:cNvSpPr/>
          <p:nvPr/>
        </p:nvSpPr>
        <p:spPr>
          <a:xfrm>
            <a:off x="3108960" y="5029200"/>
            <a:ext cx="365760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0" y="5102352"/>
            <a:ext cx="3474720" cy="320040"/>
          </a:xfrm>
          <a:prstGeom prst="rect">
            <a:avLst/>
          </a:prstGeom>
          <a:noFill/>
        </p:spPr>
        <p:txBody>
          <a:bodyPr wrap="square">
            <a:spAutoFit/>
          </a:bodyPr>
          <a:lstStyle/>
          <a:p>
            <a:pPr algn="l"/>
            <a:r>
              <a:rPr sz="1000" b="0" i="0">
                <a:solidFill>
                  <a:srgbClr val="475669"/>
                </a:solidFill>
                <a:latin typeface="Calibri"/>
              </a:rPr>
              <a:t>English only</a:t>
            </a:r>
          </a:p>
        </p:txBody>
      </p:sp>
      <p:sp>
        <p:nvSpPr>
          <p:cNvPr id="56" name="Rectangle 55"/>
          <p:cNvSpPr/>
          <p:nvPr/>
        </p:nvSpPr>
        <p:spPr>
          <a:xfrm>
            <a:off x="6766560" y="5029200"/>
            <a:ext cx="4389120" cy="438912"/>
          </a:xfrm>
          <a:prstGeom prst="rect">
            <a:avLst/>
          </a:prstGeom>
          <a:solidFill>
            <a:srgbClr val="141C29"/>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58000" y="5102352"/>
            <a:ext cx="4206240" cy="320040"/>
          </a:xfrm>
          <a:prstGeom prst="rect">
            <a:avLst/>
          </a:prstGeom>
          <a:noFill/>
        </p:spPr>
        <p:txBody>
          <a:bodyPr wrap="square">
            <a:spAutoFit/>
          </a:bodyPr>
          <a:lstStyle/>
          <a:p>
            <a:pPr algn="l"/>
            <a:r>
              <a:rPr sz="1000" b="1" i="0">
                <a:solidFill>
                  <a:srgbClr val="10B981"/>
                </a:solidFill>
                <a:latin typeface="Calibri"/>
              </a:rPr>
              <a:t>Hindi/Tamil/Telugu ready</a:t>
            </a:r>
          </a:p>
        </p:txBody>
      </p:sp>
      <p:sp>
        <p:nvSpPr>
          <p:cNvPr id="58" name="Rectangle 57"/>
          <p:cNvSpPr/>
          <p:nvPr/>
        </p:nvSpPr>
        <p:spPr>
          <a:xfrm>
            <a:off x="365760" y="5486400"/>
            <a:ext cx="27432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5559552"/>
            <a:ext cx="2560320" cy="320040"/>
          </a:xfrm>
          <a:prstGeom prst="rect">
            <a:avLst/>
          </a:prstGeom>
          <a:noFill/>
        </p:spPr>
        <p:txBody>
          <a:bodyPr wrap="square">
            <a:spAutoFit/>
          </a:bodyPr>
          <a:lstStyle/>
          <a:p>
            <a:pPr algn="l"/>
            <a:r>
              <a:rPr sz="1000" b="0" i="0">
                <a:solidFill>
                  <a:srgbClr val="D946EF"/>
                </a:solidFill>
                <a:latin typeface="Calibri"/>
              </a:rPr>
              <a:t>Governance</a:t>
            </a:r>
          </a:p>
        </p:txBody>
      </p:sp>
      <p:sp>
        <p:nvSpPr>
          <p:cNvPr id="60" name="Rectangle 59"/>
          <p:cNvSpPr/>
          <p:nvPr/>
        </p:nvSpPr>
        <p:spPr>
          <a:xfrm>
            <a:off x="3108960" y="5486400"/>
            <a:ext cx="365760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00400" y="5559552"/>
            <a:ext cx="3474720" cy="320040"/>
          </a:xfrm>
          <a:prstGeom prst="rect">
            <a:avLst/>
          </a:prstGeom>
          <a:noFill/>
        </p:spPr>
        <p:txBody>
          <a:bodyPr wrap="square">
            <a:spAutoFit/>
          </a:bodyPr>
          <a:lstStyle/>
          <a:p>
            <a:pPr algn="l"/>
            <a:r>
              <a:rPr sz="1000" b="0" i="0">
                <a:solidFill>
                  <a:srgbClr val="475669"/>
                </a:solidFill>
                <a:latin typeface="Calibri"/>
              </a:rPr>
              <a:t>Basic logging</a:t>
            </a:r>
          </a:p>
        </p:txBody>
      </p:sp>
      <p:sp>
        <p:nvSpPr>
          <p:cNvPr id="62" name="Rectangle 61"/>
          <p:cNvSpPr/>
          <p:nvPr/>
        </p:nvSpPr>
        <p:spPr>
          <a:xfrm>
            <a:off x="6766560" y="5486400"/>
            <a:ext cx="4389120" cy="438912"/>
          </a:xfrm>
          <a:prstGeom prst="rect">
            <a:avLst/>
          </a:prstGeom>
          <a:solidFill>
            <a:srgbClr val="182232"/>
          </a:solidFill>
          <a:ln w="6350">
            <a:solidFill>
              <a:srgbClr val="2D3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0" y="5559552"/>
            <a:ext cx="4206240" cy="320040"/>
          </a:xfrm>
          <a:prstGeom prst="rect">
            <a:avLst/>
          </a:prstGeom>
          <a:noFill/>
        </p:spPr>
        <p:txBody>
          <a:bodyPr wrap="square">
            <a:spAutoFit/>
          </a:bodyPr>
          <a:lstStyle/>
          <a:p>
            <a:pPr algn="l"/>
            <a:r>
              <a:rPr sz="1000" b="1" i="0">
                <a:solidFill>
                  <a:srgbClr val="10B981"/>
                </a:solidFill>
                <a:latin typeface="Calibri"/>
              </a:rPr>
              <a:t>Full audit trail + versioning</a:t>
            </a:r>
          </a:p>
        </p:txBody>
      </p:sp>
      <p:sp>
        <p:nvSpPr>
          <p:cNvPr id="64" name="TextBox 63"/>
          <p:cNvSpPr txBox="1"/>
          <p:nvPr/>
        </p:nvSpPr>
        <p:spPr>
          <a:xfrm>
            <a:off x="365760" y="6126480"/>
            <a:ext cx="4572000" cy="274320"/>
          </a:xfrm>
          <a:prstGeom prst="rect">
            <a:avLst/>
          </a:prstGeom>
          <a:noFill/>
        </p:spPr>
        <p:txBody>
          <a:bodyPr wrap="square">
            <a:spAutoFit/>
          </a:bodyPr>
          <a:lstStyle/>
          <a:p>
            <a:pPr algn="l"/>
            <a:r>
              <a:rPr sz="1200" b="1" i="0">
                <a:solidFill>
                  <a:srgbClr val="D946EF"/>
                </a:solidFill>
                <a:latin typeface="Calibri"/>
              </a:rPr>
              <a:t>✦  Novel Contributions:</a:t>
            </a:r>
          </a:p>
        </p:txBody>
      </p:sp>
      <p:sp>
        <p:nvSpPr>
          <p:cNvPr id="65" name="TextBox 64"/>
          <p:cNvSpPr txBox="1"/>
          <p:nvPr/>
        </p:nvSpPr>
        <p:spPr>
          <a:xfrm>
            <a:off x="365760" y="6400800"/>
            <a:ext cx="2743200" cy="320040"/>
          </a:xfrm>
          <a:prstGeom prst="rect">
            <a:avLst/>
          </a:prstGeom>
          <a:noFill/>
        </p:spPr>
        <p:txBody>
          <a:bodyPr wrap="square">
            <a:spAutoFit/>
          </a:bodyPr>
          <a:lstStyle/>
          <a:p>
            <a:pPr algn="l"/>
            <a:r>
              <a:rPr sz="900" b="0" i="0">
                <a:solidFill>
                  <a:srgbClr val="94A3B8"/>
                </a:solidFill>
                <a:latin typeface="Calibri"/>
              </a:rPr>
              <a:t>▸  First Indian-industrial normalizer for material master data</a:t>
            </a:r>
          </a:p>
        </p:txBody>
      </p:sp>
      <p:sp>
        <p:nvSpPr>
          <p:cNvPr id="66" name="TextBox 65"/>
          <p:cNvSpPr txBox="1"/>
          <p:nvPr/>
        </p:nvSpPr>
        <p:spPr>
          <a:xfrm>
            <a:off x="3246120" y="6400800"/>
            <a:ext cx="2743200" cy="320040"/>
          </a:xfrm>
          <a:prstGeom prst="rect">
            <a:avLst/>
          </a:prstGeom>
          <a:noFill/>
        </p:spPr>
        <p:txBody>
          <a:bodyPr wrap="square">
            <a:spAutoFit/>
          </a:bodyPr>
          <a:lstStyle/>
          <a:p>
            <a:pPr algn="l"/>
            <a:r>
              <a:rPr sz="900" b="0" i="0">
                <a:solidFill>
                  <a:srgbClr val="94A3B8"/>
                </a:solidFill>
                <a:latin typeface="Calibri"/>
              </a:rPr>
              <a:t>▸  Hybrid bi-encoder + cross-encoder pipeline for speed + accuracy</a:t>
            </a:r>
          </a:p>
        </p:txBody>
      </p:sp>
      <p:sp>
        <p:nvSpPr>
          <p:cNvPr id="67" name="TextBox 66"/>
          <p:cNvSpPr txBox="1"/>
          <p:nvPr/>
        </p:nvSpPr>
        <p:spPr>
          <a:xfrm>
            <a:off x="6126480" y="6400800"/>
            <a:ext cx="2743200" cy="320040"/>
          </a:xfrm>
          <a:prstGeom prst="rect">
            <a:avLst/>
          </a:prstGeom>
          <a:noFill/>
        </p:spPr>
        <p:txBody>
          <a:bodyPr wrap="square">
            <a:spAutoFit/>
          </a:bodyPr>
          <a:lstStyle/>
          <a:p>
            <a:pPr algn="l"/>
            <a:r>
              <a:rPr sz="900" b="0" i="0">
                <a:solidFill>
                  <a:srgbClr val="94A3B8"/>
                </a:solidFill>
                <a:latin typeface="Calibri"/>
              </a:rPr>
              <a:t>▸  Stable semantic hashing for CNMC code generation</a:t>
            </a:r>
          </a:p>
        </p:txBody>
      </p:sp>
      <p:sp>
        <p:nvSpPr>
          <p:cNvPr id="68" name="TextBox 67"/>
          <p:cNvSpPr txBox="1"/>
          <p:nvPr/>
        </p:nvSpPr>
        <p:spPr>
          <a:xfrm>
            <a:off x="9006840" y="6400800"/>
            <a:ext cx="2743200" cy="320040"/>
          </a:xfrm>
          <a:prstGeom prst="rect">
            <a:avLst/>
          </a:prstGeom>
          <a:noFill/>
        </p:spPr>
        <p:txBody>
          <a:bodyPr wrap="square">
            <a:spAutoFit/>
          </a:bodyPr>
          <a:lstStyle/>
          <a:p>
            <a:pPr algn="l"/>
            <a:r>
              <a:rPr sz="900" b="0" i="0">
                <a:solidFill>
                  <a:srgbClr val="94A3B8"/>
                </a:solidFill>
                <a:latin typeface="Calibri"/>
              </a:rPr>
              <a:t>▸  Complete governance + audit trail for regulatory compliance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Technical Architecture</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System Architecture</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2560320" cy="182880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828800"/>
            <a:ext cx="256032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874520"/>
            <a:ext cx="2340864" cy="274320"/>
          </a:xfrm>
          <a:prstGeom prst="rect">
            <a:avLst/>
          </a:prstGeom>
          <a:noFill/>
        </p:spPr>
        <p:txBody>
          <a:bodyPr wrap="square">
            <a:spAutoFit/>
          </a:bodyPr>
          <a:lstStyle/>
          <a:p>
            <a:pPr algn="l"/>
            <a:r>
              <a:rPr sz="1200" b="1" i="0">
                <a:solidFill>
                  <a:srgbClr val="0F172A"/>
                </a:solidFill>
                <a:latin typeface="Calibri"/>
              </a:rPr>
              <a:t>Frontend</a:t>
            </a:r>
          </a:p>
        </p:txBody>
      </p:sp>
      <p:sp>
        <p:nvSpPr>
          <p:cNvPr id="13" name="TextBox 12"/>
          <p:cNvSpPr txBox="1"/>
          <p:nvPr/>
        </p:nvSpPr>
        <p:spPr>
          <a:xfrm>
            <a:off x="475488" y="2267712"/>
            <a:ext cx="2340864" cy="1325880"/>
          </a:xfrm>
          <a:prstGeom prst="rect">
            <a:avLst/>
          </a:prstGeom>
          <a:noFill/>
        </p:spPr>
        <p:txBody>
          <a:bodyPr wrap="square">
            <a:spAutoFit/>
          </a:bodyPr>
          <a:lstStyle/>
          <a:p>
            <a:pPr algn="l"/>
            <a:r>
              <a:rPr sz="1000" b="0" i="0">
                <a:solidFill>
                  <a:srgbClr val="FFFFFF"/>
                </a:solidFill>
                <a:latin typeface="Calibri"/>
              </a:rPr>
              <a:t>React 18 + TS
Tailwind CSS
Zustand + Recharts</a:t>
            </a:r>
          </a:p>
        </p:txBody>
      </p:sp>
      <p:sp>
        <p:nvSpPr>
          <p:cNvPr id="14" name="Rectangle 13"/>
          <p:cNvSpPr/>
          <p:nvPr/>
        </p:nvSpPr>
        <p:spPr>
          <a:xfrm>
            <a:off x="3200400" y="1828800"/>
            <a:ext cx="2560320" cy="182880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1828800"/>
            <a:ext cx="2560320" cy="34747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1874520"/>
            <a:ext cx="2340864" cy="274320"/>
          </a:xfrm>
          <a:prstGeom prst="rect">
            <a:avLst/>
          </a:prstGeom>
          <a:noFill/>
        </p:spPr>
        <p:txBody>
          <a:bodyPr wrap="square">
            <a:spAutoFit/>
          </a:bodyPr>
          <a:lstStyle/>
          <a:p>
            <a:pPr algn="l"/>
            <a:r>
              <a:rPr sz="1200" b="1" i="0">
                <a:solidFill>
                  <a:srgbClr val="0F172A"/>
                </a:solidFill>
                <a:latin typeface="Calibri"/>
              </a:rPr>
              <a:t>Backend API</a:t>
            </a:r>
          </a:p>
        </p:txBody>
      </p:sp>
      <p:sp>
        <p:nvSpPr>
          <p:cNvPr id="17" name="TextBox 16"/>
          <p:cNvSpPr txBox="1"/>
          <p:nvPr/>
        </p:nvSpPr>
        <p:spPr>
          <a:xfrm>
            <a:off x="3310128" y="2267712"/>
            <a:ext cx="2340864" cy="1325880"/>
          </a:xfrm>
          <a:prstGeom prst="rect">
            <a:avLst/>
          </a:prstGeom>
          <a:noFill/>
        </p:spPr>
        <p:txBody>
          <a:bodyPr wrap="square">
            <a:spAutoFit/>
          </a:bodyPr>
          <a:lstStyle/>
          <a:p>
            <a:pPr algn="l"/>
            <a:r>
              <a:rPr sz="1000" b="0" i="0">
                <a:solidFill>
                  <a:srgbClr val="FFFFFF"/>
                </a:solidFill>
                <a:latin typeface="Calibri"/>
              </a:rPr>
              <a:t>FastAPI (async)
20+ REST endpoints
JWT Auth</a:t>
            </a:r>
          </a:p>
        </p:txBody>
      </p:sp>
      <p:sp>
        <p:nvSpPr>
          <p:cNvPr id="18" name="Rectangle 17"/>
          <p:cNvSpPr/>
          <p:nvPr/>
        </p:nvSpPr>
        <p:spPr>
          <a:xfrm>
            <a:off x="6035040" y="1828800"/>
            <a:ext cx="2560320" cy="182880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0" y="1828800"/>
            <a:ext cx="2560320"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1874520"/>
            <a:ext cx="2340864" cy="274320"/>
          </a:xfrm>
          <a:prstGeom prst="rect">
            <a:avLst/>
          </a:prstGeom>
          <a:noFill/>
        </p:spPr>
        <p:txBody>
          <a:bodyPr wrap="square">
            <a:spAutoFit/>
          </a:bodyPr>
          <a:lstStyle/>
          <a:p>
            <a:pPr algn="l"/>
            <a:r>
              <a:rPr sz="1200" b="1" i="0">
                <a:solidFill>
                  <a:srgbClr val="0F172A"/>
                </a:solidFill>
                <a:latin typeface="Calibri"/>
              </a:rPr>
              <a:t>AI Engine</a:t>
            </a:r>
          </a:p>
        </p:txBody>
      </p:sp>
      <p:sp>
        <p:nvSpPr>
          <p:cNvPr id="21" name="TextBox 20"/>
          <p:cNvSpPr txBox="1"/>
          <p:nvPr/>
        </p:nvSpPr>
        <p:spPr>
          <a:xfrm>
            <a:off x="6144768" y="2267712"/>
            <a:ext cx="2340864" cy="1325880"/>
          </a:xfrm>
          <a:prstGeom prst="rect">
            <a:avLst/>
          </a:prstGeom>
          <a:noFill/>
        </p:spPr>
        <p:txBody>
          <a:bodyPr wrap="square">
            <a:spAutoFit/>
          </a:bodyPr>
          <a:lstStyle/>
          <a:p>
            <a:pPr algn="l"/>
            <a:r>
              <a:rPr sz="1000" b="0" i="0">
                <a:solidFill>
                  <a:srgbClr val="FFFFFF"/>
                </a:solidFill>
                <a:latin typeface="Calibri"/>
              </a:rPr>
              <a:t>sentence-transformers
RapidFuzz
Cross-Encoder</a:t>
            </a:r>
          </a:p>
        </p:txBody>
      </p:sp>
      <p:sp>
        <p:nvSpPr>
          <p:cNvPr id="22" name="Rectangle 21"/>
          <p:cNvSpPr/>
          <p:nvPr/>
        </p:nvSpPr>
        <p:spPr>
          <a:xfrm>
            <a:off x="8869680" y="1828800"/>
            <a:ext cx="2651760" cy="182880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1828800"/>
            <a:ext cx="265176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79408" y="1874520"/>
            <a:ext cx="2432304" cy="274320"/>
          </a:xfrm>
          <a:prstGeom prst="rect">
            <a:avLst/>
          </a:prstGeom>
          <a:noFill/>
        </p:spPr>
        <p:txBody>
          <a:bodyPr wrap="square">
            <a:spAutoFit/>
          </a:bodyPr>
          <a:lstStyle/>
          <a:p>
            <a:pPr algn="l"/>
            <a:r>
              <a:rPr sz="1200" b="1" i="0">
                <a:solidFill>
                  <a:srgbClr val="0F172A"/>
                </a:solidFill>
                <a:latin typeface="Calibri"/>
              </a:rPr>
              <a:t>Database</a:t>
            </a:r>
          </a:p>
        </p:txBody>
      </p:sp>
      <p:sp>
        <p:nvSpPr>
          <p:cNvPr id="25" name="TextBox 24"/>
          <p:cNvSpPr txBox="1"/>
          <p:nvPr/>
        </p:nvSpPr>
        <p:spPr>
          <a:xfrm>
            <a:off x="8979408" y="2267712"/>
            <a:ext cx="2432304" cy="1325880"/>
          </a:xfrm>
          <a:prstGeom prst="rect">
            <a:avLst/>
          </a:prstGeom>
          <a:noFill/>
        </p:spPr>
        <p:txBody>
          <a:bodyPr wrap="square">
            <a:spAutoFit/>
          </a:bodyPr>
          <a:lstStyle/>
          <a:p>
            <a:pPr algn="l"/>
            <a:r>
              <a:rPr sz="1000" b="0" i="0">
                <a:solidFill>
                  <a:srgbClr val="FFFFFF"/>
                </a:solidFill>
                <a:latin typeface="Calibri"/>
              </a:rPr>
              <a:t>SQLAlchemy 2.0
SQLite / PostgreSQL
Alembic migrations</a:t>
            </a:r>
          </a:p>
        </p:txBody>
      </p:sp>
      <p:sp>
        <p:nvSpPr>
          <p:cNvPr id="26" name="Rectangle 25"/>
          <p:cNvSpPr/>
          <p:nvPr/>
        </p:nvSpPr>
        <p:spPr>
          <a:xfrm>
            <a:off x="4572000" y="4114800"/>
            <a:ext cx="3200400" cy="1280160"/>
          </a:xfrm>
          <a:prstGeom prst="rect">
            <a:avLst/>
          </a:prstGeom>
          <a:solidFill>
            <a:srgbClr val="1E3A5F"/>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114800"/>
            <a:ext cx="3200400" cy="34747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1728" y="4160520"/>
            <a:ext cx="2980944" cy="274320"/>
          </a:xfrm>
          <a:prstGeom prst="rect">
            <a:avLst/>
          </a:prstGeom>
          <a:noFill/>
        </p:spPr>
        <p:txBody>
          <a:bodyPr wrap="square">
            <a:spAutoFit/>
          </a:bodyPr>
          <a:lstStyle/>
          <a:p>
            <a:pPr algn="l"/>
            <a:r>
              <a:rPr sz="1200" b="1" i="0">
                <a:solidFill>
                  <a:srgbClr val="0F172A"/>
                </a:solidFill>
                <a:latin typeface="Calibri"/>
              </a:rPr>
              <a:t>Docker</a:t>
            </a:r>
          </a:p>
        </p:txBody>
      </p:sp>
      <p:sp>
        <p:nvSpPr>
          <p:cNvPr id="29" name="TextBox 28"/>
          <p:cNvSpPr txBox="1"/>
          <p:nvPr/>
        </p:nvSpPr>
        <p:spPr>
          <a:xfrm>
            <a:off x="4681728" y="4553712"/>
            <a:ext cx="2980944" cy="777240"/>
          </a:xfrm>
          <a:prstGeom prst="rect">
            <a:avLst/>
          </a:prstGeom>
          <a:noFill/>
        </p:spPr>
        <p:txBody>
          <a:bodyPr wrap="square">
            <a:spAutoFit/>
          </a:bodyPr>
          <a:lstStyle/>
          <a:p>
            <a:pPr algn="l"/>
            <a:r>
              <a:rPr sz="1000" b="0" i="0">
                <a:solidFill>
                  <a:srgbClr val="FFFFFF"/>
                </a:solidFill>
                <a:latin typeface="Calibri"/>
              </a:rPr>
              <a:t>docker-compose up
Nginx reverse proxy
Full stack deploy</a:t>
            </a:r>
          </a:p>
        </p:txBody>
      </p:sp>
      <p:sp>
        <p:nvSpPr>
          <p:cNvPr id="30" name="TextBox 29"/>
          <p:cNvSpPr txBox="1"/>
          <p:nvPr/>
        </p:nvSpPr>
        <p:spPr>
          <a:xfrm>
            <a:off x="2926080" y="2651760"/>
            <a:ext cx="274320" cy="365760"/>
          </a:xfrm>
          <a:prstGeom prst="rect">
            <a:avLst/>
          </a:prstGeom>
          <a:noFill/>
        </p:spPr>
        <p:txBody>
          <a:bodyPr wrap="square">
            <a:spAutoFit/>
          </a:bodyPr>
          <a:lstStyle/>
          <a:p>
            <a:pPr algn="ctr"/>
            <a:r>
              <a:rPr sz="2000" b="0" i="0">
                <a:solidFill>
                  <a:srgbClr val="475669"/>
                </a:solidFill>
                <a:latin typeface="Calibri"/>
              </a:rPr>
              <a:t>→</a:t>
            </a:r>
          </a:p>
        </p:txBody>
      </p:sp>
      <p:sp>
        <p:nvSpPr>
          <p:cNvPr id="31" name="TextBox 30"/>
          <p:cNvSpPr txBox="1"/>
          <p:nvPr/>
        </p:nvSpPr>
        <p:spPr>
          <a:xfrm>
            <a:off x="5760720" y="2651760"/>
            <a:ext cx="274320" cy="365760"/>
          </a:xfrm>
          <a:prstGeom prst="rect">
            <a:avLst/>
          </a:prstGeom>
          <a:noFill/>
        </p:spPr>
        <p:txBody>
          <a:bodyPr wrap="square">
            <a:spAutoFit/>
          </a:bodyPr>
          <a:lstStyle/>
          <a:p>
            <a:pPr algn="ctr"/>
            <a:r>
              <a:rPr sz="2000" b="0" i="0">
                <a:solidFill>
                  <a:srgbClr val="475669"/>
                </a:solidFill>
                <a:latin typeface="Calibri"/>
              </a:rPr>
              <a:t>→</a:t>
            </a:r>
          </a:p>
        </p:txBody>
      </p:sp>
      <p:sp>
        <p:nvSpPr>
          <p:cNvPr id="32" name="TextBox 31"/>
          <p:cNvSpPr txBox="1"/>
          <p:nvPr/>
        </p:nvSpPr>
        <p:spPr>
          <a:xfrm>
            <a:off x="8595360" y="2651760"/>
            <a:ext cx="274320" cy="365760"/>
          </a:xfrm>
          <a:prstGeom prst="rect">
            <a:avLst/>
          </a:prstGeom>
          <a:noFill/>
        </p:spPr>
        <p:txBody>
          <a:bodyPr wrap="square">
            <a:spAutoFit/>
          </a:bodyPr>
          <a:lstStyle/>
          <a:p>
            <a:pPr algn="ctr"/>
            <a:r>
              <a:rPr sz="2000" b="0" i="0">
                <a:solidFill>
                  <a:srgbClr val="475669"/>
                </a:solidFill>
                <a:latin typeface="Calibri"/>
              </a:rPr>
              <a:t>→</a:t>
            </a:r>
          </a:p>
        </p:txBody>
      </p:sp>
      <p:sp>
        <p:nvSpPr>
          <p:cNvPr id="33" name="Rectangle 32"/>
          <p:cNvSpPr/>
          <p:nvPr/>
        </p:nvSpPr>
        <p:spPr>
          <a:xfrm>
            <a:off x="365760" y="5943600"/>
            <a:ext cx="1828800" cy="36576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5971032"/>
            <a:ext cx="1691640" cy="274320"/>
          </a:xfrm>
          <a:prstGeom prst="rect">
            <a:avLst/>
          </a:prstGeom>
          <a:noFill/>
        </p:spPr>
        <p:txBody>
          <a:bodyPr wrap="square">
            <a:spAutoFit/>
          </a:bodyPr>
          <a:lstStyle/>
          <a:p>
            <a:pPr algn="ctr"/>
            <a:r>
              <a:rPr sz="900" b="0" i="0">
                <a:solidFill>
                  <a:srgbClr val="94A3B8"/>
                </a:solidFill>
                <a:latin typeface="Calibri"/>
              </a:rPr>
              <a:t>Auth</a:t>
            </a:r>
          </a:p>
        </p:txBody>
      </p:sp>
      <p:sp>
        <p:nvSpPr>
          <p:cNvPr id="35" name="Rectangle 34"/>
          <p:cNvSpPr/>
          <p:nvPr/>
        </p:nvSpPr>
        <p:spPr>
          <a:xfrm>
            <a:off x="2331720" y="5943600"/>
            <a:ext cx="1828800" cy="36576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04872" y="5971032"/>
            <a:ext cx="1691640" cy="274320"/>
          </a:xfrm>
          <a:prstGeom prst="rect">
            <a:avLst/>
          </a:prstGeom>
          <a:noFill/>
        </p:spPr>
        <p:txBody>
          <a:bodyPr wrap="square">
            <a:spAutoFit/>
          </a:bodyPr>
          <a:lstStyle/>
          <a:p>
            <a:pPr algn="ctr"/>
            <a:r>
              <a:rPr sz="900" b="0" i="0">
                <a:solidFill>
                  <a:srgbClr val="94A3B8"/>
                </a:solidFill>
                <a:latin typeface="Calibri"/>
              </a:rPr>
              <a:t>Materials</a:t>
            </a:r>
          </a:p>
        </p:txBody>
      </p:sp>
      <p:sp>
        <p:nvSpPr>
          <p:cNvPr id="37" name="Rectangle 36"/>
          <p:cNvSpPr/>
          <p:nvPr/>
        </p:nvSpPr>
        <p:spPr>
          <a:xfrm>
            <a:off x="4297680" y="5943600"/>
            <a:ext cx="1828800" cy="36576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70832" y="5971032"/>
            <a:ext cx="1691640" cy="274320"/>
          </a:xfrm>
          <a:prstGeom prst="rect">
            <a:avLst/>
          </a:prstGeom>
          <a:noFill/>
        </p:spPr>
        <p:txBody>
          <a:bodyPr wrap="square">
            <a:spAutoFit/>
          </a:bodyPr>
          <a:lstStyle/>
          <a:p>
            <a:pPr algn="ctr"/>
            <a:r>
              <a:rPr sz="900" b="0" i="0">
                <a:solidFill>
                  <a:srgbClr val="94A3B8"/>
                </a:solidFill>
                <a:latin typeface="Calibri"/>
              </a:rPr>
              <a:t>Matching</a:t>
            </a:r>
          </a:p>
        </p:txBody>
      </p:sp>
      <p:sp>
        <p:nvSpPr>
          <p:cNvPr id="39" name="Rectangle 38"/>
          <p:cNvSpPr/>
          <p:nvPr/>
        </p:nvSpPr>
        <p:spPr>
          <a:xfrm>
            <a:off x="6263640" y="5943600"/>
            <a:ext cx="1828800" cy="36576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36792" y="5971032"/>
            <a:ext cx="1691640" cy="274320"/>
          </a:xfrm>
          <a:prstGeom prst="rect">
            <a:avLst/>
          </a:prstGeom>
          <a:noFill/>
        </p:spPr>
        <p:txBody>
          <a:bodyPr wrap="square">
            <a:spAutoFit/>
          </a:bodyPr>
          <a:lstStyle/>
          <a:p>
            <a:pPr algn="ctr"/>
            <a:r>
              <a:rPr sz="900" b="0" i="0">
                <a:solidFill>
                  <a:srgbClr val="94A3B8"/>
                </a:solidFill>
                <a:latin typeface="Calibri"/>
              </a:rPr>
              <a:t>CNMC Mapping</a:t>
            </a:r>
          </a:p>
        </p:txBody>
      </p:sp>
      <p:sp>
        <p:nvSpPr>
          <p:cNvPr id="41" name="Rectangle 40"/>
          <p:cNvSpPr/>
          <p:nvPr/>
        </p:nvSpPr>
        <p:spPr>
          <a:xfrm>
            <a:off x="8229600" y="5943600"/>
            <a:ext cx="1828800" cy="36576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02752" y="5971032"/>
            <a:ext cx="1691640" cy="274320"/>
          </a:xfrm>
          <a:prstGeom prst="rect">
            <a:avLst/>
          </a:prstGeom>
          <a:noFill/>
        </p:spPr>
        <p:txBody>
          <a:bodyPr wrap="square">
            <a:spAutoFit/>
          </a:bodyPr>
          <a:lstStyle/>
          <a:p>
            <a:pPr algn="ctr"/>
            <a:r>
              <a:rPr sz="900" b="0" i="0">
                <a:solidFill>
                  <a:srgbClr val="94A3B8"/>
                </a:solidFill>
                <a:latin typeface="Calibri"/>
              </a:rPr>
              <a:t>Analytics</a:t>
            </a:r>
          </a:p>
        </p:txBody>
      </p:sp>
      <p:sp>
        <p:nvSpPr>
          <p:cNvPr id="43" name="Rectangle 42"/>
          <p:cNvSpPr/>
          <p:nvPr/>
        </p:nvSpPr>
        <p:spPr>
          <a:xfrm>
            <a:off x="10195560" y="5943600"/>
            <a:ext cx="1828800" cy="36576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68712" y="5971032"/>
            <a:ext cx="1691640" cy="274320"/>
          </a:xfrm>
          <a:prstGeom prst="rect">
            <a:avLst/>
          </a:prstGeom>
          <a:noFill/>
        </p:spPr>
        <p:txBody>
          <a:bodyPr wrap="square">
            <a:spAutoFit/>
          </a:bodyPr>
          <a:lstStyle/>
          <a:p>
            <a:pPr algn="ctr"/>
            <a:r>
              <a:rPr sz="900" b="0" i="0">
                <a:solidFill>
                  <a:srgbClr val="94A3B8"/>
                </a:solidFill>
                <a:latin typeface="Calibri"/>
              </a:rPr>
              <a:t>Admin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Scalability &amp; Deployment</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Built to Scale</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2286000" cy="365760"/>
          </a:xfrm>
          <a:prstGeom prst="rect">
            <a:avLst/>
          </a:prstGeom>
          <a:solidFill>
            <a:srgbClr val="1E3A5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56231"/>
            <a:ext cx="2103120" cy="320040"/>
          </a:xfrm>
          <a:prstGeom prst="rect">
            <a:avLst/>
          </a:prstGeom>
          <a:noFill/>
        </p:spPr>
        <p:txBody>
          <a:bodyPr wrap="square">
            <a:spAutoFit/>
          </a:bodyPr>
          <a:lstStyle/>
          <a:p>
            <a:pPr algn="ctr"/>
            <a:r>
              <a:rPr sz="1200" b="1" i="0">
                <a:solidFill>
                  <a:srgbClr val="FFFFFF"/>
                </a:solidFill>
                <a:latin typeface="Calibri"/>
              </a:rPr>
              <a:t>Stage</a:t>
            </a:r>
          </a:p>
        </p:txBody>
      </p:sp>
      <p:sp>
        <p:nvSpPr>
          <p:cNvPr id="12" name="Rectangle 11"/>
          <p:cNvSpPr/>
          <p:nvPr/>
        </p:nvSpPr>
        <p:spPr>
          <a:xfrm>
            <a:off x="2651760" y="1828800"/>
            <a:ext cx="3200400" cy="365760"/>
          </a:xfrm>
          <a:prstGeom prst="rect">
            <a:avLst/>
          </a:prstGeom>
          <a:solidFill>
            <a:srgbClr val="1E3A5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1856231"/>
            <a:ext cx="3017520" cy="320040"/>
          </a:xfrm>
          <a:prstGeom prst="rect">
            <a:avLst/>
          </a:prstGeom>
          <a:noFill/>
        </p:spPr>
        <p:txBody>
          <a:bodyPr wrap="square">
            <a:spAutoFit/>
          </a:bodyPr>
          <a:lstStyle/>
          <a:p>
            <a:pPr algn="ctr"/>
            <a:r>
              <a:rPr sz="1200" b="1" i="0">
                <a:solidFill>
                  <a:srgbClr val="FFFFFF"/>
                </a:solidFill>
                <a:latin typeface="Calibri"/>
              </a:rPr>
              <a:t>Architecture</a:t>
            </a:r>
          </a:p>
        </p:txBody>
      </p:sp>
      <p:sp>
        <p:nvSpPr>
          <p:cNvPr id="14" name="Rectangle 13"/>
          <p:cNvSpPr/>
          <p:nvPr/>
        </p:nvSpPr>
        <p:spPr>
          <a:xfrm>
            <a:off x="5852160" y="1828800"/>
            <a:ext cx="2743200" cy="365760"/>
          </a:xfrm>
          <a:prstGeom prst="rect">
            <a:avLst/>
          </a:prstGeom>
          <a:solidFill>
            <a:srgbClr val="1E3A5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856231"/>
            <a:ext cx="2560320" cy="320040"/>
          </a:xfrm>
          <a:prstGeom prst="rect">
            <a:avLst/>
          </a:prstGeom>
          <a:noFill/>
        </p:spPr>
        <p:txBody>
          <a:bodyPr wrap="square">
            <a:spAutoFit/>
          </a:bodyPr>
          <a:lstStyle/>
          <a:p>
            <a:pPr algn="ctr"/>
            <a:r>
              <a:rPr sz="1200" b="1" i="0">
                <a:solidFill>
                  <a:srgbClr val="FFFFFF"/>
                </a:solidFill>
                <a:latin typeface="Calibri"/>
              </a:rPr>
              <a:t>Database</a:t>
            </a:r>
          </a:p>
        </p:txBody>
      </p:sp>
      <p:sp>
        <p:nvSpPr>
          <p:cNvPr id="16" name="Rectangle 15"/>
          <p:cNvSpPr/>
          <p:nvPr/>
        </p:nvSpPr>
        <p:spPr>
          <a:xfrm>
            <a:off x="8595360" y="1828800"/>
            <a:ext cx="2743200" cy="365760"/>
          </a:xfrm>
          <a:prstGeom prst="rect">
            <a:avLst/>
          </a:prstGeom>
          <a:solidFill>
            <a:srgbClr val="1E3A5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1856231"/>
            <a:ext cx="2560320" cy="320040"/>
          </a:xfrm>
          <a:prstGeom prst="rect">
            <a:avLst/>
          </a:prstGeom>
          <a:noFill/>
        </p:spPr>
        <p:txBody>
          <a:bodyPr wrap="square">
            <a:spAutoFit/>
          </a:bodyPr>
          <a:lstStyle/>
          <a:p>
            <a:pPr algn="ctr"/>
            <a:r>
              <a:rPr sz="1200" b="1" i="0">
                <a:solidFill>
                  <a:srgbClr val="FFFFFF"/>
                </a:solidFill>
                <a:latin typeface="Calibri"/>
              </a:rPr>
              <a:t>ML Models</a:t>
            </a:r>
          </a:p>
        </p:txBody>
      </p:sp>
      <p:sp>
        <p:nvSpPr>
          <p:cNvPr id="18" name="Rectangle 17"/>
          <p:cNvSpPr/>
          <p:nvPr/>
        </p:nvSpPr>
        <p:spPr>
          <a:xfrm>
            <a:off x="365760" y="2240280"/>
            <a:ext cx="10972800" cy="640080"/>
          </a:xfrm>
          <a:prstGeom prst="rect">
            <a:avLst/>
          </a:prstGeom>
          <a:solidFill>
            <a:srgbClr val="141C29"/>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350008"/>
            <a:ext cx="2103120" cy="411480"/>
          </a:xfrm>
          <a:prstGeom prst="rect">
            <a:avLst/>
          </a:prstGeom>
          <a:noFill/>
        </p:spPr>
        <p:txBody>
          <a:bodyPr wrap="square">
            <a:spAutoFit/>
          </a:bodyPr>
          <a:lstStyle/>
          <a:p>
            <a:pPr algn="l"/>
            <a:r>
              <a:rPr sz="1100" b="1" i="0">
                <a:solidFill>
                  <a:srgbClr val="3B82F6"/>
                </a:solidFill>
                <a:latin typeface="Calibri"/>
              </a:rPr>
              <a:t>Development</a:t>
            </a:r>
          </a:p>
        </p:txBody>
      </p:sp>
      <p:sp>
        <p:nvSpPr>
          <p:cNvPr id="20" name="TextBox 19"/>
          <p:cNvSpPr txBox="1"/>
          <p:nvPr/>
        </p:nvSpPr>
        <p:spPr>
          <a:xfrm>
            <a:off x="2697480" y="2350008"/>
            <a:ext cx="3017520" cy="411480"/>
          </a:xfrm>
          <a:prstGeom prst="rect">
            <a:avLst/>
          </a:prstGeom>
          <a:noFill/>
        </p:spPr>
        <p:txBody>
          <a:bodyPr wrap="square">
            <a:spAutoFit/>
          </a:bodyPr>
          <a:lstStyle/>
          <a:p>
            <a:pPr algn="l"/>
            <a:r>
              <a:rPr sz="1100" b="0" i="0">
                <a:solidFill>
                  <a:srgbClr val="FFFFFF"/>
                </a:solidFill>
                <a:latin typeface="Calibri"/>
              </a:rPr>
              <a:t>Single Docker</a:t>
            </a:r>
          </a:p>
        </p:txBody>
      </p:sp>
      <p:sp>
        <p:nvSpPr>
          <p:cNvPr id="21" name="TextBox 20"/>
          <p:cNvSpPr txBox="1"/>
          <p:nvPr/>
        </p:nvSpPr>
        <p:spPr>
          <a:xfrm>
            <a:off x="5760720" y="2350008"/>
            <a:ext cx="2560320" cy="411480"/>
          </a:xfrm>
          <a:prstGeom prst="rect">
            <a:avLst/>
          </a:prstGeom>
          <a:noFill/>
        </p:spPr>
        <p:txBody>
          <a:bodyPr wrap="square">
            <a:spAutoFit/>
          </a:bodyPr>
          <a:lstStyle/>
          <a:p>
            <a:pPr algn="l"/>
            <a:r>
              <a:rPr sz="1100" b="0" i="0">
                <a:solidFill>
                  <a:srgbClr val="FFFFFF"/>
                </a:solidFill>
                <a:latin typeface="Calibri"/>
              </a:rPr>
              <a:t>SQLite</a:t>
            </a:r>
          </a:p>
        </p:txBody>
      </p:sp>
      <p:sp>
        <p:nvSpPr>
          <p:cNvPr id="22" name="TextBox 21"/>
          <p:cNvSpPr txBox="1"/>
          <p:nvPr/>
        </p:nvSpPr>
        <p:spPr>
          <a:xfrm>
            <a:off x="8366760" y="2350008"/>
            <a:ext cx="2834640" cy="411480"/>
          </a:xfrm>
          <a:prstGeom prst="rect">
            <a:avLst/>
          </a:prstGeom>
          <a:noFill/>
        </p:spPr>
        <p:txBody>
          <a:bodyPr wrap="square">
            <a:spAutoFit/>
          </a:bodyPr>
          <a:lstStyle/>
          <a:p>
            <a:pPr algn="l"/>
            <a:r>
              <a:rPr sz="1100" b="0" i="0">
                <a:solidFill>
                  <a:srgbClr val="FFFFFF"/>
                </a:solidFill>
                <a:latin typeface="Calibri"/>
              </a:rPr>
              <a:t>CPU</a:t>
            </a:r>
          </a:p>
        </p:txBody>
      </p:sp>
      <p:sp>
        <p:nvSpPr>
          <p:cNvPr id="23" name="Rectangle 22"/>
          <p:cNvSpPr/>
          <p:nvPr/>
        </p:nvSpPr>
        <p:spPr>
          <a:xfrm>
            <a:off x="365760" y="2926080"/>
            <a:ext cx="10972800" cy="640080"/>
          </a:xfrm>
          <a:prstGeom prst="rect">
            <a:avLst/>
          </a:prstGeom>
          <a:solidFill>
            <a:srgbClr val="141C29"/>
          </a:solidFill>
          <a:ln w="1016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035808"/>
            <a:ext cx="2103120" cy="411480"/>
          </a:xfrm>
          <a:prstGeom prst="rect">
            <a:avLst/>
          </a:prstGeom>
          <a:noFill/>
        </p:spPr>
        <p:txBody>
          <a:bodyPr wrap="square">
            <a:spAutoFit/>
          </a:bodyPr>
          <a:lstStyle/>
          <a:p>
            <a:pPr algn="l"/>
            <a:r>
              <a:rPr sz="1100" b="1" i="0">
                <a:solidFill>
                  <a:srgbClr val="D946EF"/>
                </a:solidFill>
                <a:latin typeface="Calibri"/>
              </a:rPr>
              <a:t>Staging</a:t>
            </a:r>
          </a:p>
        </p:txBody>
      </p:sp>
      <p:sp>
        <p:nvSpPr>
          <p:cNvPr id="25" name="TextBox 24"/>
          <p:cNvSpPr txBox="1"/>
          <p:nvPr/>
        </p:nvSpPr>
        <p:spPr>
          <a:xfrm>
            <a:off x="2697480" y="3035808"/>
            <a:ext cx="3017520" cy="411480"/>
          </a:xfrm>
          <a:prstGeom prst="rect">
            <a:avLst/>
          </a:prstGeom>
          <a:noFill/>
        </p:spPr>
        <p:txBody>
          <a:bodyPr wrap="square">
            <a:spAutoFit/>
          </a:bodyPr>
          <a:lstStyle/>
          <a:p>
            <a:pPr algn="l"/>
            <a:r>
              <a:rPr sz="1100" b="0" i="0">
                <a:solidFill>
                  <a:srgbClr val="FFFFFF"/>
                </a:solidFill>
                <a:latin typeface="Calibri"/>
              </a:rPr>
              <a:t>Docker Compose</a:t>
            </a:r>
          </a:p>
        </p:txBody>
      </p:sp>
      <p:sp>
        <p:nvSpPr>
          <p:cNvPr id="26" name="TextBox 25"/>
          <p:cNvSpPr txBox="1"/>
          <p:nvPr/>
        </p:nvSpPr>
        <p:spPr>
          <a:xfrm>
            <a:off x="5760720" y="3035808"/>
            <a:ext cx="2560320" cy="411480"/>
          </a:xfrm>
          <a:prstGeom prst="rect">
            <a:avLst/>
          </a:prstGeom>
          <a:noFill/>
        </p:spPr>
        <p:txBody>
          <a:bodyPr wrap="square">
            <a:spAutoFit/>
          </a:bodyPr>
          <a:lstStyle/>
          <a:p>
            <a:pPr algn="l"/>
            <a:r>
              <a:rPr sz="1100" b="0" i="0">
                <a:solidFill>
                  <a:srgbClr val="FFFFFF"/>
                </a:solidFill>
                <a:latin typeface="Calibri"/>
              </a:rPr>
              <a:t>PostgreSQL</a:t>
            </a:r>
          </a:p>
        </p:txBody>
      </p:sp>
      <p:sp>
        <p:nvSpPr>
          <p:cNvPr id="27" name="TextBox 26"/>
          <p:cNvSpPr txBox="1"/>
          <p:nvPr/>
        </p:nvSpPr>
        <p:spPr>
          <a:xfrm>
            <a:off x="8366760" y="3035808"/>
            <a:ext cx="2834640" cy="411480"/>
          </a:xfrm>
          <a:prstGeom prst="rect">
            <a:avLst/>
          </a:prstGeom>
          <a:noFill/>
        </p:spPr>
        <p:txBody>
          <a:bodyPr wrap="square">
            <a:spAutoFit/>
          </a:bodyPr>
          <a:lstStyle/>
          <a:p>
            <a:pPr algn="l"/>
            <a:r>
              <a:rPr sz="1100" b="0" i="0">
                <a:solidFill>
                  <a:srgbClr val="FFFFFF"/>
                </a:solidFill>
                <a:latin typeface="Calibri"/>
              </a:rPr>
              <a:t>GPU (optional)</a:t>
            </a:r>
          </a:p>
        </p:txBody>
      </p:sp>
      <p:sp>
        <p:nvSpPr>
          <p:cNvPr id="28" name="Rectangle 27"/>
          <p:cNvSpPr/>
          <p:nvPr/>
        </p:nvSpPr>
        <p:spPr>
          <a:xfrm>
            <a:off x="365760" y="3611880"/>
            <a:ext cx="10972800" cy="640080"/>
          </a:xfrm>
          <a:prstGeom prst="rect">
            <a:avLst/>
          </a:prstGeom>
          <a:solidFill>
            <a:srgbClr val="141C29"/>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721608"/>
            <a:ext cx="2103120" cy="411480"/>
          </a:xfrm>
          <a:prstGeom prst="rect">
            <a:avLst/>
          </a:prstGeom>
          <a:noFill/>
        </p:spPr>
        <p:txBody>
          <a:bodyPr wrap="square">
            <a:spAutoFit/>
          </a:bodyPr>
          <a:lstStyle/>
          <a:p>
            <a:pPr algn="l"/>
            <a:r>
              <a:rPr sz="1100" b="1" i="0">
                <a:solidFill>
                  <a:srgbClr val="10B981"/>
                </a:solidFill>
                <a:latin typeface="Calibri"/>
              </a:rPr>
              <a:t>Production</a:t>
            </a:r>
          </a:p>
        </p:txBody>
      </p:sp>
      <p:sp>
        <p:nvSpPr>
          <p:cNvPr id="30" name="TextBox 29"/>
          <p:cNvSpPr txBox="1"/>
          <p:nvPr/>
        </p:nvSpPr>
        <p:spPr>
          <a:xfrm>
            <a:off x="2697480" y="3721608"/>
            <a:ext cx="3017520" cy="411480"/>
          </a:xfrm>
          <a:prstGeom prst="rect">
            <a:avLst/>
          </a:prstGeom>
          <a:noFill/>
        </p:spPr>
        <p:txBody>
          <a:bodyPr wrap="square">
            <a:spAutoFit/>
          </a:bodyPr>
          <a:lstStyle/>
          <a:p>
            <a:pPr algn="l"/>
            <a:r>
              <a:rPr sz="1100" b="0" i="0">
                <a:solidFill>
                  <a:srgbClr val="FFFFFF"/>
                </a:solidFill>
                <a:latin typeface="Calibri"/>
              </a:rPr>
              <a:t>Docker + Nginx + K8s</a:t>
            </a:r>
          </a:p>
        </p:txBody>
      </p:sp>
      <p:sp>
        <p:nvSpPr>
          <p:cNvPr id="31" name="TextBox 30"/>
          <p:cNvSpPr txBox="1"/>
          <p:nvPr/>
        </p:nvSpPr>
        <p:spPr>
          <a:xfrm>
            <a:off x="5760720" y="3721608"/>
            <a:ext cx="2560320" cy="411480"/>
          </a:xfrm>
          <a:prstGeom prst="rect">
            <a:avLst/>
          </a:prstGeom>
          <a:noFill/>
        </p:spPr>
        <p:txBody>
          <a:bodyPr wrap="square">
            <a:spAutoFit/>
          </a:bodyPr>
          <a:lstStyle/>
          <a:p>
            <a:pPr algn="l"/>
            <a:r>
              <a:rPr sz="1100" b="0" i="0">
                <a:solidFill>
                  <a:srgbClr val="FFFFFF"/>
                </a:solidFill>
                <a:latin typeface="Calibri"/>
              </a:rPr>
              <a:t>PostgreSQL RDS</a:t>
            </a:r>
          </a:p>
        </p:txBody>
      </p:sp>
      <p:sp>
        <p:nvSpPr>
          <p:cNvPr id="32" name="TextBox 31"/>
          <p:cNvSpPr txBox="1"/>
          <p:nvPr/>
        </p:nvSpPr>
        <p:spPr>
          <a:xfrm>
            <a:off x="8366760" y="3721608"/>
            <a:ext cx="2834640" cy="411480"/>
          </a:xfrm>
          <a:prstGeom prst="rect">
            <a:avLst/>
          </a:prstGeom>
          <a:noFill/>
        </p:spPr>
        <p:txBody>
          <a:bodyPr wrap="square">
            <a:spAutoFit/>
          </a:bodyPr>
          <a:lstStyle/>
          <a:p>
            <a:pPr algn="l"/>
            <a:r>
              <a:rPr sz="1100" b="0" i="0">
                <a:solidFill>
                  <a:srgbClr val="FFFFFF"/>
                </a:solidFill>
                <a:latin typeface="Calibri"/>
              </a:rPr>
              <a:t>GPU cluster</a:t>
            </a:r>
          </a:p>
        </p:txBody>
      </p:sp>
      <p:sp>
        <p:nvSpPr>
          <p:cNvPr id="33" name="Rectangle 32"/>
          <p:cNvSpPr/>
          <p:nvPr/>
        </p:nvSpPr>
        <p:spPr>
          <a:xfrm>
            <a:off x="365760" y="4160520"/>
            <a:ext cx="278892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 y="4251960"/>
            <a:ext cx="2560320" cy="320040"/>
          </a:xfrm>
          <a:prstGeom prst="rect">
            <a:avLst/>
          </a:prstGeom>
          <a:noFill/>
        </p:spPr>
        <p:txBody>
          <a:bodyPr wrap="square">
            <a:spAutoFit/>
          </a:bodyPr>
          <a:lstStyle/>
          <a:p>
            <a:pPr algn="l"/>
            <a:r>
              <a:rPr sz="1200" b="1" i="0">
                <a:solidFill>
                  <a:srgbClr val="10B981"/>
                </a:solidFill>
                <a:latin typeface="Calibri"/>
              </a:rPr>
              <a:t>⚡  Frontend</a:t>
            </a:r>
          </a:p>
        </p:txBody>
      </p:sp>
      <p:sp>
        <p:nvSpPr>
          <p:cNvPr id="35" name="TextBox 34"/>
          <p:cNvSpPr txBox="1"/>
          <p:nvPr/>
        </p:nvSpPr>
        <p:spPr>
          <a:xfrm>
            <a:off x="475488" y="4617720"/>
            <a:ext cx="2560320" cy="731520"/>
          </a:xfrm>
          <a:prstGeom prst="rect">
            <a:avLst/>
          </a:prstGeom>
          <a:noFill/>
        </p:spPr>
        <p:txBody>
          <a:bodyPr wrap="square">
            <a:spAutoFit/>
          </a:bodyPr>
          <a:lstStyle/>
          <a:p>
            <a:pPr algn="l"/>
            <a:r>
              <a:rPr sz="1000" b="0" i="0">
                <a:solidFill>
                  <a:srgbClr val="94A3B8"/>
                </a:solidFill>
                <a:latin typeface="Calibri"/>
              </a:rPr>
              <a:t>CDN + Nginx cache → sub-second TTFB</a:t>
            </a:r>
          </a:p>
        </p:txBody>
      </p:sp>
      <p:sp>
        <p:nvSpPr>
          <p:cNvPr id="36" name="Rectangle 35"/>
          <p:cNvSpPr/>
          <p:nvPr/>
        </p:nvSpPr>
        <p:spPr>
          <a:xfrm>
            <a:off x="3291840" y="4160520"/>
            <a:ext cx="278892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01568" y="4251960"/>
            <a:ext cx="2560320" cy="320040"/>
          </a:xfrm>
          <a:prstGeom prst="rect">
            <a:avLst/>
          </a:prstGeom>
          <a:noFill/>
        </p:spPr>
        <p:txBody>
          <a:bodyPr wrap="square">
            <a:spAutoFit/>
          </a:bodyPr>
          <a:lstStyle/>
          <a:p>
            <a:pPr algn="l"/>
            <a:r>
              <a:rPr sz="1200" b="1" i="0">
                <a:solidFill>
                  <a:srgbClr val="10B981"/>
                </a:solidFill>
                <a:latin typeface="Calibri"/>
              </a:rPr>
              <a:t>⚡  Backend</a:t>
            </a:r>
          </a:p>
        </p:txBody>
      </p:sp>
      <p:sp>
        <p:nvSpPr>
          <p:cNvPr id="38" name="TextBox 37"/>
          <p:cNvSpPr txBox="1"/>
          <p:nvPr/>
        </p:nvSpPr>
        <p:spPr>
          <a:xfrm>
            <a:off x="3401568" y="4617720"/>
            <a:ext cx="2560320" cy="731520"/>
          </a:xfrm>
          <a:prstGeom prst="rect">
            <a:avLst/>
          </a:prstGeom>
          <a:noFill/>
        </p:spPr>
        <p:txBody>
          <a:bodyPr wrap="square">
            <a:spAutoFit/>
          </a:bodyPr>
          <a:lstStyle/>
          <a:p>
            <a:pPr algn="l"/>
            <a:r>
              <a:rPr sz="1000" b="0" i="0">
                <a:solidFill>
                  <a:srgbClr val="94A3B8"/>
                </a:solidFill>
                <a:latin typeface="Calibri"/>
              </a:rPr>
              <a:t>Uvicorn workers (4+), load balanced</a:t>
            </a:r>
          </a:p>
        </p:txBody>
      </p:sp>
      <p:sp>
        <p:nvSpPr>
          <p:cNvPr id="39" name="Rectangle 38"/>
          <p:cNvSpPr/>
          <p:nvPr/>
        </p:nvSpPr>
        <p:spPr>
          <a:xfrm>
            <a:off x="6217920" y="4160520"/>
            <a:ext cx="278892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27648" y="4251960"/>
            <a:ext cx="2560320" cy="320040"/>
          </a:xfrm>
          <a:prstGeom prst="rect">
            <a:avLst/>
          </a:prstGeom>
          <a:noFill/>
        </p:spPr>
        <p:txBody>
          <a:bodyPr wrap="square">
            <a:spAutoFit/>
          </a:bodyPr>
          <a:lstStyle/>
          <a:p>
            <a:pPr algn="l"/>
            <a:r>
              <a:rPr sz="1200" b="1" i="0">
                <a:solidFill>
                  <a:srgbClr val="10B981"/>
                </a:solidFill>
                <a:latin typeface="Calibri"/>
              </a:rPr>
              <a:t>⚡  AI Engine</a:t>
            </a:r>
          </a:p>
        </p:txBody>
      </p:sp>
      <p:sp>
        <p:nvSpPr>
          <p:cNvPr id="41" name="TextBox 40"/>
          <p:cNvSpPr txBox="1"/>
          <p:nvPr/>
        </p:nvSpPr>
        <p:spPr>
          <a:xfrm>
            <a:off x="6327648" y="4617720"/>
            <a:ext cx="2560320" cy="731520"/>
          </a:xfrm>
          <a:prstGeom prst="rect">
            <a:avLst/>
          </a:prstGeom>
          <a:noFill/>
        </p:spPr>
        <p:txBody>
          <a:bodyPr wrap="square">
            <a:spAutoFit/>
          </a:bodyPr>
          <a:lstStyle/>
          <a:p>
            <a:pPr algn="l"/>
            <a:r>
              <a:rPr sz="1000" b="0" i="0">
                <a:solidFill>
                  <a:srgbClr val="94A3B8"/>
                </a:solidFill>
                <a:latin typeface="Calibri"/>
              </a:rPr>
              <a:t>Bi-encoder pre-computes embeddings once, O(1) lookup</a:t>
            </a:r>
          </a:p>
        </p:txBody>
      </p:sp>
      <p:sp>
        <p:nvSpPr>
          <p:cNvPr id="42" name="Rectangle 41"/>
          <p:cNvSpPr/>
          <p:nvPr/>
        </p:nvSpPr>
        <p:spPr>
          <a:xfrm>
            <a:off x="9144000" y="4160520"/>
            <a:ext cx="2788920" cy="13716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53728" y="4251960"/>
            <a:ext cx="2560320" cy="320040"/>
          </a:xfrm>
          <a:prstGeom prst="rect">
            <a:avLst/>
          </a:prstGeom>
          <a:noFill/>
        </p:spPr>
        <p:txBody>
          <a:bodyPr wrap="square">
            <a:spAutoFit/>
          </a:bodyPr>
          <a:lstStyle/>
          <a:p>
            <a:pPr algn="l"/>
            <a:r>
              <a:rPr sz="1200" b="1" i="0">
                <a:solidFill>
                  <a:srgbClr val="10B981"/>
                </a:solidFill>
                <a:latin typeface="Calibri"/>
              </a:rPr>
              <a:t>⚡  Database</a:t>
            </a:r>
          </a:p>
        </p:txBody>
      </p:sp>
      <p:sp>
        <p:nvSpPr>
          <p:cNvPr id="44" name="TextBox 43"/>
          <p:cNvSpPr txBox="1"/>
          <p:nvPr/>
        </p:nvSpPr>
        <p:spPr>
          <a:xfrm>
            <a:off x="9253728" y="4617720"/>
            <a:ext cx="2560320" cy="731520"/>
          </a:xfrm>
          <a:prstGeom prst="rect">
            <a:avLst/>
          </a:prstGeom>
          <a:noFill/>
        </p:spPr>
        <p:txBody>
          <a:bodyPr wrap="square">
            <a:spAutoFit/>
          </a:bodyPr>
          <a:lstStyle/>
          <a:p>
            <a:pPr algn="l"/>
            <a:r>
              <a:rPr sz="1000" b="0" i="0">
                <a:solidFill>
                  <a:srgbClr val="94A3B8"/>
                </a:solidFill>
                <a:latin typeface="Calibri"/>
              </a:rPr>
              <a:t>Read replicas for analytics queries</a:t>
            </a:r>
          </a:p>
        </p:txBody>
      </p:sp>
      <p:sp>
        <p:nvSpPr>
          <p:cNvPr id="45" name="Rectangle 44"/>
          <p:cNvSpPr/>
          <p:nvPr/>
        </p:nvSpPr>
        <p:spPr>
          <a:xfrm>
            <a:off x="3200400" y="5760720"/>
            <a:ext cx="5760720" cy="502920"/>
          </a:xfrm>
          <a:prstGeom prst="rect">
            <a:avLst/>
          </a:prstGeom>
          <a:solidFill>
            <a:srgbClr val="0A0E1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6120" y="5806440"/>
            <a:ext cx="5669280" cy="411480"/>
          </a:xfrm>
          <a:prstGeom prst="rect">
            <a:avLst/>
          </a:prstGeom>
          <a:noFill/>
        </p:spPr>
        <p:txBody>
          <a:bodyPr wrap="square">
            <a:spAutoFit/>
          </a:bodyPr>
          <a:lstStyle/>
          <a:p>
            <a:pPr algn="ctr"/>
            <a:r>
              <a:rPr sz="1300" b="1" i="0">
                <a:solidFill>
                  <a:srgbClr val="10B981"/>
                </a:solidFill>
                <a:latin typeface="Calibri"/>
              </a:rPr>
              <a:t>docker-compose up --build    →    Full stack deployed in 1 command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Future Roadmap</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Beyond the Prototype</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1828800" cy="1097280"/>
          </a:xfrm>
          <a:prstGeom prst="rect">
            <a:avLst/>
          </a:prstGeom>
          <a:solidFill>
            <a:srgbClr val="1E3A5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828800"/>
            <a:ext cx="182880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74519"/>
            <a:ext cx="1691640" cy="320040"/>
          </a:xfrm>
          <a:prstGeom prst="rect">
            <a:avLst/>
          </a:prstGeom>
          <a:noFill/>
        </p:spPr>
        <p:txBody>
          <a:bodyPr wrap="square">
            <a:spAutoFit/>
          </a:bodyPr>
          <a:lstStyle/>
          <a:p>
            <a:pPr algn="ctr"/>
            <a:r>
              <a:rPr sz="1000" b="1" i="0">
                <a:solidFill>
                  <a:srgbClr val="0F172A"/>
                </a:solidFill>
                <a:latin typeface="Calibri"/>
              </a:rPr>
              <a:t>Phase 1
(Now)</a:t>
            </a:r>
          </a:p>
        </p:txBody>
      </p:sp>
      <p:sp>
        <p:nvSpPr>
          <p:cNvPr id="13" name="TextBox 12"/>
          <p:cNvSpPr txBox="1"/>
          <p:nvPr/>
        </p:nvSpPr>
        <p:spPr>
          <a:xfrm>
            <a:off x="457200" y="2286000"/>
            <a:ext cx="1691640" cy="548640"/>
          </a:xfrm>
          <a:prstGeom prst="rect">
            <a:avLst/>
          </a:prstGeom>
          <a:noFill/>
        </p:spPr>
        <p:txBody>
          <a:bodyPr wrap="square">
            <a:spAutoFit/>
          </a:bodyPr>
          <a:lstStyle/>
          <a:p>
            <a:pPr algn="l"/>
            <a:r>
              <a:rPr sz="900" b="0" i="0">
                <a:solidFill>
                  <a:srgbClr val="94A3B8"/>
                </a:solidFill>
                <a:latin typeface="Calibri"/>
              </a:rPr>
              <a:t>Core platform + AI matching
Docker Compose deploy
Demo data &amp; UI</a:t>
            </a:r>
          </a:p>
        </p:txBody>
      </p:sp>
      <p:sp>
        <p:nvSpPr>
          <p:cNvPr id="14" name="TextBox 13"/>
          <p:cNvSpPr txBox="1"/>
          <p:nvPr/>
        </p:nvSpPr>
        <p:spPr>
          <a:xfrm>
            <a:off x="2240279" y="2331720"/>
            <a:ext cx="137160" cy="365760"/>
          </a:xfrm>
          <a:prstGeom prst="rect">
            <a:avLst/>
          </a:prstGeom>
          <a:noFill/>
        </p:spPr>
        <p:txBody>
          <a:bodyPr wrap="square">
            <a:spAutoFit/>
          </a:bodyPr>
          <a:lstStyle/>
          <a:p>
            <a:pPr algn="ctr"/>
            <a:r>
              <a:rPr sz="1800" b="0" i="0">
                <a:solidFill>
                  <a:srgbClr val="475669"/>
                </a:solidFill>
                <a:latin typeface="Calibri"/>
              </a:rPr>
              <a:t>→</a:t>
            </a:r>
          </a:p>
        </p:txBody>
      </p:sp>
      <p:sp>
        <p:nvSpPr>
          <p:cNvPr id="15" name="Rectangle 14"/>
          <p:cNvSpPr/>
          <p:nvPr/>
        </p:nvSpPr>
        <p:spPr>
          <a:xfrm>
            <a:off x="2331720" y="1828800"/>
            <a:ext cx="1828800" cy="1097280"/>
          </a:xfrm>
          <a:prstGeom prst="rect">
            <a:avLst/>
          </a:prstGeom>
          <a:solidFill>
            <a:srgbClr val="1E3A5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31720" y="1828800"/>
            <a:ext cx="182880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23160" y="1874519"/>
            <a:ext cx="1691640" cy="320040"/>
          </a:xfrm>
          <a:prstGeom prst="rect">
            <a:avLst/>
          </a:prstGeom>
          <a:noFill/>
        </p:spPr>
        <p:txBody>
          <a:bodyPr wrap="square">
            <a:spAutoFit/>
          </a:bodyPr>
          <a:lstStyle/>
          <a:p>
            <a:pPr algn="ctr"/>
            <a:r>
              <a:rPr sz="1000" b="1" i="0">
                <a:solidFill>
                  <a:srgbClr val="0F172A"/>
                </a:solidFill>
                <a:latin typeface="Calibri"/>
              </a:rPr>
              <a:t>Phase 2</a:t>
            </a:r>
          </a:p>
        </p:txBody>
      </p:sp>
      <p:sp>
        <p:nvSpPr>
          <p:cNvPr id="18" name="TextBox 17"/>
          <p:cNvSpPr txBox="1"/>
          <p:nvPr/>
        </p:nvSpPr>
        <p:spPr>
          <a:xfrm>
            <a:off x="2423160" y="2286000"/>
            <a:ext cx="1691640" cy="548640"/>
          </a:xfrm>
          <a:prstGeom prst="rect">
            <a:avLst/>
          </a:prstGeom>
          <a:noFill/>
        </p:spPr>
        <p:txBody>
          <a:bodyPr wrap="square">
            <a:spAutoFit/>
          </a:bodyPr>
          <a:lstStyle/>
          <a:p>
            <a:pPr algn="l"/>
            <a:r>
              <a:rPr sz="900" b="0" i="0">
                <a:solidFill>
                  <a:srgbClr val="94A3B8"/>
                </a:solidFill>
                <a:latin typeface="Calibri"/>
              </a:rPr>
              <a:t>SAP integration (IDoc adapter)
Real-time ERP sync
Multi-CPSE live connection</a:t>
            </a:r>
          </a:p>
        </p:txBody>
      </p:sp>
      <p:sp>
        <p:nvSpPr>
          <p:cNvPr id="19" name="TextBox 18"/>
          <p:cNvSpPr txBox="1"/>
          <p:nvPr/>
        </p:nvSpPr>
        <p:spPr>
          <a:xfrm>
            <a:off x="4206239" y="2331720"/>
            <a:ext cx="137160" cy="365760"/>
          </a:xfrm>
          <a:prstGeom prst="rect">
            <a:avLst/>
          </a:prstGeom>
          <a:noFill/>
        </p:spPr>
        <p:txBody>
          <a:bodyPr wrap="square">
            <a:spAutoFit/>
          </a:bodyPr>
          <a:lstStyle/>
          <a:p>
            <a:pPr algn="ctr"/>
            <a:r>
              <a:rPr sz="1800" b="0" i="0">
                <a:solidFill>
                  <a:srgbClr val="475669"/>
                </a:solidFill>
                <a:latin typeface="Calibri"/>
              </a:rPr>
              <a:t>→</a:t>
            </a:r>
          </a:p>
        </p:txBody>
      </p:sp>
      <p:sp>
        <p:nvSpPr>
          <p:cNvPr id="20" name="Rectangle 19"/>
          <p:cNvSpPr/>
          <p:nvPr/>
        </p:nvSpPr>
        <p:spPr>
          <a:xfrm>
            <a:off x="4297680" y="1828800"/>
            <a:ext cx="1828800" cy="109728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1828800"/>
            <a:ext cx="1828800" cy="41148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1874519"/>
            <a:ext cx="1691640" cy="320040"/>
          </a:xfrm>
          <a:prstGeom prst="rect">
            <a:avLst/>
          </a:prstGeom>
          <a:noFill/>
        </p:spPr>
        <p:txBody>
          <a:bodyPr wrap="square">
            <a:spAutoFit/>
          </a:bodyPr>
          <a:lstStyle/>
          <a:p>
            <a:pPr algn="ctr"/>
            <a:r>
              <a:rPr sz="1000" b="1" i="0">
                <a:solidFill>
                  <a:srgbClr val="0F172A"/>
                </a:solidFill>
                <a:latin typeface="Calibri"/>
              </a:rPr>
              <a:t>Phase 3</a:t>
            </a:r>
          </a:p>
        </p:txBody>
      </p:sp>
      <p:sp>
        <p:nvSpPr>
          <p:cNvPr id="23" name="TextBox 22"/>
          <p:cNvSpPr txBox="1"/>
          <p:nvPr/>
        </p:nvSpPr>
        <p:spPr>
          <a:xfrm>
            <a:off x="4389120" y="2286000"/>
            <a:ext cx="1691640" cy="548640"/>
          </a:xfrm>
          <a:prstGeom prst="rect">
            <a:avLst/>
          </a:prstGeom>
          <a:noFill/>
        </p:spPr>
        <p:txBody>
          <a:bodyPr wrap="square">
            <a:spAutoFit/>
          </a:bodyPr>
          <a:lstStyle/>
          <a:p>
            <a:pPr algn="l"/>
            <a:r>
              <a:rPr sz="900" b="0" i="0">
                <a:solidFill>
                  <a:srgbClr val="94A3B8"/>
                </a:solidFill>
                <a:latin typeface="Calibri"/>
              </a:rPr>
              <a:t>Multi-language NLP
Hindi / Tamil / Telugu
Regional material descriptions</a:t>
            </a:r>
          </a:p>
        </p:txBody>
      </p:sp>
      <p:sp>
        <p:nvSpPr>
          <p:cNvPr id="24" name="TextBox 23"/>
          <p:cNvSpPr txBox="1"/>
          <p:nvPr/>
        </p:nvSpPr>
        <p:spPr>
          <a:xfrm>
            <a:off x="6172199" y="2331720"/>
            <a:ext cx="137160" cy="365760"/>
          </a:xfrm>
          <a:prstGeom prst="rect">
            <a:avLst/>
          </a:prstGeom>
          <a:noFill/>
        </p:spPr>
        <p:txBody>
          <a:bodyPr wrap="square">
            <a:spAutoFit/>
          </a:bodyPr>
          <a:lstStyle/>
          <a:p>
            <a:pPr algn="ctr"/>
            <a:r>
              <a:rPr sz="1800" b="0" i="0">
                <a:solidFill>
                  <a:srgbClr val="475669"/>
                </a:solidFill>
                <a:latin typeface="Calibri"/>
              </a:rPr>
              <a:t>→</a:t>
            </a:r>
          </a:p>
        </p:txBody>
      </p:sp>
      <p:sp>
        <p:nvSpPr>
          <p:cNvPr id="25" name="Rectangle 24"/>
          <p:cNvSpPr/>
          <p:nvPr/>
        </p:nvSpPr>
        <p:spPr>
          <a:xfrm>
            <a:off x="6263640" y="1828800"/>
            <a:ext cx="1828800" cy="1097280"/>
          </a:xfrm>
          <a:prstGeom prst="rect">
            <a:avLst/>
          </a:prstGeom>
          <a:solidFill>
            <a:srgbClr val="1E3A5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1828800"/>
            <a:ext cx="182880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1874519"/>
            <a:ext cx="1691640" cy="320040"/>
          </a:xfrm>
          <a:prstGeom prst="rect">
            <a:avLst/>
          </a:prstGeom>
          <a:noFill/>
        </p:spPr>
        <p:txBody>
          <a:bodyPr wrap="square">
            <a:spAutoFit/>
          </a:bodyPr>
          <a:lstStyle/>
          <a:p>
            <a:pPr algn="ctr"/>
            <a:r>
              <a:rPr sz="1000" b="1" i="0">
                <a:solidFill>
                  <a:srgbClr val="0F172A"/>
                </a:solidFill>
                <a:latin typeface="Calibri"/>
              </a:rPr>
              <a:t>Phase 4</a:t>
            </a:r>
          </a:p>
        </p:txBody>
      </p:sp>
      <p:sp>
        <p:nvSpPr>
          <p:cNvPr id="28" name="TextBox 27"/>
          <p:cNvSpPr txBox="1"/>
          <p:nvPr/>
        </p:nvSpPr>
        <p:spPr>
          <a:xfrm>
            <a:off x="6355080" y="2286000"/>
            <a:ext cx="1691640" cy="548640"/>
          </a:xfrm>
          <a:prstGeom prst="rect">
            <a:avLst/>
          </a:prstGeom>
          <a:noFill/>
        </p:spPr>
        <p:txBody>
          <a:bodyPr wrap="square">
            <a:spAutoFit/>
          </a:bodyPr>
          <a:lstStyle/>
          <a:p>
            <a:pPr algn="l"/>
            <a:r>
              <a:rPr sz="900" b="0" i="0">
                <a:solidFill>
                  <a:srgbClr val="94A3B8"/>
                </a:solidFill>
                <a:latin typeface="Calibri"/>
              </a:rPr>
              <a:t>Knowledge graph
Material taxonomy
Ontology-based matching</a:t>
            </a:r>
          </a:p>
        </p:txBody>
      </p:sp>
      <p:sp>
        <p:nvSpPr>
          <p:cNvPr id="29" name="TextBox 28"/>
          <p:cNvSpPr txBox="1"/>
          <p:nvPr/>
        </p:nvSpPr>
        <p:spPr>
          <a:xfrm>
            <a:off x="8138159" y="2331720"/>
            <a:ext cx="137160" cy="365760"/>
          </a:xfrm>
          <a:prstGeom prst="rect">
            <a:avLst/>
          </a:prstGeom>
          <a:noFill/>
        </p:spPr>
        <p:txBody>
          <a:bodyPr wrap="square">
            <a:spAutoFit/>
          </a:bodyPr>
          <a:lstStyle/>
          <a:p>
            <a:pPr algn="ctr"/>
            <a:r>
              <a:rPr sz="1800" b="0" i="0">
                <a:solidFill>
                  <a:srgbClr val="475669"/>
                </a:solidFill>
                <a:latin typeface="Calibri"/>
              </a:rPr>
              <a:t>→</a:t>
            </a:r>
          </a:p>
        </p:txBody>
      </p:sp>
      <p:sp>
        <p:nvSpPr>
          <p:cNvPr id="30" name="Rectangle 29"/>
          <p:cNvSpPr/>
          <p:nvPr/>
        </p:nvSpPr>
        <p:spPr>
          <a:xfrm>
            <a:off x="8229600" y="1828800"/>
            <a:ext cx="1828800" cy="1097280"/>
          </a:xfrm>
          <a:prstGeom prst="rect">
            <a:avLst/>
          </a:prstGeom>
          <a:solidFill>
            <a:srgbClr val="1E3A5F"/>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0" y="1828800"/>
            <a:ext cx="1828800" cy="41148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0" y="1874519"/>
            <a:ext cx="1691640" cy="320040"/>
          </a:xfrm>
          <a:prstGeom prst="rect">
            <a:avLst/>
          </a:prstGeom>
          <a:noFill/>
        </p:spPr>
        <p:txBody>
          <a:bodyPr wrap="square">
            <a:spAutoFit/>
          </a:bodyPr>
          <a:lstStyle/>
          <a:p>
            <a:pPr algn="ctr"/>
            <a:r>
              <a:rPr sz="1000" b="1" i="0">
                <a:solidFill>
                  <a:srgbClr val="0F172A"/>
                </a:solidFill>
                <a:latin typeface="Calibri"/>
              </a:rPr>
              <a:t>Phase 5</a:t>
            </a:r>
          </a:p>
        </p:txBody>
      </p:sp>
      <p:sp>
        <p:nvSpPr>
          <p:cNvPr id="33" name="TextBox 32"/>
          <p:cNvSpPr txBox="1"/>
          <p:nvPr/>
        </p:nvSpPr>
        <p:spPr>
          <a:xfrm>
            <a:off x="8321040" y="2286000"/>
            <a:ext cx="1691640" cy="548640"/>
          </a:xfrm>
          <a:prstGeom prst="rect">
            <a:avLst/>
          </a:prstGeom>
          <a:noFill/>
        </p:spPr>
        <p:txBody>
          <a:bodyPr wrap="square">
            <a:spAutoFit/>
          </a:bodyPr>
          <a:lstStyle/>
          <a:p>
            <a:pPr algn="l"/>
            <a:r>
              <a:rPr sz="900" b="0" i="0">
                <a:solidFill>
                  <a:srgbClr val="94A3B8"/>
                </a:solidFill>
                <a:latin typeface="Calibri"/>
              </a:rPr>
              <a:t>ML procurement savings
AI-driven sourcing
Demand forecasting</a:t>
            </a:r>
          </a:p>
        </p:txBody>
      </p:sp>
      <p:sp>
        <p:nvSpPr>
          <p:cNvPr id="34" name="TextBox 33"/>
          <p:cNvSpPr txBox="1"/>
          <p:nvPr/>
        </p:nvSpPr>
        <p:spPr>
          <a:xfrm>
            <a:off x="10104119" y="2331720"/>
            <a:ext cx="137160" cy="365760"/>
          </a:xfrm>
          <a:prstGeom prst="rect">
            <a:avLst/>
          </a:prstGeom>
          <a:noFill/>
        </p:spPr>
        <p:txBody>
          <a:bodyPr wrap="square">
            <a:spAutoFit/>
          </a:bodyPr>
          <a:lstStyle/>
          <a:p>
            <a:pPr algn="ctr"/>
            <a:r>
              <a:rPr sz="1800" b="0" i="0">
                <a:solidFill>
                  <a:srgbClr val="475669"/>
                </a:solidFill>
                <a:latin typeface="Calibri"/>
              </a:rPr>
              <a:t>→</a:t>
            </a:r>
          </a:p>
        </p:txBody>
      </p:sp>
      <p:sp>
        <p:nvSpPr>
          <p:cNvPr id="35" name="Rectangle 34"/>
          <p:cNvSpPr/>
          <p:nvPr/>
        </p:nvSpPr>
        <p:spPr>
          <a:xfrm>
            <a:off x="10195560" y="1828800"/>
            <a:ext cx="1828800" cy="1097280"/>
          </a:xfrm>
          <a:prstGeom prst="rect">
            <a:avLst/>
          </a:prstGeom>
          <a:solidFill>
            <a:srgbClr val="1E3A5F"/>
          </a:solidFill>
          <a:ln w="190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195560" y="1828800"/>
            <a:ext cx="1828800" cy="411480"/>
          </a:xfrm>
          <a:prstGeom prst="rect">
            <a:avLst/>
          </a:prstGeom>
          <a:solidFill>
            <a:srgbClr val="475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87000" y="1874519"/>
            <a:ext cx="1691640" cy="320040"/>
          </a:xfrm>
          <a:prstGeom prst="rect">
            <a:avLst/>
          </a:prstGeom>
          <a:noFill/>
        </p:spPr>
        <p:txBody>
          <a:bodyPr wrap="square">
            <a:spAutoFit/>
          </a:bodyPr>
          <a:lstStyle/>
          <a:p>
            <a:pPr algn="ctr"/>
            <a:r>
              <a:rPr sz="1000" b="1" i="0">
                <a:solidFill>
                  <a:srgbClr val="0F172A"/>
                </a:solidFill>
                <a:latin typeface="Calibri"/>
              </a:rPr>
              <a:t>Phase 6+</a:t>
            </a:r>
          </a:p>
        </p:txBody>
      </p:sp>
      <p:sp>
        <p:nvSpPr>
          <p:cNvPr id="38" name="TextBox 37"/>
          <p:cNvSpPr txBox="1"/>
          <p:nvPr/>
        </p:nvSpPr>
        <p:spPr>
          <a:xfrm>
            <a:off x="10287000" y="2286000"/>
            <a:ext cx="1691640" cy="548640"/>
          </a:xfrm>
          <a:prstGeom prst="rect">
            <a:avLst/>
          </a:prstGeom>
          <a:noFill/>
        </p:spPr>
        <p:txBody>
          <a:bodyPr wrap="square">
            <a:spAutoFit/>
          </a:bodyPr>
          <a:lstStyle/>
          <a:p>
            <a:pPr algn="l"/>
            <a:r>
              <a:rPr sz="900" b="0" i="0">
                <a:solidFill>
                  <a:srgbClr val="94A3B8"/>
                </a:solidFill>
                <a:latin typeface="Calibri"/>
              </a:rPr>
              <a:t>Mobile app for field verification
Blockchain audit trail
Strategic sourcing AI</a:t>
            </a:r>
          </a:p>
        </p:txBody>
      </p:sp>
      <p:sp>
        <p:nvSpPr>
          <p:cNvPr id="39" name="Rectangle 38"/>
          <p:cNvSpPr/>
          <p:nvPr/>
        </p:nvSpPr>
        <p:spPr>
          <a:xfrm>
            <a:off x="365760" y="3200400"/>
            <a:ext cx="11430000" cy="7315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3154680"/>
            <a:ext cx="73152" cy="16459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267712" y="3154680"/>
            <a:ext cx="73152" cy="16459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69664" y="3154680"/>
            <a:ext cx="73152" cy="16459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071616" y="3154680"/>
            <a:ext cx="73152" cy="16459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73568" y="3154680"/>
            <a:ext cx="73152" cy="16459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75520" y="3154680"/>
            <a:ext cx="73152" cy="16459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777472" y="3154680"/>
            <a:ext cx="73152" cy="16459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65760" y="3474720"/>
            <a:ext cx="2743200" cy="685800"/>
          </a:xfrm>
          <a:prstGeom prst="rect">
            <a:avLst/>
          </a:prstGeom>
          <a:solidFill>
            <a:srgbClr val="1E3A5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5488" y="3520440"/>
            <a:ext cx="2560320" cy="274320"/>
          </a:xfrm>
          <a:prstGeom prst="rect">
            <a:avLst/>
          </a:prstGeom>
          <a:noFill/>
        </p:spPr>
        <p:txBody>
          <a:bodyPr wrap="square">
            <a:spAutoFit/>
          </a:bodyPr>
          <a:lstStyle/>
          <a:p>
            <a:pPr algn="l"/>
            <a:r>
              <a:rPr sz="1100" b="1" i="0">
                <a:solidFill>
                  <a:srgbClr val="10B981"/>
                </a:solidFill>
                <a:latin typeface="Calibri"/>
              </a:rPr>
              <a:t>Q3 2026</a:t>
            </a:r>
          </a:p>
        </p:txBody>
      </p:sp>
      <p:sp>
        <p:nvSpPr>
          <p:cNvPr id="49" name="TextBox 48"/>
          <p:cNvSpPr txBox="1"/>
          <p:nvPr/>
        </p:nvSpPr>
        <p:spPr>
          <a:xfrm>
            <a:off x="475488" y="3822192"/>
            <a:ext cx="2560320" cy="274320"/>
          </a:xfrm>
          <a:prstGeom prst="rect">
            <a:avLst/>
          </a:prstGeom>
          <a:noFill/>
        </p:spPr>
        <p:txBody>
          <a:bodyPr wrap="square">
            <a:spAutoFit/>
          </a:bodyPr>
          <a:lstStyle/>
          <a:p>
            <a:pPr algn="l"/>
            <a:r>
              <a:rPr sz="900" b="0" i="0">
                <a:solidFill>
                  <a:srgbClr val="94A3B8"/>
                </a:solidFill>
                <a:latin typeface="Calibri"/>
              </a:rPr>
              <a:t>MVP complete, SIH demo ready</a:t>
            </a:r>
          </a:p>
        </p:txBody>
      </p:sp>
      <p:sp>
        <p:nvSpPr>
          <p:cNvPr id="50" name="Rectangle 49"/>
          <p:cNvSpPr/>
          <p:nvPr/>
        </p:nvSpPr>
        <p:spPr>
          <a:xfrm>
            <a:off x="3291840" y="4297680"/>
            <a:ext cx="2743200" cy="685800"/>
          </a:xfrm>
          <a:prstGeom prst="rect">
            <a:avLst/>
          </a:prstGeom>
          <a:solidFill>
            <a:srgbClr val="1E3A5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401568" y="4343400"/>
            <a:ext cx="2560320" cy="274320"/>
          </a:xfrm>
          <a:prstGeom prst="rect">
            <a:avLst/>
          </a:prstGeom>
          <a:noFill/>
        </p:spPr>
        <p:txBody>
          <a:bodyPr wrap="square">
            <a:spAutoFit/>
          </a:bodyPr>
          <a:lstStyle/>
          <a:p>
            <a:pPr algn="l"/>
            <a:r>
              <a:rPr sz="1100" b="1" i="0">
                <a:solidFill>
                  <a:srgbClr val="3B82F6"/>
                </a:solidFill>
                <a:latin typeface="Calibri"/>
              </a:rPr>
              <a:t>Q4 2026</a:t>
            </a:r>
          </a:p>
        </p:txBody>
      </p:sp>
      <p:sp>
        <p:nvSpPr>
          <p:cNvPr id="52" name="TextBox 51"/>
          <p:cNvSpPr txBox="1"/>
          <p:nvPr/>
        </p:nvSpPr>
        <p:spPr>
          <a:xfrm>
            <a:off x="3401568" y="4645152"/>
            <a:ext cx="2560320" cy="274320"/>
          </a:xfrm>
          <a:prstGeom prst="rect">
            <a:avLst/>
          </a:prstGeom>
          <a:noFill/>
        </p:spPr>
        <p:txBody>
          <a:bodyPr wrap="square">
            <a:spAutoFit/>
          </a:bodyPr>
          <a:lstStyle/>
          <a:p>
            <a:pPr algn="l"/>
            <a:r>
              <a:rPr sz="900" b="0" i="0">
                <a:solidFill>
                  <a:srgbClr val="94A3B8"/>
                </a:solidFill>
                <a:latin typeface="Calibri"/>
              </a:rPr>
              <a:t>Pilot with 2 CPSEs, SAP integration</a:t>
            </a:r>
          </a:p>
        </p:txBody>
      </p:sp>
      <p:sp>
        <p:nvSpPr>
          <p:cNvPr id="53" name="Rectangle 52"/>
          <p:cNvSpPr/>
          <p:nvPr/>
        </p:nvSpPr>
        <p:spPr>
          <a:xfrm>
            <a:off x="6217920" y="3474720"/>
            <a:ext cx="2743200" cy="68580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27648" y="3520440"/>
            <a:ext cx="2560320" cy="274320"/>
          </a:xfrm>
          <a:prstGeom prst="rect">
            <a:avLst/>
          </a:prstGeom>
          <a:noFill/>
        </p:spPr>
        <p:txBody>
          <a:bodyPr wrap="square">
            <a:spAutoFit/>
          </a:bodyPr>
          <a:lstStyle/>
          <a:p>
            <a:pPr algn="l"/>
            <a:r>
              <a:rPr sz="1100" b="1" i="0">
                <a:solidFill>
                  <a:srgbClr val="D946EF"/>
                </a:solidFill>
                <a:latin typeface="Calibri"/>
              </a:rPr>
              <a:t>Q1 2027</a:t>
            </a:r>
          </a:p>
        </p:txBody>
      </p:sp>
      <p:sp>
        <p:nvSpPr>
          <p:cNvPr id="55" name="TextBox 54"/>
          <p:cNvSpPr txBox="1"/>
          <p:nvPr/>
        </p:nvSpPr>
        <p:spPr>
          <a:xfrm>
            <a:off x="6327648" y="3822192"/>
            <a:ext cx="2560320" cy="274320"/>
          </a:xfrm>
          <a:prstGeom prst="rect">
            <a:avLst/>
          </a:prstGeom>
          <a:noFill/>
        </p:spPr>
        <p:txBody>
          <a:bodyPr wrap="square">
            <a:spAutoFit/>
          </a:bodyPr>
          <a:lstStyle/>
          <a:p>
            <a:pPr algn="l"/>
            <a:r>
              <a:rPr sz="900" b="0" i="0">
                <a:solidFill>
                  <a:srgbClr val="94A3B8"/>
                </a:solidFill>
                <a:latin typeface="Calibri"/>
              </a:rPr>
              <a:t>Expand to 5 CPSEs, multi-language</a:t>
            </a:r>
          </a:p>
        </p:txBody>
      </p:sp>
      <p:sp>
        <p:nvSpPr>
          <p:cNvPr id="56" name="Rectangle 55"/>
          <p:cNvSpPr/>
          <p:nvPr/>
        </p:nvSpPr>
        <p:spPr>
          <a:xfrm>
            <a:off x="9144000" y="4297680"/>
            <a:ext cx="2743200" cy="685800"/>
          </a:xfrm>
          <a:prstGeom prst="rect">
            <a:avLst/>
          </a:prstGeom>
          <a:solidFill>
            <a:srgbClr val="1E3A5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253728" y="4343400"/>
            <a:ext cx="2560320" cy="274320"/>
          </a:xfrm>
          <a:prstGeom prst="rect">
            <a:avLst/>
          </a:prstGeom>
          <a:noFill/>
        </p:spPr>
        <p:txBody>
          <a:bodyPr wrap="square">
            <a:spAutoFit/>
          </a:bodyPr>
          <a:lstStyle/>
          <a:p>
            <a:pPr algn="l"/>
            <a:r>
              <a:rPr sz="1100" b="1" i="0">
                <a:solidFill>
                  <a:srgbClr val="F59E0B"/>
                </a:solidFill>
                <a:latin typeface="Calibri"/>
              </a:rPr>
              <a:t>Q2 2027</a:t>
            </a:r>
          </a:p>
        </p:txBody>
      </p:sp>
      <p:sp>
        <p:nvSpPr>
          <p:cNvPr id="58" name="TextBox 57"/>
          <p:cNvSpPr txBox="1"/>
          <p:nvPr/>
        </p:nvSpPr>
        <p:spPr>
          <a:xfrm>
            <a:off x="9253728" y="4645152"/>
            <a:ext cx="2560320" cy="274320"/>
          </a:xfrm>
          <a:prstGeom prst="rect">
            <a:avLst/>
          </a:prstGeom>
          <a:noFill/>
        </p:spPr>
        <p:txBody>
          <a:bodyPr wrap="square">
            <a:spAutoFit/>
          </a:bodyPr>
          <a:lstStyle/>
          <a:p>
            <a:pPr algn="l"/>
            <a:r>
              <a:rPr sz="900" b="0" i="0">
                <a:solidFill>
                  <a:srgbClr val="94A3B8"/>
                </a:solidFill>
                <a:latin typeface="Calibri"/>
              </a:rPr>
              <a:t>Knowledge graph, ML procurement 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Impact &amp; Benefits</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Expected Impact</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5486400" cy="3291840"/>
          </a:xfrm>
          <a:prstGeom prst="rect">
            <a:avLst/>
          </a:prstGeom>
          <a:solidFill>
            <a:srgbClr val="1E3A5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828800"/>
            <a:ext cx="548640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74519"/>
            <a:ext cx="5303520" cy="274320"/>
          </a:xfrm>
          <a:prstGeom prst="rect">
            <a:avLst/>
          </a:prstGeom>
          <a:noFill/>
        </p:spPr>
        <p:txBody>
          <a:bodyPr wrap="square">
            <a:spAutoFit/>
          </a:bodyPr>
          <a:lstStyle/>
          <a:p>
            <a:pPr algn="l"/>
            <a:r>
              <a:rPr sz="1400" b="1" i="0">
                <a:solidFill>
                  <a:srgbClr val="0F172A"/>
                </a:solidFill>
                <a:latin typeface="Calibri"/>
              </a:rPr>
              <a:t>For CPSEs</a:t>
            </a:r>
          </a:p>
        </p:txBody>
      </p:sp>
      <p:sp>
        <p:nvSpPr>
          <p:cNvPr id="13" name="TextBox 12"/>
          <p:cNvSpPr txBox="1"/>
          <p:nvPr/>
        </p:nvSpPr>
        <p:spPr>
          <a:xfrm>
            <a:off x="502920" y="2286000"/>
            <a:ext cx="5212080" cy="365760"/>
          </a:xfrm>
          <a:prstGeom prst="rect">
            <a:avLst/>
          </a:prstGeom>
          <a:noFill/>
        </p:spPr>
        <p:txBody>
          <a:bodyPr wrap="square">
            <a:spAutoFit/>
          </a:bodyPr>
          <a:lstStyle/>
          <a:p>
            <a:pPr algn="l"/>
            <a:r>
              <a:rPr sz="1200" b="0" i="0">
                <a:solidFill>
                  <a:srgbClr val="FFFFFF"/>
                </a:solidFill>
                <a:latin typeface="Calibri"/>
              </a:rPr>
              <a:t>▸  Unified material code across all CPSEs</a:t>
            </a:r>
          </a:p>
        </p:txBody>
      </p:sp>
      <p:sp>
        <p:nvSpPr>
          <p:cNvPr id="14" name="TextBox 13"/>
          <p:cNvSpPr txBox="1"/>
          <p:nvPr/>
        </p:nvSpPr>
        <p:spPr>
          <a:xfrm>
            <a:off x="502920" y="2743200"/>
            <a:ext cx="5212080" cy="365760"/>
          </a:xfrm>
          <a:prstGeom prst="rect">
            <a:avLst/>
          </a:prstGeom>
          <a:noFill/>
        </p:spPr>
        <p:txBody>
          <a:bodyPr wrap="square">
            <a:spAutoFit/>
          </a:bodyPr>
          <a:lstStyle/>
          <a:p>
            <a:pPr algn="l"/>
            <a:r>
              <a:rPr sz="1200" b="0" i="0">
                <a:solidFill>
                  <a:srgbClr val="FFFFFF"/>
                </a:solidFill>
                <a:latin typeface="Calibri"/>
              </a:rPr>
              <a:t>▸  Reduction in duplicate master data</a:t>
            </a:r>
          </a:p>
        </p:txBody>
      </p:sp>
      <p:sp>
        <p:nvSpPr>
          <p:cNvPr id="15" name="TextBox 14"/>
          <p:cNvSpPr txBox="1"/>
          <p:nvPr/>
        </p:nvSpPr>
        <p:spPr>
          <a:xfrm>
            <a:off x="502920" y="3200400"/>
            <a:ext cx="5212080" cy="365760"/>
          </a:xfrm>
          <a:prstGeom prst="rect">
            <a:avLst/>
          </a:prstGeom>
          <a:noFill/>
        </p:spPr>
        <p:txBody>
          <a:bodyPr wrap="square">
            <a:spAutoFit/>
          </a:bodyPr>
          <a:lstStyle/>
          <a:p>
            <a:pPr algn="l"/>
            <a:r>
              <a:rPr sz="1200" b="0" i="0">
                <a:solidFill>
                  <a:srgbClr val="FFFFFF"/>
                </a:solidFill>
                <a:latin typeface="Calibri"/>
              </a:rPr>
              <a:t>▸  Improved data quality scores</a:t>
            </a:r>
          </a:p>
        </p:txBody>
      </p:sp>
      <p:sp>
        <p:nvSpPr>
          <p:cNvPr id="16" name="TextBox 15"/>
          <p:cNvSpPr txBox="1"/>
          <p:nvPr/>
        </p:nvSpPr>
        <p:spPr>
          <a:xfrm>
            <a:off x="502920" y="3657600"/>
            <a:ext cx="5212080" cy="365760"/>
          </a:xfrm>
          <a:prstGeom prst="rect">
            <a:avLst/>
          </a:prstGeom>
          <a:noFill/>
        </p:spPr>
        <p:txBody>
          <a:bodyPr wrap="square">
            <a:spAutoFit/>
          </a:bodyPr>
          <a:lstStyle/>
          <a:p>
            <a:pPr algn="l"/>
            <a:r>
              <a:rPr sz="1200" b="0" i="0">
                <a:solidFill>
                  <a:srgbClr val="FFFFFF"/>
                </a:solidFill>
                <a:latin typeface="Calibri"/>
              </a:rPr>
              <a:t>▸  Better inventory optimization</a:t>
            </a:r>
          </a:p>
        </p:txBody>
      </p:sp>
      <p:sp>
        <p:nvSpPr>
          <p:cNvPr id="17" name="TextBox 16"/>
          <p:cNvSpPr txBox="1"/>
          <p:nvPr/>
        </p:nvSpPr>
        <p:spPr>
          <a:xfrm>
            <a:off x="502920" y="4114800"/>
            <a:ext cx="5212080" cy="365760"/>
          </a:xfrm>
          <a:prstGeom prst="rect">
            <a:avLst/>
          </a:prstGeom>
          <a:noFill/>
        </p:spPr>
        <p:txBody>
          <a:bodyPr wrap="square">
            <a:spAutoFit/>
          </a:bodyPr>
          <a:lstStyle/>
          <a:p>
            <a:pPr algn="l"/>
            <a:r>
              <a:rPr sz="1200" b="0" i="0">
                <a:solidFill>
                  <a:srgbClr val="FFFFFF"/>
                </a:solidFill>
                <a:latin typeface="Calibri"/>
              </a:rPr>
              <a:t>▸  Reduced procurement costs via demand aggregation</a:t>
            </a:r>
          </a:p>
        </p:txBody>
      </p:sp>
      <p:sp>
        <p:nvSpPr>
          <p:cNvPr id="18" name="Rectangle 17"/>
          <p:cNvSpPr/>
          <p:nvPr/>
        </p:nvSpPr>
        <p:spPr>
          <a:xfrm>
            <a:off x="6217920" y="1828800"/>
            <a:ext cx="5577840" cy="329184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828800"/>
            <a:ext cx="5577840" cy="347472"/>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874519"/>
            <a:ext cx="5394960" cy="274320"/>
          </a:xfrm>
          <a:prstGeom prst="rect">
            <a:avLst/>
          </a:prstGeom>
          <a:noFill/>
        </p:spPr>
        <p:txBody>
          <a:bodyPr wrap="square">
            <a:spAutoFit/>
          </a:bodyPr>
          <a:lstStyle/>
          <a:p>
            <a:pPr algn="l"/>
            <a:r>
              <a:rPr sz="1400" b="1" i="0">
                <a:solidFill>
                  <a:srgbClr val="0F172A"/>
                </a:solidFill>
                <a:latin typeface="Calibri"/>
              </a:rPr>
              <a:t>For the Nation</a:t>
            </a:r>
          </a:p>
        </p:txBody>
      </p:sp>
      <p:sp>
        <p:nvSpPr>
          <p:cNvPr id="21" name="TextBox 20"/>
          <p:cNvSpPr txBox="1"/>
          <p:nvPr/>
        </p:nvSpPr>
        <p:spPr>
          <a:xfrm>
            <a:off x="6355080" y="2286000"/>
            <a:ext cx="5303520" cy="365760"/>
          </a:xfrm>
          <a:prstGeom prst="rect">
            <a:avLst/>
          </a:prstGeom>
          <a:noFill/>
        </p:spPr>
        <p:txBody>
          <a:bodyPr wrap="square">
            <a:spAutoFit/>
          </a:bodyPr>
          <a:lstStyle/>
          <a:p>
            <a:pPr algn="l"/>
            <a:r>
              <a:rPr sz="1200" b="0" i="0">
                <a:solidFill>
                  <a:srgbClr val="FFFFFF"/>
                </a:solidFill>
                <a:latin typeface="Calibri"/>
              </a:rPr>
              <a:t>▸  "One Nation, One Material Code" vision</a:t>
            </a:r>
          </a:p>
        </p:txBody>
      </p:sp>
      <p:sp>
        <p:nvSpPr>
          <p:cNvPr id="22" name="TextBox 21"/>
          <p:cNvSpPr txBox="1"/>
          <p:nvPr/>
        </p:nvSpPr>
        <p:spPr>
          <a:xfrm>
            <a:off x="6355080" y="2743200"/>
            <a:ext cx="5303520" cy="365760"/>
          </a:xfrm>
          <a:prstGeom prst="rect">
            <a:avLst/>
          </a:prstGeom>
          <a:noFill/>
        </p:spPr>
        <p:txBody>
          <a:bodyPr wrap="square">
            <a:spAutoFit/>
          </a:bodyPr>
          <a:lstStyle/>
          <a:p>
            <a:pPr algn="l"/>
            <a:r>
              <a:rPr sz="1200" b="0" i="0">
                <a:solidFill>
                  <a:srgbClr val="FFFFFF"/>
                </a:solidFill>
                <a:latin typeface="Calibri"/>
              </a:rPr>
              <a:t>▸  Common procurement platform for government</a:t>
            </a:r>
          </a:p>
        </p:txBody>
      </p:sp>
      <p:sp>
        <p:nvSpPr>
          <p:cNvPr id="23" name="TextBox 22"/>
          <p:cNvSpPr txBox="1"/>
          <p:nvPr/>
        </p:nvSpPr>
        <p:spPr>
          <a:xfrm>
            <a:off x="6355080" y="3200400"/>
            <a:ext cx="5303520" cy="365760"/>
          </a:xfrm>
          <a:prstGeom prst="rect">
            <a:avLst/>
          </a:prstGeom>
          <a:noFill/>
        </p:spPr>
        <p:txBody>
          <a:bodyPr wrap="square">
            <a:spAutoFit/>
          </a:bodyPr>
          <a:lstStyle/>
          <a:p>
            <a:pPr algn="l"/>
            <a:r>
              <a:rPr sz="1200" b="0" i="0">
                <a:solidFill>
                  <a:srgbClr val="FFFFFF"/>
                </a:solidFill>
                <a:latin typeface="Calibri"/>
              </a:rPr>
              <a:t>▸  Better inter-CPSE collaboration</a:t>
            </a:r>
          </a:p>
        </p:txBody>
      </p:sp>
      <p:sp>
        <p:nvSpPr>
          <p:cNvPr id="24" name="TextBox 23"/>
          <p:cNvSpPr txBox="1"/>
          <p:nvPr/>
        </p:nvSpPr>
        <p:spPr>
          <a:xfrm>
            <a:off x="6355080" y="3657600"/>
            <a:ext cx="5303520" cy="365760"/>
          </a:xfrm>
          <a:prstGeom prst="rect">
            <a:avLst/>
          </a:prstGeom>
          <a:noFill/>
        </p:spPr>
        <p:txBody>
          <a:bodyPr wrap="square">
            <a:spAutoFit/>
          </a:bodyPr>
          <a:lstStyle/>
          <a:p>
            <a:pPr algn="l"/>
            <a:r>
              <a:rPr sz="1200" b="0" i="0">
                <a:solidFill>
                  <a:srgbClr val="FFFFFF"/>
                </a:solidFill>
                <a:latin typeface="Calibri"/>
              </a:rPr>
              <a:t>▸  Foundation for strategic sourcing</a:t>
            </a:r>
          </a:p>
        </p:txBody>
      </p:sp>
      <p:sp>
        <p:nvSpPr>
          <p:cNvPr id="25" name="TextBox 24"/>
          <p:cNvSpPr txBox="1"/>
          <p:nvPr/>
        </p:nvSpPr>
        <p:spPr>
          <a:xfrm>
            <a:off x="6355080" y="4114800"/>
            <a:ext cx="5303520" cy="365760"/>
          </a:xfrm>
          <a:prstGeom prst="rect">
            <a:avLst/>
          </a:prstGeom>
          <a:noFill/>
        </p:spPr>
        <p:txBody>
          <a:bodyPr wrap="square">
            <a:spAutoFit/>
          </a:bodyPr>
          <a:lstStyle/>
          <a:p>
            <a:pPr algn="l"/>
            <a:r>
              <a:rPr sz="1200" b="0" i="0">
                <a:solidFill>
                  <a:srgbClr val="FFFFFF"/>
                </a:solidFill>
                <a:latin typeface="Calibri"/>
              </a:rPr>
              <a:t>▸  Transparency in public procurement</a:t>
            </a:r>
          </a:p>
        </p:txBody>
      </p:sp>
      <p:sp>
        <p:nvSpPr>
          <p:cNvPr id="26" name="Rectangle 25"/>
          <p:cNvSpPr/>
          <p:nvPr/>
        </p:nvSpPr>
        <p:spPr>
          <a:xfrm>
            <a:off x="365760" y="5349240"/>
            <a:ext cx="11430000" cy="1005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394960"/>
            <a:ext cx="11247120" cy="365760"/>
          </a:xfrm>
          <a:prstGeom prst="rect">
            <a:avLst/>
          </a:prstGeom>
          <a:noFill/>
        </p:spPr>
        <p:txBody>
          <a:bodyPr wrap="square">
            <a:spAutoFit/>
          </a:bodyPr>
          <a:lstStyle/>
          <a:p>
            <a:pPr algn="ctr"/>
            <a:r>
              <a:rPr sz="1300" b="1" i="0">
                <a:solidFill>
                  <a:srgbClr val="0F172A"/>
                </a:solidFill>
                <a:latin typeface="Calibri"/>
              </a:rPr>
              <a:t>ROI Estimate (per CPSE, 100K materials, 5% duplicate reduction)</a:t>
            </a:r>
          </a:p>
        </p:txBody>
      </p:sp>
      <p:sp>
        <p:nvSpPr>
          <p:cNvPr id="28" name="TextBox 27"/>
          <p:cNvSpPr txBox="1"/>
          <p:nvPr/>
        </p:nvSpPr>
        <p:spPr>
          <a:xfrm>
            <a:off x="457200" y="5760720"/>
            <a:ext cx="11247120" cy="457200"/>
          </a:xfrm>
          <a:prstGeom prst="rect">
            <a:avLst/>
          </a:prstGeom>
          <a:noFill/>
        </p:spPr>
        <p:txBody>
          <a:bodyPr wrap="square">
            <a:spAutoFit/>
          </a:bodyPr>
          <a:lstStyle/>
          <a:p>
            <a:pPr algn="ctr"/>
            <a:r>
              <a:rPr sz="1300" b="1" i="0">
                <a:solidFill>
                  <a:srgbClr val="0F172A"/>
                </a:solidFill>
                <a:latin typeface="Calibri"/>
              </a:rPr>
              <a:t>5,000 fewer entries  ×  ₹500/code maintenance  =  ₹25 Lakhs savings per CPSE  |  Scale to 100+ CPSEs = ₹2,500 Cr national savings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Demo Plan</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Live Demo Plan (5 Minutes)</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64008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901952"/>
            <a:ext cx="594360" cy="347472"/>
          </a:xfrm>
          <a:prstGeom prst="rect">
            <a:avLst/>
          </a:prstGeom>
          <a:noFill/>
        </p:spPr>
        <p:txBody>
          <a:bodyPr wrap="square">
            <a:spAutoFit/>
          </a:bodyPr>
          <a:lstStyle/>
          <a:p>
            <a:pPr algn="ctr"/>
            <a:r>
              <a:rPr sz="1400" b="1" i="0">
                <a:solidFill>
                  <a:srgbClr val="0F172A"/>
                </a:solidFill>
                <a:latin typeface="Calibri"/>
              </a:rPr>
              <a:t>1</a:t>
            </a:r>
          </a:p>
        </p:txBody>
      </p:sp>
      <p:sp>
        <p:nvSpPr>
          <p:cNvPr id="12" name="Rectangle 11"/>
          <p:cNvSpPr/>
          <p:nvPr/>
        </p:nvSpPr>
        <p:spPr>
          <a:xfrm>
            <a:off x="1051560" y="1828800"/>
            <a:ext cx="5943600" cy="502920"/>
          </a:xfrm>
          <a:prstGeom prst="rect">
            <a:avLst/>
          </a:prstGeom>
          <a:solidFill>
            <a:srgbClr val="1E3A5F"/>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1865376"/>
            <a:ext cx="5760720" cy="228600"/>
          </a:xfrm>
          <a:prstGeom prst="rect">
            <a:avLst/>
          </a:prstGeom>
          <a:noFill/>
        </p:spPr>
        <p:txBody>
          <a:bodyPr wrap="square">
            <a:spAutoFit/>
          </a:bodyPr>
          <a:lstStyle/>
          <a:p>
            <a:pPr algn="l"/>
            <a:r>
              <a:rPr sz="1100" b="1" i="0">
                <a:solidFill>
                  <a:srgbClr val="FFFFFF"/>
                </a:solidFill>
                <a:latin typeface="Calibri"/>
              </a:rPr>
              <a:t>Demo 1: Dashboard</a:t>
            </a:r>
          </a:p>
        </p:txBody>
      </p:sp>
      <p:sp>
        <p:nvSpPr>
          <p:cNvPr id="14" name="TextBox 13"/>
          <p:cNvSpPr txBox="1"/>
          <p:nvPr/>
        </p:nvSpPr>
        <p:spPr>
          <a:xfrm>
            <a:off x="1143000" y="2084832"/>
            <a:ext cx="5760720" cy="201168"/>
          </a:xfrm>
          <a:prstGeom prst="rect">
            <a:avLst/>
          </a:prstGeom>
          <a:noFill/>
        </p:spPr>
        <p:txBody>
          <a:bodyPr wrap="square">
            <a:spAutoFit/>
          </a:bodyPr>
          <a:lstStyle/>
          <a:p>
            <a:pPr algn="l"/>
            <a:r>
              <a:rPr sz="900" b="0" i="0">
                <a:solidFill>
                  <a:srgbClr val="94A3B8"/>
                </a:solidFill>
                <a:latin typeface="Calibri"/>
              </a:rPr>
              <a:t>Show KPIs, pie charts, CPSE breakdown
Quality metrics &amp; trend lines</a:t>
            </a:r>
          </a:p>
        </p:txBody>
      </p:sp>
      <p:sp>
        <p:nvSpPr>
          <p:cNvPr id="15" name="Rectangle 14"/>
          <p:cNvSpPr/>
          <p:nvPr/>
        </p:nvSpPr>
        <p:spPr>
          <a:xfrm>
            <a:off x="7040880" y="1828800"/>
            <a:ext cx="1645920" cy="50292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38528"/>
            <a:ext cx="1554480" cy="274320"/>
          </a:xfrm>
          <a:prstGeom prst="rect">
            <a:avLst/>
          </a:prstGeom>
          <a:noFill/>
        </p:spPr>
        <p:txBody>
          <a:bodyPr wrap="square">
            <a:spAutoFit/>
          </a:bodyPr>
          <a:lstStyle/>
          <a:p>
            <a:pPr algn="ctr"/>
            <a:r>
              <a:rPr sz="1000" b="0" i="0">
                <a:solidFill>
                  <a:srgbClr val="94A3B8"/>
                </a:solidFill>
                <a:latin typeface="Calibri"/>
              </a:rPr>
              <a:t>0:00 – 0:45</a:t>
            </a:r>
          </a:p>
        </p:txBody>
      </p:sp>
      <p:sp>
        <p:nvSpPr>
          <p:cNvPr id="17" name="Rectangle 16"/>
          <p:cNvSpPr/>
          <p:nvPr/>
        </p:nvSpPr>
        <p:spPr>
          <a:xfrm>
            <a:off x="365760" y="2395728"/>
            <a:ext cx="640080" cy="50292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2468880"/>
            <a:ext cx="594360" cy="347472"/>
          </a:xfrm>
          <a:prstGeom prst="rect">
            <a:avLst/>
          </a:prstGeom>
          <a:noFill/>
        </p:spPr>
        <p:txBody>
          <a:bodyPr wrap="square">
            <a:spAutoFit/>
          </a:bodyPr>
          <a:lstStyle/>
          <a:p>
            <a:pPr algn="ctr"/>
            <a:r>
              <a:rPr sz="1400" b="1" i="0">
                <a:solidFill>
                  <a:srgbClr val="0F172A"/>
                </a:solidFill>
                <a:latin typeface="Calibri"/>
              </a:rPr>
              <a:t>2</a:t>
            </a:r>
          </a:p>
        </p:txBody>
      </p:sp>
      <p:sp>
        <p:nvSpPr>
          <p:cNvPr id="19" name="Rectangle 18"/>
          <p:cNvSpPr/>
          <p:nvPr/>
        </p:nvSpPr>
        <p:spPr>
          <a:xfrm>
            <a:off x="1051560" y="2395728"/>
            <a:ext cx="5943600" cy="502920"/>
          </a:xfrm>
          <a:prstGeom prst="rect">
            <a:avLst/>
          </a:prstGeom>
          <a:solidFill>
            <a:srgbClr val="1E3A5F"/>
          </a:solidFill>
          <a:ln w="1016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2432304"/>
            <a:ext cx="5760720" cy="228600"/>
          </a:xfrm>
          <a:prstGeom prst="rect">
            <a:avLst/>
          </a:prstGeom>
          <a:noFill/>
        </p:spPr>
        <p:txBody>
          <a:bodyPr wrap="square">
            <a:spAutoFit/>
          </a:bodyPr>
          <a:lstStyle/>
          <a:p>
            <a:pPr algn="l"/>
            <a:r>
              <a:rPr sz="1100" b="1" i="0">
                <a:solidFill>
                  <a:srgbClr val="FFFFFF"/>
                </a:solidFill>
                <a:latin typeface="Calibri"/>
              </a:rPr>
              <a:t>Demo 2: Matching</a:t>
            </a:r>
          </a:p>
        </p:txBody>
      </p:sp>
      <p:sp>
        <p:nvSpPr>
          <p:cNvPr id="21" name="TextBox 20"/>
          <p:cNvSpPr txBox="1"/>
          <p:nvPr/>
        </p:nvSpPr>
        <p:spPr>
          <a:xfrm>
            <a:off x="1143000" y="2651760"/>
            <a:ext cx="5760720" cy="201168"/>
          </a:xfrm>
          <a:prstGeom prst="rect">
            <a:avLst/>
          </a:prstGeom>
          <a:noFill/>
        </p:spPr>
        <p:txBody>
          <a:bodyPr wrap="square">
            <a:spAutoFit/>
          </a:bodyPr>
          <a:lstStyle/>
          <a:p>
            <a:pPr algn="l"/>
            <a:r>
              <a:rPr sz="900" b="0" i="0">
                <a:solidFill>
                  <a:srgbClr val="94A3B8"/>
                </a:solidFill>
                <a:latin typeface="Calibri"/>
              </a:rPr>
              <a:t>Run pipeline between IOCL ↔ NTPC
Watch 4-stage progress in real-time</a:t>
            </a:r>
          </a:p>
        </p:txBody>
      </p:sp>
      <p:sp>
        <p:nvSpPr>
          <p:cNvPr id="22" name="Rectangle 21"/>
          <p:cNvSpPr/>
          <p:nvPr/>
        </p:nvSpPr>
        <p:spPr>
          <a:xfrm>
            <a:off x="7040880" y="2395728"/>
            <a:ext cx="1645920" cy="50292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86600" y="2505456"/>
            <a:ext cx="1554480" cy="274320"/>
          </a:xfrm>
          <a:prstGeom prst="rect">
            <a:avLst/>
          </a:prstGeom>
          <a:noFill/>
        </p:spPr>
        <p:txBody>
          <a:bodyPr wrap="square">
            <a:spAutoFit/>
          </a:bodyPr>
          <a:lstStyle/>
          <a:p>
            <a:pPr algn="ctr"/>
            <a:r>
              <a:rPr sz="1000" b="0" i="0">
                <a:solidFill>
                  <a:srgbClr val="94A3B8"/>
                </a:solidFill>
                <a:latin typeface="Calibri"/>
              </a:rPr>
              <a:t>0:45 – 1:30</a:t>
            </a:r>
          </a:p>
        </p:txBody>
      </p:sp>
      <p:sp>
        <p:nvSpPr>
          <p:cNvPr id="24" name="Rectangle 23"/>
          <p:cNvSpPr/>
          <p:nvPr/>
        </p:nvSpPr>
        <p:spPr>
          <a:xfrm>
            <a:off x="365760" y="2962656"/>
            <a:ext cx="64008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3035808"/>
            <a:ext cx="594360" cy="347472"/>
          </a:xfrm>
          <a:prstGeom prst="rect">
            <a:avLst/>
          </a:prstGeom>
          <a:noFill/>
        </p:spPr>
        <p:txBody>
          <a:bodyPr wrap="square">
            <a:spAutoFit/>
          </a:bodyPr>
          <a:lstStyle/>
          <a:p>
            <a:pPr algn="ctr"/>
            <a:r>
              <a:rPr sz="1400" b="1" i="0">
                <a:solidFill>
                  <a:srgbClr val="0F172A"/>
                </a:solidFill>
                <a:latin typeface="Calibri"/>
              </a:rPr>
              <a:t>3</a:t>
            </a:r>
          </a:p>
        </p:txBody>
      </p:sp>
      <p:sp>
        <p:nvSpPr>
          <p:cNvPr id="26" name="Rectangle 25"/>
          <p:cNvSpPr/>
          <p:nvPr/>
        </p:nvSpPr>
        <p:spPr>
          <a:xfrm>
            <a:off x="1051560" y="2962656"/>
            <a:ext cx="5943600" cy="502920"/>
          </a:xfrm>
          <a:prstGeom prst="rect">
            <a:avLst/>
          </a:prstGeom>
          <a:solidFill>
            <a:srgbClr val="1E3A5F"/>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2999232"/>
            <a:ext cx="5760720" cy="228600"/>
          </a:xfrm>
          <a:prstGeom prst="rect">
            <a:avLst/>
          </a:prstGeom>
          <a:noFill/>
        </p:spPr>
        <p:txBody>
          <a:bodyPr wrap="square">
            <a:spAutoFit/>
          </a:bodyPr>
          <a:lstStyle/>
          <a:p>
            <a:pPr algn="l"/>
            <a:r>
              <a:rPr sz="1100" b="1" i="0">
                <a:solidFill>
                  <a:srgbClr val="FFFFFF"/>
                </a:solidFill>
                <a:latin typeface="Calibri"/>
              </a:rPr>
              <a:t>Demo 3: Results</a:t>
            </a:r>
          </a:p>
        </p:txBody>
      </p:sp>
      <p:sp>
        <p:nvSpPr>
          <p:cNvPr id="28" name="TextBox 27"/>
          <p:cNvSpPr txBox="1"/>
          <p:nvPr/>
        </p:nvSpPr>
        <p:spPr>
          <a:xfrm>
            <a:off x="1143000" y="3218688"/>
            <a:ext cx="5760720" cy="201168"/>
          </a:xfrm>
          <a:prstGeom prst="rect">
            <a:avLst/>
          </a:prstGeom>
          <a:noFill/>
        </p:spPr>
        <p:txBody>
          <a:bodyPr wrap="square">
            <a:spAutoFit/>
          </a:bodyPr>
          <a:lstStyle/>
          <a:p>
            <a:pPr algn="l"/>
            <a:r>
              <a:rPr sz="900" b="0" i="0">
                <a:solidFill>
                  <a:srgbClr val="94A3B8"/>
                </a:solidFill>
                <a:latin typeface="Calibri"/>
              </a:rPr>
              <a:t>Show AI proposals with scores
Confidence levels, match types, CNMC codes</a:t>
            </a:r>
          </a:p>
        </p:txBody>
      </p:sp>
      <p:sp>
        <p:nvSpPr>
          <p:cNvPr id="29" name="Rectangle 28"/>
          <p:cNvSpPr/>
          <p:nvPr/>
        </p:nvSpPr>
        <p:spPr>
          <a:xfrm>
            <a:off x="7040880" y="2962656"/>
            <a:ext cx="1645920" cy="50292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6600" y="3072384"/>
            <a:ext cx="1554480" cy="274320"/>
          </a:xfrm>
          <a:prstGeom prst="rect">
            <a:avLst/>
          </a:prstGeom>
          <a:noFill/>
        </p:spPr>
        <p:txBody>
          <a:bodyPr wrap="square">
            <a:spAutoFit/>
          </a:bodyPr>
          <a:lstStyle/>
          <a:p>
            <a:pPr algn="ctr"/>
            <a:r>
              <a:rPr sz="1000" b="0" i="0">
                <a:solidFill>
                  <a:srgbClr val="94A3B8"/>
                </a:solidFill>
                <a:latin typeface="Calibri"/>
              </a:rPr>
              <a:t>1:30 – 2:15</a:t>
            </a:r>
          </a:p>
        </p:txBody>
      </p:sp>
      <p:sp>
        <p:nvSpPr>
          <p:cNvPr id="31" name="Rectangle 30"/>
          <p:cNvSpPr/>
          <p:nvPr/>
        </p:nvSpPr>
        <p:spPr>
          <a:xfrm>
            <a:off x="365760" y="3529584"/>
            <a:ext cx="64008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3602736"/>
            <a:ext cx="594360" cy="347472"/>
          </a:xfrm>
          <a:prstGeom prst="rect">
            <a:avLst/>
          </a:prstGeom>
          <a:noFill/>
        </p:spPr>
        <p:txBody>
          <a:bodyPr wrap="square">
            <a:spAutoFit/>
          </a:bodyPr>
          <a:lstStyle/>
          <a:p>
            <a:pPr algn="ctr"/>
            <a:r>
              <a:rPr sz="1400" b="1" i="0">
                <a:solidFill>
                  <a:srgbClr val="0F172A"/>
                </a:solidFill>
                <a:latin typeface="Calibri"/>
              </a:rPr>
              <a:t>4</a:t>
            </a:r>
          </a:p>
        </p:txBody>
      </p:sp>
      <p:sp>
        <p:nvSpPr>
          <p:cNvPr id="33" name="Rectangle 32"/>
          <p:cNvSpPr/>
          <p:nvPr/>
        </p:nvSpPr>
        <p:spPr>
          <a:xfrm>
            <a:off x="1051560" y="3529584"/>
            <a:ext cx="5943600" cy="502920"/>
          </a:xfrm>
          <a:prstGeom prst="rect">
            <a:avLst/>
          </a:prstGeom>
          <a:solidFill>
            <a:srgbClr val="1E3A5F"/>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43000" y="3566160"/>
            <a:ext cx="5760720" cy="228600"/>
          </a:xfrm>
          <a:prstGeom prst="rect">
            <a:avLst/>
          </a:prstGeom>
          <a:noFill/>
        </p:spPr>
        <p:txBody>
          <a:bodyPr wrap="square">
            <a:spAutoFit/>
          </a:bodyPr>
          <a:lstStyle/>
          <a:p>
            <a:pPr algn="l"/>
            <a:r>
              <a:rPr sz="1100" b="1" i="0">
                <a:solidFill>
                  <a:srgbClr val="FFFFFF"/>
                </a:solidFill>
                <a:latin typeface="Calibri"/>
              </a:rPr>
              <a:t>Demo 4: Review</a:t>
            </a:r>
          </a:p>
        </p:txBody>
      </p:sp>
      <p:sp>
        <p:nvSpPr>
          <p:cNvPr id="35" name="TextBox 34"/>
          <p:cNvSpPr txBox="1"/>
          <p:nvPr/>
        </p:nvSpPr>
        <p:spPr>
          <a:xfrm>
            <a:off x="1143000" y="3785616"/>
            <a:ext cx="5760720" cy="201168"/>
          </a:xfrm>
          <a:prstGeom prst="rect">
            <a:avLst/>
          </a:prstGeom>
          <a:noFill/>
        </p:spPr>
        <p:txBody>
          <a:bodyPr wrap="square">
            <a:spAutoFit/>
          </a:bodyPr>
          <a:lstStyle/>
          <a:p>
            <a:pPr algn="l"/>
            <a:r>
              <a:rPr sz="900" b="0" i="0">
                <a:solidFill>
                  <a:srgbClr val="94A3B8"/>
                </a:solidFill>
                <a:latin typeface="Calibri"/>
              </a:rPr>
              <a:t>Approve/reject proposals
Bulk actions, confidence filters</a:t>
            </a:r>
          </a:p>
        </p:txBody>
      </p:sp>
      <p:sp>
        <p:nvSpPr>
          <p:cNvPr id="36" name="Rectangle 35"/>
          <p:cNvSpPr/>
          <p:nvPr/>
        </p:nvSpPr>
        <p:spPr>
          <a:xfrm>
            <a:off x="7040880" y="3529584"/>
            <a:ext cx="1645920" cy="50292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86600" y="3639312"/>
            <a:ext cx="1554480" cy="274320"/>
          </a:xfrm>
          <a:prstGeom prst="rect">
            <a:avLst/>
          </a:prstGeom>
          <a:noFill/>
        </p:spPr>
        <p:txBody>
          <a:bodyPr wrap="square">
            <a:spAutoFit/>
          </a:bodyPr>
          <a:lstStyle/>
          <a:p>
            <a:pPr algn="ctr"/>
            <a:r>
              <a:rPr sz="1000" b="0" i="0">
                <a:solidFill>
                  <a:srgbClr val="94A3B8"/>
                </a:solidFill>
                <a:latin typeface="Calibri"/>
              </a:rPr>
              <a:t>2:15 – 3:00</a:t>
            </a:r>
          </a:p>
        </p:txBody>
      </p:sp>
      <p:sp>
        <p:nvSpPr>
          <p:cNvPr id="38" name="Rectangle 37"/>
          <p:cNvSpPr/>
          <p:nvPr/>
        </p:nvSpPr>
        <p:spPr>
          <a:xfrm>
            <a:off x="365760" y="4096512"/>
            <a:ext cx="64008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8" y="4169664"/>
            <a:ext cx="594360" cy="347472"/>
          </a:xfrm>
          <a:prstGeom prst="rect">
            <a:avLst/>
          </a:prstGeom>
          <a:noFill/>
        </p:spPr>
        <p:txBody>
          <a:bodyPr wrap="square">
            <a:spAutoFit/>
          </a:bodyPr>
          <a:lstStyle/>
          <a:p>
            <a:pPr algn="ctr"/>
            <a:r>
              <a:rPr sz="1400" b="1" i="0">
                <a:solidFill>
                  <a:srgbClr val="0F172A"/>
                </a:solidFill>
                <a:latin typeface="Calibri"/>
              </a:rPr>
              <a:t>5</a:t>
            </a:r>
          </a:p>
        </p:txBody>
      </p:sp>
      <p:sp>
        <p:nvSpPr>
          <p:cNvPr id="40" name="Rectangle 39"/>
          <p:cNvSpPr/>
          <p:nvPr/>
        </p:nvSpPr>
        <p:spPr>
          <a:xfrm>
            <a:off x="1051560" y="4096512"/>
            <a:ext cx="5943600" cy="502920"/>
          </a:xfrm>
          <a:prstGeom prst="rect">
            <a:avLst/>
          </a:prstGeom>
          <a:solidFill>
            <a:srgbClr val="1E3A5F"/>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43000" y="4133088"/>
            <a:ext cx="5760720" cy="228600"/>
          </a:xfrm>
          <a:prstGeom prst="rect">
            <a:avLst/>
          </a:prstGeom>
          <a:noFill/>
        </p:spPr>
        <p:txBody>
          <a:bodyPr wrap="square">
            <a:spAutoFit/>
          </a:bodyPr>
          <a:lstStyle/>
          <a:p>
            <a:pPr algn="l"/>
            <a:r>
              <a:rPr sz="1100" b="1" i="0">
                <a:solidFill>
                  <a:srgbClr val="FFFFFF"/>
                </a:solidFill>
                <a:latin typeface="Calibri"/>
              </a:rPr>
              <a:t>Demo 5: CNMC</a:t>
            </a:r>
          </a:p>
        </p:txBody>
      </p:sp>
      <p:sp>
        <p:nvSpPr>
          <p:cNvPr id="42" name="TextBox 41"/>
          <p:cNvSpPr txBox="1"/>
          <p:nvPr/>
        </p:nvSpPr>
        <p:spPr>
          <a:xfrm>
            <a:off x="1143000" y="4352544"/>
            <a:ext cx="5760720" cy="201168"/>
          </a:xfrm>
          <a:prstGeom prst="rect">
            <a:avLst/>
          </a:prstGeom>
          <a:noFill/>
        </p:spPr>
        <p:txBody>
          <a:bodyPr wrap="square">
            <a:spAutoFit/>
          </a:bodyPr>
          <a:lstStyle/>
          <a:p>
            <a:pPr algn="l"/>
            <a:r>
              <a:rPr sz="900" b="0" i="0">
                <a:solidFill>
                  <a:srgbClr val="94A3B8"/>
                </a:solidFill>
                <a:latin typeface="Calibri"/>
              </a:rPr>
              <a:t>Show CNMC codes auto-assigned
Bidirectional mapping table</a:t>
            </a:r>
          </a:p>
        </p:txBody>
      </p:sp>
      <p:sp>
        <p:nvSpPr>
          <p:cNvPr id="43" name="Rectangle 42"/>
          <p:cNvSpPr/>
          <p:nvPr/>
        </p:nvSpPr>
        <p:spPr>
          <a:xfrm>
            <a:off x="7040880" y="4096512"/>
            <a:ext cx="1645920" cy="50292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86600" y="4206240"/>
            <a:ext cx="1554480" cy="274320"/>
          </a:xfrm>
          <a:prstGeom prst="rect">
            <a:avLst/>
          </a:prstGeom>
          <a:noFill/>
        </p:spPr>
        <p:txBody>
          <a:bodyPr wrap="square">
            <a:spAutoFit/>
          </a:bodyPr>
          <a:lstStyle/>
          <a:p>
            <a:pPr algn="ctr"/>
            <a:r>
              <a:rPr sz="1000" b="0" i="0">
                <a:solidFill>
                  <a:srgbClr val="94A3B8"/>
                </a:solidFill>
                <a:latin typeface="Calibri"/>
              </a:rPr>
              <a:t>3:00 – 3:45</a:t>
            </a:r>
          </a:p>
        </p:txBody>
      </p:sp>
      <p:sp>
        <p:nvSpPr>
          <p:cNvPr id="45" name="Rectangle 44"/>
          <p:cNvSpPr/>
          <p:nvPr/>
        </p:nvSpPr>
        <p:spPr>
          <a:xfrm>
            <a:off x="365760" y="4663440"/>
            <a:ext cx="640080" cy="50292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736592"/>
            <a:ext cx="594360" cy="347472"/>
          </a:xfrm>
          <a:prstGeom prst="rect">
            <a:avLst/>
          </a:prstGeom>
          <a:noFill/>
        </p:spPr>
        <p:txBody>
          <a:bodyPr wrap="square">
            <a:spAutoFit/>
          </a:bodyPr>
          <a:lstStyle/>
          <a:p>
            <a:pPr algn="ctr"/>
            <a:r>
              <a:rPr sz="1400" b="1" i="0">
                <a:solidFill>
                  <a:srgbClr val="0F172A"/>
                </a:solidFill>
                <a:latin typeface="Calibri"/>
              </a:rPr>
              <a:t>6</a:t>
            </a:r>
          </a:p>
        </p:txBody>
      </p:sp>
      <p:sp>
        <p:nvSpPr>
          <p:cNvPr id="47" name="Rectangle 46"/>
          <p:cNvSpPr/>
          <p:nvPr/>
        </p:nvSpPr>
        <p:spPr>
          <a:xfrm>
            <a:off x="1051560" y="4663440"/>
            <a:ext cx="5943600" cy="502920"/>
          </a:xfrm>
          <a:prstGeom prst="rect">
            <a:avLst/>
          </a:prstGeom>
          <a:solidFill>
            <a:srgbClr val="1E3A5F"/>
          </a:solidFill>
          <a:ln w="1016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43000" y="4700016"/>
            <a:ext cx="5760720" cy="228600"/>
          </a:xfrm>
          <a:prstGeom prst="rect">
            <a:avLst/>
          </a:prstGeom>
          <a:noFill/>
        </p:spPr>
        <p:txBody>
          <a:bodyPr wrap="square">
            <a:spAutoFit/>
          </a:bodyPr>
          <a:lstStyle/>
          <a:p>
            <a:pPr algn="l"/>
            <a:r>
              <a:rPr sz="1100" b="1" i="0">
                <a:solidFill>
                  <a:srgbClr val="FFFFFF"/>
                </a:solidFill>
                <a:latin typeface="Calibri"/>
              </a:rPr>
              <a:t>Demo 6: Analytics</a:t>
            </a:r>
          </a:p>
        </p:txBody>
      </p:sp>
      <p:sp>
        <p:nvSpPr>
          <p:cNvPr id="49" name="TextBox 48"/>
          <p:cNvSpPr txBox="1"/>
          <p:nvPr/>
        </p:nvSpPr>
        <p:spPr>
          <a:xfrm>
            <a:off x="1143000" y="4919472"/>
            <a:ext cx="5760720" cy="201168"/>
          </a:xfrm>
          <a:prstGeom prst="rect">
            <a:avLst/>
          </a:prstGeom>
          <a:noFill/>
        </p:spPr>
        <p:txBody>
          <a:bodyPr wrap="square">
            <a:spAutoFit/>
          </a:bodyPr>
          <a:lstStyle/>
          <a:p>
            <a:pPr algn="l"/>
            <a:r>
              <a:rPr sz="900" b="0" i="0">
                <a:solidFill>
                  <a:srgbClr val="94A3B8"/>
                </a:solidFill>
                <a:latin typeface="Calibri"/>
              </a:rPr>
              <a:t>Deep dive into quality metrics
Procurement savings calculator</a:t>
            </a:r>
          </a:p>
        </p:txBody>
      </p:sp>
      <p:sp>
        <p:nvSpPr>
          <p:cNvPr id="50" name="Rectangle 49"/>
          <p:cNvSpPr/>
          <p:nvPr/>
        </p:nvSpPr>
        <p:spPr>
          <a:xfrm>
            <a:off x="7040880" y="4663440"/>
            <a:ext cx="1645920" cy="50292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86600" y="4773168"/>
            <a:ext cx="1554480" cy="274320"/>
          </a:xfrm>
          <a:prstGeom prst="rect">
            <a:avLst/>
          </a:prstGeom>
          <a:noFill/>
        </p:spPr>
        <p:txBody>
          <a:bodyPr wrap="square">
            <a:spAutoFit/>
          </a:bodyPr>
          <a:lstStyle/>
          <a:p>
            <a:pPr algn="ctr"/>
            <a:r>
              <a:rPr sz="1000" b="0" i="0">
                <a:solidFill>
                  <a:srgbClr val="94A3B8"/>
                </a:solidFill>
                <a:latin typeface="Calibri"/>
              </a:rPr>
              <a:t>3:45 – 4:15</a:t>
            </a:r>
          </a:p>
        </p:txBody>
      </p:sp>
      <p:sp>
        <p:nvSpPr>
          <p:cNvPr id="52" name="Rectangle 51"/>
          <p:cNvSpPr/>
          <p:nvPr/>
        </p:nvSpPr>
        <p:spPr>
          <a:xfrm>
            <a:off x="365760" y="5230368"/>
            <a:ext cx="64008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5303520"/>
            <a:ext cx="594360" cy="347472"/>
          </a:xfrm>
          <a:prstGeom prst="rect">
            <a:avLst/>
          </a:prstGeom>
          <a:noFill/>
        </p:spPr>
        <p:txBody>
          <a:bodyPr wrap="square">
            <a:spAutoFit/>
          </a:bodyPr>
          <a:lstStyle/>
          <a:p>
            <a:pPr algn="ctr"/>
            <a:r>
              <a:rPr sz="1400" b="1" i="0">
                <a:solidFill>
                  <a:srgbClr val="0F172A"/>
                </a:solidFill>
                <a:latin typeface="Calibri"/>
              </a:rPr>
              <a:t>7</a:t>
            </a:r>
          </a:p>
        </p:txBody>
      </p:sp>
      <p:sp>
        <p:nvSpPr>
          <p:cNvPr id="54" name="Rectangle 53"/>
          <p:cNvSpPr/>
          <p:nvPr/>
        </p:nvSpPr>
        <p:spPr>
          <a:xfrm>
            <a:off x="1051560" y="5230368"/>
            <a:ext cx="5943600" cy="502920"/>
          </a:xfrm>
          <a:prstGeom prst="rect">
            <a:avLst/>
          </a:prstGeom>
          <a:solidFill>
            <a:srgbClr val="1E3A5F"/>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43000" y="5266944"/>
            <a:ext cx="5760720" cy="228600"/>
          </a:xfrm>
          <a:prstGeom prst="rect">
            <a:avLst/>
          </a:prstGeom>
          <a:noFill/>
        </p:spPr>
        <p:txBody>
          <a:bodyPr wrap="square">
            <a:spAutoFit/>
          </a:bodyPr>
          <a:lstStyle/>
          <a:p>
            <a:pPr algn="l"/>
            <a:r>
              <a:rPr sz="1100" b="1" i="0">
                <a:solidFill>
                  <a:srgbClr val="FFFFFF"/>
                </a:solidFill>
                <a:latin typeface="Calibri"/>
              </a:rPr>
              <a:t>Demo 7: Admin</a:t>
            </a:r>
          </a:p>
        </p:txBody>
      </p:sp>
      <p:sp>
        <p:nvSpPr>
          <p:cNvPr id="56" name="TextBox 55"/>
          <p:cNvSpPr txBox="1"/>
          <p:nvPr/>
        </p:nvSpPr>
        <p:spPr>
          <a:xfrm>
            <a:off x="1143000" y="5486400"/>
            <a:ext cx="5760720" cy="201168"/>
          </a:xfrm>
          <a:prstGeom prst="rect">
            <a:avLst/>
          </a:prstGeom>
          <a:noFill/>
        </p:spPr>
        <p:txBody>
          <a:bodyPr wrap="square">
            <a:spAutoFit/>
          </a:bodyPr>
          <a:lstStyle/>
          <a:p>
            <a:pPr algn="l"/>
            <a:r>
              <a:rPr sz="900" b="0" i="0">
                <a:solidFill>
                  <a:srgbClr val="94A3B8"/>
                </a:solidFill>
                <a:latin typeface="Calibri"/>
              </a:rPr>
              <a:t>Seed demo data, view audit trail
CPSE management</a:t>
            </a:r>
          </a:p>
        </p:txBody>
      </p:sp>
      <p:sp>
        <p:nvSpPr>
          <p:cNvPr id="57" name="Rectangle 56"/>
          <p:cNvSpPr/>
          <p:nvPr/>
        </p:nvSpPr>
        <p:spPr>
          <a:xfrm>
            <a:off x="7040880" y="5230368"/>
            <a:ext cx="1645920" cy="50292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86600" y="5340096"/>
            <a:ext cx="1554480" cy="274320"/>
          </a:xfrm>
          <a:prstGeom prst="rect">
            <a:avLst/>
          </a:prstGeom>
          <a:noFill/>
        </p:spPr>
        <p:txBody>
          <a:bodyPr wrap="square">
            <a:spAutoFit/>
          </a:bodyPr>
          <a:lstStyle/>
          <a:p>
            <a:pPr algn="ctr"/>
            <a:r>
              <a:rPr sz="1000" b="0" i="0">
                <a:solidFill>
                  <a:srgbClr val="94A3B8"/>
                </a:solidFill>
                <a:latin typeface="Calibri"/>
              </a:rPr>
              <a:t>4:15 – 4:45</a:t>
            </a:r>
          </a:p>
        </p:txBody>
      </p:sp>
      <p:sp>
        <p:nvSpPr>
          <p:cNvPr id="59" name="TextBox 58"/>
          <p:cNvSpPr txBox="1"/>
          <p:nvPr/>
        </p:nvSpPr>
        <p:spPr>
          <a:xfrm>
            <a:off x="365760" y="6263640"/>
            <a:ext cx="11430000" cy="274320"/>
          </a:xfrm>
          <a:prstGeom prst="rect">
            <a:avLst/>
          </a:prstGeom>
          <a:noFill/>
        </p:spPr>
        <p:txBody>
          <a:bodyPr wrap="square">
            <a:spAutoFit/>
          </a:bodyPr>
          <a:lstStyle/>
          <a:p>
            <a:pPr algn="ctr"/>
            <a:r>
              <a:rPr sz="1000" b="0" i="1">
                <a:solidFill>
                  <a:srgbClr val="F59E0B"/>
                </a:solidFill>
                <a:latin typeface="Calibri"/>
              </a:rPr>
              <a:t>Backup: Pre-recorded demo video + screenshots for any tech failures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47120" cy="1097280"/>
          </a:xfrm>
          <a:prstGeom prst="rect">
            <a:avLst/>
          </a:prstGeom>
          <a:noFill/>
        </p:spPr>
        <p:txBody>
          <a:bodyPr wrap="square">
            <a:spAutoFit/>
          </a:bodyPr>
          <a:lstStyle/>
          <a:p>
            <a:pPr algn="ctr"/>
            <a:r>
              <a:rPr sz="5600" b="1" i="0">
                <a:solidFill>
                  <a:srgbClr val="FFFFFF"/>
                </a:solidFill>
                <a:latin typeface="Calibri"/>
              </a:rPr>
              <a:t>Thank You</a:t>
            </a:r>
          </a:p>
        </p:txBody>
      </p:sp>
      <p:sp>
        <p:nvSpPr>
          <p:cNvPr id="5" name="TextBox 4"/>
          <p:cNvSpPr txBox="1"/>
          <p:nvPr/>
        </p:nvSpPr>
        <p:spPr>
          <a:xfrm>
            <a:off x="457200" y="2286000"/>
            <a:ext cx="11247120" cy="731520"/>
          </a:xfrm>
          <a:prstGeom prst="rect">
            <a:avLst/>
          </a:prstGeom>
          <a:noFill/>
        </p:spPr>
        <p:txBody>
          <a:bodyPr wrap="square">
            <a:spAutoFit/>
          </a:bodyPr>
          <a:lstStyle/>
          <a:p>
            <a:pPr algn="ctr"/>
            <a:r>
              <a:rPr sz="2000" b="0" i="1">
                <a:solidFill>
                  <a:srgbClr val="94A3B8"/>
                </a:solidFill>
                <a:latin typeface="Calibri"/>
              </a:rPr>
              <a:t>Built for Smart India Hackathon 2026</a:t>
            </a:r>
          </a:p>
        </p:txBody>
      </p:sp>
      <p:sp>
        <p:nvSpPr>
          <p:cNvPr id="6" name="TextBox 5"/>
          <p:cNvSpPr txBox="1"/>
          <p:nvPr/>
        </p:nvSpPr>
        <p:spPr>
          <a:xfrm>
            <a:off x="457200" y="3017520"/>
            <a:ext cx="11247120" cy="457200"/>
          </a:xfrm>
          <a:prstGeom prst="rect">
            <a:avLst/>
          </a:prstGeom>
          <a:noFill/>
        </p:spPr>
        <p:txBody>
          <a:bodyPr wrap="square">
            <a:spAutoFit/>
          </a:bodyPr>
          <a:lstStyle/>
          <a:p>
            <a:pPr algn="ctr"/>
            <a:r>
              <a:rPr sz="1800" b="1" i="0">
                <a:solidFill>
                  <a:srgbClr val="D946EF"/>
                </a:solidFill>
                <a:latin typeface="Calibri"/>
              </a:rPr>
              <a:t>"One Nation, One Material Code"</a:t>
            </a:r>
          </a:p>
        </p:txBody>
      </p:sp>
      <p:sp>
        <p:nvSpPr>
          <p:cNvPr id="7" name="Rectangle 6"/>
          <p:cNvSpPr/>
          <p:nvPr/>
        </p:nvSpPr>
        <p:spPr>
          <a:xfrm>
            <a:off x="4114800" y="3749039"/>
            <a:ext cx="3931920" cy="4572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931920"/>
            <a:ext cx="3566160" cy="86868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4005072"/>
            <a:ext cx="3291840" cy="274320"/>
          </a:xfrm>
          <a:prstGeom prst="rect">
            <a:avLst/>
          </a:prstGeom>
          <a:noFill/>
        </p:spPr>
        <p:txBody>
          <a:bodyPr wrap="square">
            <a:spAutoFit/>
          </a:bodyPr>
          <a:lstStyle/>
          <a:p>
            <a:pPr algn="l"/>
            <a:r>
              <a:rPr sz="1300" b="1" i="0">
                <a:solidFill>
                  <a:srgbClr val="FFFFFF"/>
                </a:solidFill>
                <a:latin typeface="Calibri"/>
              </a:rPr>
              <a:t>[Team Member 1]</a:t>
            </a:r>
          </a:p>
        </p:txBody>
      </p:sp>
      <p:sp>
        <p:nvSpPr>
          <p:cNvPr id="10" name="TextBox 9"/>
          <p:cNvSpPr txBox="1"/>
          <p:nvPr/>
        </p:nvSpPr>
        <p:spPr>
          <a:xfrm>
            <a:off x="594360" y="4297680"/>
            <a:ext cx="3291840" cy="182880"/>
          </a:xfrm>
          <a:prstGeom prst="rect">
            <a:avLst/>
          </a:prstGeom>
          <a:noFill/>
        </p:spPr>
        <p:txBody>
          <a:bodyPr wrap="square">
            <a:spAutoFit/>
          </a:bodyPr>
          <a:lstStyle/>
          <a:p>
            <a:pPr algn="l"/>
            <a:r>
              <a:rPr sz="1000" b="1" i="0">
                <a:solidFill>
                  <a:srgbClr val="D946EF"/>
                </a:solidFill>
                <a:latin typeface="Calibri"/>
              </a:rPr>
              <a:t>AI/ML Lead</a:t>
            </a:r>
          </a:p>
        </p:txBody>
      </p:sp>
      <p:sp>
        <p:nvSpPr>
          <p:cNvPr id="11" name="TextBox 10"/>
          <p:cNvSpPr txBox="1"/>
          <p:nvPr/>
        </p:nvSpPr>
        <p:spPr>
          <a:xfrm>
            <a:off x="594360" y="4480560"/>
            <a:ext cx="3291840" cy="228600"/>
          </a:xfrm>
          <a:prstGeom prst="rect">
            <a:avLst/>
          </a:prstGeom>
          <a:noFill/>
        </p:spPr>
        <p:txBody>
          <a:bodyPr wrap="square">
            <a:spAutoFit/>
          </a:bodyPr>
          <a:lstStyle/>
          <a:p>
            <a:pPr algn="l"/>
            <a:r>
              <a:rPr sz="900" b="0" i="0">
                <a:solidFill>
                  <a:srgbClr val="94A3B8"/>
                </a:solidFill>
                <a:latin typeface="Calibri"/>
              </a:rPr>
              <a:t>sentence-transformers, matching pipeline</a:t>
            </a:r>
          </a:p>
        </p:txBody>
      </p:sp>
      <p:sp>
        <p:nvSpPr>
          <p:cNvPr id="12" name="Rectangle 11"/>
          <p:cNvSpPr/>
          <p:nvPr/>
        </p:nvSpPr>
        <p:spPr>
          <a:xfrm>
            <a:off x="4297680" y="3931920"/>
            <a:ext cx="3566160" cy="86868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4005072"/>
            <a:ext cx="3291840" cy="274320"/>
          </a:xfrm>
          <a:prstGeom prst="rect">
            <a:avLst/>
          </a:prstGeom>
          <a:noFill/>
        </p:spPr>
        <p:txBody>
          <a:bodyPr wrap="square">
            <a:spAutoFit/>
          </a:bodyPr>
          <a:lstStyle/>
          <a:p>
            <a:pPr algn="l"/>
            <a:r>
              <a:rPr sz="1300" b="1" i="0">
                <a:solidFill>
                  <a:srgbClr val="FFFFFF"/>
                </a:solidFill>
                <a:latin typeface="Calibri"/>
              </a:rPr>
              <a:t>[Team Member 2]</a:t>
            </a:r>
          </a:p>
        </p:txBody>
      </p:sp>
      <p:sp>
        <p:nvSpPr>
          <p:cNvPr id="14" name="TextBox 13"/>
          <p:cNvSpPr txBox="1"/>
          <p:nvPr/>
        </p:nvSpPr>
        <p:spPr>
          <a:xfrm>
            <a:off x="4434840" y="4297680"/>
            <a:ext cx="3291840" cy="182880"/>
          </a:xfrm>
          <a:prstGeom prst="rect">
            <a:avLst/>
          </a:prstGeom>
          <a:noFill/>
        </p:spPr>
        <p:txBody>
          <a:bodyPr wrap="square">
            <a:spAutoFit/>
          </a:bodyPr>
          <a:lstStyle/>
          <a:p>
            <a:pPr algn="l"/>
            <a:r>
              <a:rPr sz="1000" b="1" i="0">
                <a:solidFill>
                  <a:srgbClr val="D946EF"/>
                </a:solidFill>
                <a:latin typeface="Calibri"/>
              </a:rPr>
              <a:t>Backend Lead</a:t>
            </a:r>
          </a:p>
        </p:txBody>
      </p:sp>
      <p:sp>
        <p:nvSpPr>
          <p:cNvPr id="15" name="TextBox 14"/>
          <p:cNvSpPr txBox="1"/>
          <p:nvPr/>
        </p:nvSpPr>
        <p:spPr>
          <a:xfrm>
            <a:off x="4434840" y="4480560"/>
            <a:ext cx="3291840" cy="228600"/>
          </a:xfrm>
          <a:prstGeom prst="rect">
            <a:avLst/>
          </a:prstGeom>
          <a:noFill/>
        </p:spPr>
        <p:txBody>
          <a:bodyPr wrap="square">
            <a:spAutoFit/>
          </a:bodyPr>
          <a:lstStyle/>
          <a:p>
            <a:pPr algn="l"/>
            <a:r>
              <a:rPr sz="900" b="0" i="0">
                <a:solidFill>
                  <a:srgbClr val="94A3B8"/>
                </a:solidFill>
                <a:latin typeface="Calibri"/>
              </a:rPr>
              <a:t>FastAPI, SQLAlchemy, Docker</a:t>
            </a:r>
          </a:p>
        </p:txBody>
      </p:sp>
      <p:sp>
        <p:nvSpPr>
          <p:cNvPr id="16" name="Rectangle 15"/>
          <p:cNvSpPr/>
          <p:nvPr/>
        </p:nvSpPr>
        <p:spPr>
          <a:xfrm>
            <a:off x="8138160" y="3931920"/>
            <a:ext cx="3566160" cy="86868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4005072"/>
            <a:ext cx="3291840" cy="274320"/>
          </a:xfrm>
          <a:prstGeom prst="rect">
            <a:avLst/>
          </a:prstGeom>
          <a:noFill/>
        </p:spPr>
        <p:txBody>
          <a:bodyPr wrap="square">
            <a:spAutoFit/>
          </a:bodyPr>
          <a:lstStyle/>
          <a:p>
            <a:pPr algn="l"/>
            <a:r>
              <a:rPr sz="1300" b="1" i="0">
                <a:solidFill>
                  <a:srgbClr val="FFFFFF"/>
                </a:solidFill>
                <a:latin typeface="Calibri"/>
              </a:rPr>
              <a:t>[Team Member 3]</a:t>
            </a:r>
          </a:p>
        </p:txBody>
      </p:sp>
      <p:sp>
        <p:nvSpPr>
          <p:cNvPr id="18" name="TextBox 17"/>
          <p:cNvSpPr txBox="1"/>
          <p:nvPr/>
        </p:nvSpPr>
        <p:spPr>
          <a:xfrm>
            <a:off x="8275320" y="4297680"/>
            <a:ext cx="3291840" cy="182880"/>
          </a:xfrm>
          <a:prstGeom prst="rect">
            <a:avLst/>
          </a:prstGeom>
          <a:noFill/>
        </p:spPr>
        <p:txBody>
          <a:bodyPr wrap="square">
            <a:spAutoFit/>
          </a:bodyPr>
          <a:lstStyle/>
          <a:p>
            <a:pPr algn="l"/>
            <a:r>
              <a:rPr sz="1000" b="1" i="0">
                <a:solidFill>
                  <a:srgbClr val="D946EF"/>
                </a:solidFill>
                <a:latin typeface="Calibri"/>
              </a:rPr>
              <a:t>Frontend Lead</a:t>
            </a:r>
          </a:p>
        </p:txBody>
      </p:sp>
      <p:sp>
        <p:nvSpPr>
          <p:cNvPr id="19" name="TextBox 18"/>
          <p:cNvSpPr txBox="1"/>
          <p:nvPr/>
        </p:nvSpPr>
        <p:spPr>
          <a:xfrm>
            <a:off x="8275320" y="4480560"/>
            <a:ext cx="3291840" cy="228600"/>
          </a:xfrm>
          <a:prstGeom prst="rect">
            <a:avLst/>
          </a:prstGeom>
          <a:noFill/>
        </p:spPr>
        <p:txBody>
          <a:bodyPr wrap="square">
            <a:spAutoFit/>
          </a:bodyPr>
          <a:lstStyle/>
          <a:p>
            <a:pPr algn="l"/>
            <a:r>
              <a:rPr sz="900" b="0" i="0">
                <a:solidFill>
                  <a:srgbClr val="94A3B8"/>
                </a:solidFill>
                <a:latin typeface="Calibri"/>
              </a:rPr>
              <a:t>React, Tailwind, Recharts</a:t>
            </a:r>
          </a:p>
        </p:txBody>
      </p:sp>
      <p:sp>
        <p:nvSpPr>
          <p:cNvPr id="20" name="Rectangle 19"/>
          <p:cNvSpPr/>
          <p:nvPr/>
        </p:nvSpPr>
        <p:spPr>
          <a:xfrm>
            <a:off x="457200" y="4937760"/>
            <a:ext cx="3566160" cy="86868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010912"/>
            <a:ext cx="3291840" cy="274320"/>
          </a:xfrm>
          <a:prstGeom prst="rect">
            <a:avLst/>
          </a:prstGeom>
          <a:noFill/>
        </p:spPr>
        <p:txBody>
          <a:bodyPr wrap="square">
            <a:spAutoFit/>
          </a:bodyPr>
          <a:lstStyle/>
          <a:p>
            <a:pPr algn="l"/>
            <a:r>
              <a:rPr sz="1300" b="1" i="0">
                <a:solidFill>
                  <a:srgbClr val="FFFFFF"/>
                </a:solidFill>
                <a:latin typeface="Calibri"/>
              </a:rPr>
              <a:t>[Team Member 4]</a:t>
            </a:r>
          </a:p>
        </p:txBody>
      </p:sp>
      <p:sp>
        <p:nvSpPr>
          <p:cNvPr id="22" name="TextBox 21"/>
          <p:cNvSpPr txBox="1"/>
          <p:nvPr/>
        </p:nvSpPr>
        <p:spPr>
          <a:xfrm>
            <a:off x="594360" y="5303520"/>
            <a:ext cx="3291840" cy="182880"/>
          </a:xfrm>
          <a:prstGeom prst="rect">
            <a:avLst/>
          </a:prstGeom>
          <a:noFill/>
        </p:spPr>
        <p:txBody>
          <a:bodyPr wrap="square">
            <a:spAutoFit/>
          </a:bodyPr>
          <a:lstStyle/>
          <a:p>
            <a:pPr algn="l"/>
            <a:r>
              <a:rPr sz="1000" b="1" i="0">
                <a:solidFill>
                  <a:srgbClr val="D946EF"/>
                </a:solidFill>
                <a:latin typeface="Calibri"/>
              </a:rPr>
              <a:t>Database/DevOps</a:t>
            </a:r>
          </a:p>
        </p:txBody>
      </p:sp>
      <p:sp>
        <p:nvSpPr>
          <p:cNvPr id="23" name="TextBox 22"/>
          <p:cNvSpPr txBox="1"/>
          <p:nvPr/>
        </p:nvSpPr>
        <p:spPr>
          <a:xfrm>
            <a:off x="594360" y="5486400"/>
            <a:ext cx="3291840" cy="228600"/>
          </a:xfrm>
          <a:prstGeom prst="rect">
            <a:avLst/>
          </a:prstGeom>
          <a:noFill/>
        </p:spPr>
        <p:txBody>
          <a:bodyPr wrap="square">
            <a:spAutoFit/>
          </a:bodyPr>
          <a:lstStyle/>
          <a:p>
            <a:pPr algn="l"/>
            <a:r>
              <a:rPr sz="900" b="0" i="0">
                <a:solidFill>
                  <a:srgbClr val="94A3B8"/>
                </a:solidFill>
                <a:latin typeface="Calibri"/>
              </a:rPr>
              <a:t>PostgreSQL, migrations, deployment</a:t>
            </a:r>
          </a:p>
        </p:txBody>
      </p:sp>
      <p:sp>
        <p:nvSpPr>
          <p:cNvPr id="24" name="Rectangle 23"/>
          <p:cNvSpPr/>
          <p:nvPr/>
        </p:nvSpPr>
        <p:spPr>
          <a:xfrm>
            <a:off x="4297680" y="4937760"/>
            <a:ext cx="3566160" cy="868680"/>
          </a:xfrm>
          <a:prstGeom prst="rect">
            <a:avLst/>
          </a:prstGeom>
          <a:solidFill>
            <a:srgbClr val="1E3A5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5010912"/>
            <a:ext cx="3291840" cy="274320"/>
          </a:xfrm>
          <a:prstGeom prst="rect">
            <a:avLst/>
          </a:prstGeom>
          <a:noFill/>
        </p:spPr>
        <p:txBody>
          <a:bodyPr wrap="square">
            <a:spAutoFit/>
          </a:bodyPr>
          <a:lstStyle/>
          <a:p>
            <a:pPr algn="l"/>
            <a:r>
              <a:rPr sz="1300" b="1" i="0">
                <a:solidFill>
                  <a:srgbClr val="FFFFFF"/>
                </a:solidFill>
                <a:latin typeface="Calibri"/>
              </a:rPr>
              <a:t>[Team Member 5]</a:t>
            </a:r>
          </a:p>
        </p:txBody>
      </p:sp>
      <p:sp>
        <p:nvSpPr>
          <p:cNvPr id="26" name="TextBox 25"/>
          <p:cNvSpPr txBox="1"/>
          <p:nvPr/>
        </p:nvSpPr>
        <p:spPr>
          <a:xfrm>
            <a:off x="4434840" y="5303520"/>
            <a:ext cx="3291840" cy="182880"/>
          </a:xfrm>
          <a:prstGeom prst="rect">
            <a:avLst/>
          </a:prstGeom>
          <a:noFill/>
        </p:spPr>
        <p:txBody>
          <a:bodyPr wrap="square">
            <a:spAutoFit/>
          </a:bodyPr>
          <a:lstStyle/>
          <a:p>
            <a:pPr algn="l"/>
            <a:r>
              <a:rPr sz="1000" b="1" i="0">
                <a:solidFill>
                  <a:srgbClr val="D946EF"/>
                </a:solidFill>
                <a:latin typeface="Calibri"/>
              </a:rPr>
              <a:t>Product/Business</a:t>
            </a:r>
          </a:p>
        </p:txBody>
      </p:sp>
      <p:sp>
        <p:nvSpPr>
          <p:cNvPr id="27" name="TextBox 26"/>
          <p:cNvSpPr txBox="1"/>
          <p:nvPr/>
        </p:nvSpPr>
        <p:spPr>
          <a:xfrm>
            <a:off x="4434840" y="5486400"/>
            <a:ext cx="3291840" cy="228600"/>
          </a:xfrm>
          <a:prstGeom prst="rect">
            <a:avLst/>
          </a:prstGeom>
          <a:noFill/>
        </p:spPr>
        <p:txBody>
          <a:bodyPr wrap="square">
            <a:spAutoFit/>
          </a:bodyPr>
          <a:lstStyle/>
          <a:p>
            <a:pPr algn="l"/>
            <a:r>
              <a:rPr sz="900" b="0" i="0">
                <a:solidFill>
                  <a:srgbClr val="94A3B8"/>
                </a:solidFill>
                <a:latin typeface="Calibri"/>
              </a:rPr>
              <a:t>Requirements, demo, documentation</a:t>
            </a:r>
          </a:p>
        </p:txBody>
      </p:sp>
      <p:sp>
        <p:nvSpPr>
          <p:cNvPr id="28" name="Rectangle 27"/>
          <p:cNvSpPr/>
          <p:nvPr/>
        </p:nvSpPr>
        <p:spPr>
          <a:xfrm>
            <a:off x="365760" y="6217920"/>
            <a:ext cx="11430000"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263640"/>
            <a:ext cx="11247120" cy="320040"/>
          </a:xfrm>
          <a:prstGeom prst="rect">
            <a:avLst/>
          </a:prstGeom>
          <a:noFill/>
        </p:spPr>
        <p:txBody>
          <a:bodyPr wrap="square">
            <a:spAutoFit/>
          </a:bodyPr>
          <a:lstStyle/>
          <a:p>
            <a:pPr algn="ctr"/>
            <a:r>
              <a:rPr sz="1000" b="0" i="0">
                <a:solidFill>
                  <a:srgbClr val="94A3B8"/>
                </a:solidFill>
                <a:latin typeface="Calibri"/>
              </a:rPr>
              <a:t>Email: [team@email.com]  |  GitHub: [github.com/team/nummf]  |  Demo: [nummf-demo.vercel.app]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7315200" cy="457200"/>
          </a:xfrm>
          <a:prstGeom prst="rect">
            <a:avLst/>
          </a:prstGeom>
          <a:noFill/>
        </p:spPr>
        <p:txBody>
          <a:bodyPr wrap="square">
            <a:spAutoFit/>
          </a:bodyPr>
          <a:lstStyle/>
          <a:p>
            <a:pPr algn="l"/>
            <a:r>
              <a:rPr sz="1200" b="0" i="0">
                <a:solidFill>
                  <a:srgbClr val="94A3B8"/>
                </a:solidFill>
                <a:latin typeface="Calibri"/>
              </a:rPr>
              <a:t>NUMMF  |  Problem Statement</a:t>
            </a:r>
          </a:p>
        </p:txBody>
      </p:sp>
      <p:sp>
        <p:nvSpPr>
          <p:cNvPr id="4" name="TextBox 3"/>
          <p:cNvSpPr txBox="1"/>
          <p:nvPr/>
        </p:nvSpPr>
        <p:spPr>
          <a:xfrm>
            <a:off x="10515600" y="91440"/>
            <a:ext cx="1554480" cy="457200"/>
          </a:xfrm>
          <a:prstGeom prst="rect">
            <a:avLst/>
          </a:prstGeom>
          <a:noFill/>
        </p:spPr>
        <p:txBody>
          <a:bodyPr wrap="square">
            <a:spAutoFit/>
          </a:bodyPr>
          <a:lstStyle/>
          <a:p>
            <a:pPr algn="r"/>
            <a:r>
              <a:rPr sz="1000" b="0" i="0">
                <a:solidFill>
                  <a:srgbClr val="475669"/>
                </a:solidFill>
                <a:latin typeface="Calibri"/>
              </a:rPr>
              <a:t>SIH 2026 · ID 26099</a:t>
            </a:r>
          </a:p>
        </p:txBody>
      </p:sp>
      <p:sp>
        <p:nvSpPr>
          <p:cNvPr id="5" name="Rectangle 4"/>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28600"/>
          </a:xfrm>
          <a:prstGeom prst="rect">
            <a:avLst/>
          </a:prstGeom>
          <a:noFill/>
        </p:spPr>
        <p:txBody>
          <a:bodyPr wrap="square">
            <a:spAutoFit/>
          </a:bodyPr>
          <a:lstStyle/>
          <a:p>
            <a:pPr algn="l"/>
            <a:r>
              <a:rPr sz="900" b="0" i="0">
                <a:solidFill>
                  <a:srgbClr val="475669"/>
                </a:solidFill>
                <a:latin typeface="Calibri"/>
              </a:rPr>
              <a:t>One Nation, One Material Code</a:t>
            </a:r>
          </a:p>
        </p:txBody>
      </p:sp>
      <p:sp>
        <p:nvSpPr>
          <p:cNvPr id="7" name="TextBox 6"/>
          <p:cNvSpPr txBox="1"/>
          <p:nvPr/>
        </p:nvSpPr>
        <p:spPr>
          <a:xfrm>
            <a:off x="10058400" y="6519672"/>
            <a:ext cx="1828800" cy="228600"/>
          </a:xfrm>
          <a:prstGeom prst="rect">
            <a:avLst/>
          </a:prstGeom>
          <a:noFill/>
        </p:spPr>
        <p:txBody>
          <a:bodyPr wrap="square">
            <a:spAutoFit/>
          </a:bodyPr>
          <a:lstStyle/>
          <a:p>
            <a:pPr algn="r"/>
            <a:r>
              <a:rPr sz="900" b="0" i="0">
                <a:solidFill>
                  <a:srgbClr val="475669"/>
                </a:solidFill>
                <a:latin typeface="Calibri"/>
              </a:rPr>
              <a:t>NUMMF v1.0</a:t>
            </a:r>
          </a:p>
        </p:txBody>
      </p:sp>
      <p:sp>
        <p:nvSpPr>
          <p:cNvPr id="8" name="TextBox 7"/>
          <p:cNvSpPr txBox="1"/>
          <p:nvPr/>
        </p:nvSpPr>
        <p:spPr>
          <a:xfrm>
            <a:off x="365760" y="731520"/>
            <a:ext cx="9144000" cy="640080"/>
          </a:xfrm>
          <a:prstGeom prst="rect">
            <a:avLst/>
          </a:prstGeom>
          <a:noFill/>
        </p:spPr>
        <p:txBody>
          <a:bodyPr wrap="square">
            <a:spAutoFit/>
          </a:bodyPr>
          <a:lstStyle/>
          <a:p>
            <a:pPr algn="l"/>
            <a:r>
              <a:rPr sz="3000" b="1" i="0">
                <a:solidFill>
                  <a:srgbClr val="FFFFFF"/>
                </a:solidFill>
                <a:latin typeface="Calibri"/>
              </a:rPr>
              <a:t>SIH 2026 · Problem ID 26099</a:t>
            </a:r>
          </a:p>
        </p:txBody>
      </p:sp>
      <p:sp>
        <p:nvSpPr>
          <p:cNvPr id="9" name="Rectangle 8"/>
          <p:cNvSpPr/>
          <p:nvPr/>
        </p:nvSpPr>
        <p:spPr>
          <a:xfrm>
            <a:off x="365760" y="1325880"/>
            <a:ext cx="4572000" cy="3810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11430000" cy="3474720"/>
          </a:xfrm>
          <a:prstGeom prst="rect">
            <a:avLst/>
          </a:prstGeom>
          <a:solidFill>
            <a:srgbClr val="1E3A5F"/>
          </a:solidFill>
          <a:ln w="1905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828800"/>
            <a:ext cx="11430000" cy="365760"/>
          </a:xfrm>
          <a:prstGeom prst="rect">
            <a:avLst/>
          </a:prstGeom>
          <a:solidFill>
            <a:srgbClr val="D94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74519"/>
            <a:ext cx="11247120" cy="274320"/>
          </a:xfrm>
          <a:prstGeom prst="rect">
            <a:avLst/>
          </a:prstGeom>
          <a:noFill/>
        </p:spPr>
        <p:txBody>
          <a:bodyPr wrap="square">
            <a:spAutoFit/>
          </a:bodyPr>
          <a:lstStyle/>
          <a:p>
            <a:pPr algn="l"/>
            <a:r>
              <a:rPr sz="1300" b="1" i="0">
                <a:solidFill>
                  <a:srgbClr val="0F172A"/>
                </a:solidFill>
                <a:latin typeface="Calibri"/>
              </a:rPr>
              <a:t>Problem Statement</a:t>
            </a:r>
          </a:p>
        </p:txBody>
      </p:sp>
      <p:sp>
        <p:nvSpPr>
          <p:cNvPr id="13" name="TextBox 12"/>
          <p:cNvSpPr txBox="1"/>
          <p:nvPr/>
        </p:nvSpPr>
        <p:spPr>
          <a:xfrm>
            <a:off x="548640" y="2331720"/>
            <a:ext cx="11064240" cy="2286000"/>
          </a:xfrm>
          <a:prstGeom prst="rect">
            <a:avLst/>
          </a:prstGeom>
          <a:noFill/>
        </p:spPr>
        <p:txBody>
          <a:bodyPr wrap="square">
            <a:spAutoFit/>
          </a:bodyPr>
          <a:lstStyle/>
          <a:p>
            <a:pPr algn="l"/>
            <a:r>
              <a:rPr sz="1400" b="0" i="0">
                <a:solidFill>
                  <a:srgbClr val="FFFFFF"/>
                </a:solidFill>
                <a:latin typeface="Calibri"/>
              </a:rPr>
              <a:t>AI-Driven Standardization and Harmonization of Material Codes Across CPSEs
Develop an AI-driven system to standardize and harmonize material codes across Central Public Sector Enterprises (CPSEs). The system should automatically map disparate material descriptions, grades, and specifications from different CPSE ERP systems to a unified Common National Material Code (CNMC). The solution must handle Indian industrial nomenclature, support batch processing of legacy data, and provide a human-in-the-loop review interface for expert validation.</a:t>
            </a:r>
          </a:p>
        </p:txBody>
      </p:sp>
      <p:sp>
        <p:nvSpPr>
          <p:cNvPr id="14" name="Rectangle 13"/>
          <p:cNvSpPr/>
          <p:nvPr/>
        </p:nvSpPr>
        <p:spPr>
          <a:xfrm>
            <a:off x="365760" y="5486400"/>
            <a:ext cx="11430000" cy="914400"/>
          </a:xfrm>
          <a:prstGeom prst="rect">
            <a:avLst/>
          </a:prstGeom>
          <a:solidFill>
            <a:srgbClr val="141C29"/>
          </a:solidFill>
          <a:ln w="6350">
            <a:solidFill>
              <a:srgbClr val="475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577840"/>
            <a:ext cx="11064240" cy="274320"/>
          </a:xfrm>
          <a:prstGeom prst="rect">
            <a:avLst/>
          </a:prstGeom>
          <a:noFill/>
        </p:spPr>
        <p:txBody>
          <a:bodyPr wrap="square">
            <a:spAutoFit/>
          </a:bodyPr>
          <a:lstStyle/>
          <a:p>
            <a:pPr algn="l"/>
            <a:r>
              <a:rPr sz="1200" b="1" i="0">
                <a:solidFill>
                  <a:srgbClr val="3B82F6"/>
                </a:solidFill>
                <a:latin typeface="Calibri"/>
              </a:rPr>
              <a:t>Organization: Ministry of Petroleum &amp; Natural Gas  |  Chennai Petroleum Corporation Limited (CPCL)</a:t>
            </a:r>
          </a:p>
        </p:txBody>
      </p:sp>
      <p:sp>
        <p:nvSpPr>
          <p:cNvPr id="16" name="TextBox 15"/>
          <p:cNvSpPr txBox="1"/>
          <p:nvPr/>
        </p:nvSpPr>
        <p:spPr>
          <a:xfrm>
            <a:off x="548640" y="5852160"/>
            <a:ext cx="11064240" cy="274320"/>
          </a:xfrm>
          <a:prstGeom prst="rect">
            <a:avLst/>
          </a:prstGeom>
          <a:noFill/>
        </p:spPr>
        <p:txBody>
          <a:bodyPr wrap="square">
            <a:spAutoFit/>
          </a:bodyPr>
          <a:lstStyle/>
          <a:p>
            <a:pPr algn="l"/>
            <a:r>
              <a:rPr sz="1100" b="0" i="0">
                <a:solidFill>
                  <a:srgbClr val="94A3B8"/>
                </a:solidFill>
                <a:latin typeface="Calibri"/>
              </a:rPr>
              <a:t>Category: Software / Smart Automation  |  Team Size: Up to 6 members  |  Duration: 36 hours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